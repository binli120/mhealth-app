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840000">
            <a:off x="8915400" y="-502920"/>
            <a:ext cx="4023360" cy="2926080"/>
          </a:xfrm>
          <a:prstGeom prst="rect">
            <a:avLst/>
          </a:prstGeom>
          <a:solidFill>
            <a:srgbClr val="137C71">
              <a:alpha val="22000"/>
            </a:srgbClr>
          </a:solidFill>
          <a:ln w="12700">
            <a:solidFill>
              <a:srgbClr val="137C7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548640" y="5257800"/>
            <a:ext cx="2560320" cy="1645920"/>
          </a:xfrm>
          <a:prstGeom prst="ellipse">
            <a:avLst/>
          </a:prstGeom>
          <a:solidFill>
            <a:srgbClr val="E8825E">
              <a:alpha val="18000"/>
            </a:srgbClr>
          </a:solidFill>
          <a:ln w="12700">
            <a:solidFill>
              <a:srgbClr val="E8825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3891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FDD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7132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HealthCompass MA is a MassHealth operating layer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057400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D5E4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unified intake, verification, benefit, collaboration, and AI-assistance platform built for regulated healthcare workflows.</a:t>
            </a:r>
            <a:endParaRPr lang="en-US" sz="1320" dirty="0"/>
          </a:p>
        </p:txBody>
      </p:sp>
      <p:sp>
        <p:nvSpPr>
          <p:cNvPr id="7" name="Shape 5"/>
          <p:cNvSpPr/>
          <p:nvPr/>
        </p:nvSpPr>
        <p:spPr>
          <a:xfrm>
            <a:off x="713232" y="3246120"/>
            <a:ext cx="2148840" cy="941832"/>
          </a:xfrm>
          <a:prstGeom prst="roundRect">
            <a:avLst>
              <a:gd name="adj" fmla="val 7767"/>
            </a:avLst>
          </a:prstGeom>
          <a:solidFill>
            <a:srgbClr val="DFF5F1"/>
          </a:solidFill>
          <a:ln w="12700">
            <a:solidFill>
              <a:srgbClr val="DFF5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383280"/>
            <a:ext cx="1929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D35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841248" y="3776472"/>
            <a:ext cx="1892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b="1" dirty="0">
                <a:solidFill>
                  <a:srgbClr val="137C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deployable platform</a:t>
            </a:r>
            <a:endParaRPr lang="en-US" sz="910" dirty="0"/>
          </a:p>
        </p:txBody>
      </p:sp>
      <p:sp>
        <p:nvSpPr>
          <p:cNvPr id="10" name="Shape 8"/>
          <p:cNvSpPr/>
          <p:nvPr/>
        </p:nvSpPr>
        <p:spPr>
          <a:xfrm>
            <a:off x="3090672" y="3246120"/>
            <a:ext cx="2148840" cy="941832"/>
          </a:xfrm>
          <a:prstGeom prst="roundRect">
            <a:avLst>
              <a:gd name="adj" fmla="val 7767"/>
            </a:avLst>
          </a:prstGeom>
          <a:solidFill>
            <a:srgbClr val="E9F5FB"/>
          </a:solidFill>
          <a:ln w="12700">
            <a:solidFill>
              <a:srgbClr val="E9F5F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3383280"/>
            <a:ext cx="1929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D35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6+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3218688" y="3776472"/>
            <a:ext cx="1892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b="1" dirty="0">
                <a:solidFill>
                  <a:srgbClr val="137C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regulated workflows</a:t>
            </a:r>
            <a:endParaRPr lang="en-US" sz="910" dirty="0"/>
          </a:p>
        </p:txBody>
      </p:sp>
      <p:sp>
        <p:nvSpPr>
          <p:cNvPr id="13" name="Shape 11"/>
          <p:cNvSpPr/>
          <p:nvPr/>
        </p:nvSpPr>
        <p:spPr>
          <a:xfrm>
            <a:off x="5468112" y="3246120"/>
            <a:ext cx="2148840" cy="941832"/>
          </a:xfrm>
          <a:prstGeom prst="roundRect">
            <a:avLst>
              <a:gd name="adj" fmla="val 7767"/>
            </a:avLst>
          </a:prstGeom>
          <a:solidFill>
            <a:srgbClr val="F9E795"/>
          </a:solidFill>
          <a:ln w="12700">
            <a:solidFill>
              <a:srgbClr val="F9E79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77840" y="3383280"/>
            <a:ext cx="1929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D35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+ rules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5596128" y="3776472"/>
            <a:ext cx="1892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b="1" dirty="0">
                <a:solidFill>
                  <a:srgbClr val="137C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deterministic core</a:t>
            </a:r>
            <a:endParaRPr lang="en-US" sz="910" dirty="0"/>
          </a:p>
        </p:txBody>
      </p:sp>
      <p:sp>
        <p:nvSpPr>
          <p:cNvPr id="16" name="Shape 14"/>
          <p:cNvSpPr/>
          <p:nvPr/>
        </p:nvSpPr>
        <p:spPr>
          <a:xfrm>
            <a:off x="8275320" y="1325880"/>
            <a:ext cx="24688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66760" y="146304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35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Applicants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275320" y="2240280"/>
            <a:ext cx="24688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66760" y="237744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35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Social workers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275320" y="3154680"/>
            <a:ext cx="24688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66760" y="329184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35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Reviewers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275320" y="4069080"/>
            <a:ext cx="24688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66760" y="420624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35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607808" y="960120"/>
            <a:ext cx="3611880" cy="4160520"/>
          </a:xfrm>
          <a:prstGeom prst="roundRect">
            <a:avLst>
              <a:gd name="adj" fmla="val 2025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00416" y="112471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FEA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Platform surface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66928" y="6455664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C7D6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HealthCompass MA | Architecture Investor View | April 2026</a:t>
            </a:r>
            <a:endParaRPr lang="en-US" sz="940" dirty="0"/>
          </a:p>
        </p:txBody>
      </p:sp>
      <p:sp>
        <p:nvSpPr>
          <p:cNvPr id="27" name="Text 25"/>
          <p:cNvSpPr/>
          <p:nvPr/>
        </p:nvSpPr>
        <p:spPr>
          <a:xfrm>
            <a:off x="10515600" y="6455664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40" dirty="0">
                <a:solidFill>
                  <a:srgbClr val="C7D6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Confidential</a:t>
            </a:r>
            <a:endParaRPr lang="en-US" sz="94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37C71"/>
          </a:solidFill>
          <a:ln w="12700">
            <a:solidFill>
              <a:srgbClr val="137C7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38360" y="-658368"/>
            <a:ext cx="2743200" cy="1828800"/>
          </a:xfrm>
          <a:prstGeom prst="ellipse">
            <a:avLst/>
          </a:prstGeom>
          <a:solidFill>
            <a:srgbClr val="E9F5FB">
              <a:alpha val="70000"/>
            </a:srgbClr>
          </a:solidFill>
          <a:ln w="12700">
            <a:solidFill>
              <a:srgbClr val="E9F5F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685800" y="5166360"/>
            <a:ext cx="2103120" cy="1508760"/>
          </a:xfrm>
          <a:prstGeom prst="ellipse">
            <a:avLst/>
          </a:prstGeom>
          <a:solidFill>
            <a:srgbClr val="DFF5F1">
              <a:alpha val="75000"/>
            </a:srgbClr>
          </a:solidFill>
          <a:ln w="12700">
            <a:solidFill>
              <a:srgbClr val="DFF5F1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43891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37C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INVESTOR VIEW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40080" y="749808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D35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architecture compounds workflow data into product leverage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58368" y="1755648"/>
            <a:ext cx="7452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5566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completed workflow improves the platform's understanding of applicant journeys, evidence gaps, and policy touchpoints.</a:t>
            </a:r>
            <a:endParaRPr lang="en-US" sz="1040" dirty="0"/>
          </a:p>
        </p:txBody>
      </p:sp>
      <p:sp>
        <p:nvSpPr>
          <p:cNvPr id="8" name="Shape 6"/>
          <p:cNvSpPr/>
          <p:nvPr/>
        </p:nvSpPr>
        <p:spPr>
          <a:xfrm>
            <a:off x="685800" y="2359152"/>
            <a:ext cx="3401568" cy="2606040"/>
          </a:xfrm>
          <a:prstGeom prst="roundRect">
            <a:avLst>
              <a:gd name="adj" fmla="val 2807"/>
            </a:avLst>
          </a:prstGeom>
          <a:solidFill>
            <a:srgbClr val="FFFDFC"/>
          </a:solidFill>
          <a:ln w="12700">
            <a:solidFill>
              <a:srgbClr val="D9E3EA"/>
            </a:solidFill>
            <a:prstDash val="solid"/>
          </a:ln>
          <a:effectLst>
            <a:outerShdw sx="100000" sy="100000" kx="0" ky="0" algn="bl" rotWithShape="0" blurRad="12700" dist="50800" dir="2700000">
              <a:srgbClr val="B7C8D5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85800" y="2359152"/>
            <a:ext cx="109728" cy="2606040"/>
          </a:xfrm>
          <a:prstGeom prst="rect">
            <a:avLst/>
          </a:prstGeom>
          <a:solidFill>
            <a:srgbClr val="137C71"/>
          </a:solidFill>
          <a:ln w="12700">
            <a:solidFill>
              <a:srgbClr val="137C7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05256" y="2523744"/>
            <a:ext cx="2962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D35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Intake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05256" y="2889504"/>
            <a:ext cx="2962656" cy="1892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566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Guided ACA-3 / ACA-3-AP workflows convert fragmented applicant data into reusable structured state.</a:t>
            </a:r>
            <a:endParaRPr lang="en-US" sz="1030" dirty="0"/>
          </a:p>
        </p:txBody>
      </p:sp>
      <p:sp>
        <p:nvSpPr>
          <p:cNvPr id="12" name="Shape 10"/>
          <p:cNvSpPr/>
          <p:nvPr/>
        </p:nvSpPr>
        <p:spPr>
          <a:xfrm>
            <a:off x="4389120" y="2359152"/>
            <a:ext cx="3401568" cy="2606040"/>
          </a:xfrm>
          <a:prstGeom prst="roundRect">
            <a:avLst>
              <a:gd name="adj" fmla="val 2807"/>
            </a:avLst>
          </a:prstGeom>
          <a:solidFill>
            <a:srgbClr val="FFFDFC"/>
          </a:solidFill>
          <a:ln w="12700">
            <a:solidFill>
              <a:srgbClr val="D9E3EA"/>
            </a:solidFill>
            <a:prstDash val="solid"/>
          </a:ln>
          <a:effectLst>
            <a:outerShdw sx="100000" sy="100000" kx="0" ky="0" algn="bl" rotWithShape="0" blurRad="12700" dist="50800" dir="2700000">
              <a:srgbClr val="B7C8D5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89120" y="2359152"/>
            <a:ext cx="109728" cy="2606040"/>
          </a:xfrm>
          <a:prstGeom prst="rect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08576" y="2523744"/>
            <a:ext cx="2962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D35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Verification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608576" y="2889504"/>
            <a:ext cx="2962656" cy="1892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566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Identity, income, document, and eligibility checks separate model extraction from legal sufficiency decisions.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8092440" y="2359152"/>
            <a:ext cx="3401568" cy="2606040"/>
          </a:xfrm>
          <a:prstGeom prst="roundRect">
            <a:avLst>
              <a:gd name="adj" fmla="val 2807"/>
            </a:avLst>
          </a:prstGeom>
          <a:solidFill>
            <a:srgbClr val="FFFDFC"/>
          </a:solidFill>
          <a:ln w="12700">
            <a:solidFill>
              <a:srgbClr val="D9E3EA"/>
            </a:solidFill>
            <a:prstDash val="solid"/>
          </a:ln>
          <a:effectLst>
            <a:outerShdw sx="100000" sy="100000" kx="0" ky="0" algn="bl" rotWithShape="0" blurRad="12700" dist="50800" dir="2700000">
              <a:srgbClr val="B7C8D5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092440" y="2359152"/>
            <a:ext cx="109728" cy="2606040"/>
          </a:xfrm>
          <a:prstGeom prst="rect">
            <a:avLst/>
          </a:prstGeom>
          <a:solidFill>
            <a:srgbClr val="E8825E"/>
          </a:solidFill>
          <a:ln w="12700">
            <a:solidFill>
              <a:srgbClr val="E882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11896" y="2523744"/>
            <a:ext cx="2962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D35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Assistance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311896" y="2889504"/>
            <a:ext cx="2962656" cy="1892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566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RAG-backed assistants and appeals turn policy content into explainable, workflow-specific guidance.</a:t>
            </a:r>
            <a:endParaRPr lang="en-US" sz="1030" dirty="0"/>
          </a:p>
        </p:txBody>
      </p:sp>
      <p:sp>
        <p:nvSpPr>
          <p:cNvPr id="20" name="Shape 18"/>
          <p:cNvSpPr/>
          <p:nvPr/>
        </p:nvSpPr>
        <p:spPr>
          <a:xfrm>
            <a:off x="4078224" y="3639312"/>
            <a:ext cx="292608" cy="0"/>
          </a:xfrm>
          <a:prstGeom prst="line">
            <a:avLst/>
          </a:prstGeom>
          <a:noFill/>
          <a:ln w="19050">
            <a:solidFill>
              <a:srgbClr val="137C71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790688" y="3639312"/>
            <a:ext cx="292608" cy="0"/>
          </a:xfrm>
          <a:prstGeom prst="line">
            <a:avLst/>
          </a:prstGeom>
          <a:noFill/>
          <a:ln w="19050">
            <a:solidFill>
              <a:srgbClr val="137C71"/>
            </a:solidFill>
            <a:prstDash val="solid"/>
            <a:headEnd type="none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566928" y="6455664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5566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HealthCompass MA | Architecture Investor View | April 2026</a:t>
            </a:r>
            <a:endParaRPr lang="en-US" sz="940" dirty="0"/>
          </a:p>
        </p:txBody>
      </p:sp>
      <p:sp>
        <p:nvSpPr>
          <p:cNvPr id="23" name="Text 21"/>
          <p:cNvSpPr/>
          <p:nvPr/>
        </p:nvSpPr>
        <p:spPr>
          <a:xfrm>
            <a:off x="10515600" y="6455664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40" dirty="0">
                <a:solidFill>
                  <a:srgbClr val="5566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Confidential</a:t>
            </a:r>
            <a:endParaRPr lang="en-US" sz="9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37C71"/>
          </a:solidFill>
          <a:ln w="12700">
            <a:solidFill>
              <a:srgbClr val="137C7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38360" y="-658368"/>
            <a:ext cx="2743200" cy="1828800"/>
          </a:xfrm>
          <a:prstGeom prst="ellipse">
            <a:avLst/>
          </a:prstGeom>
          <a:solidFill>
            <a:srgbClr val="E9F5FB">
              <a:alpha val="70000"/>
            </a:srgbClr>
          </a:solidFill>
          <a:ln w="12700">
            <a:solidFill>
              <a:srgbClr val="E9F5F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685800" y="5166360"/>
            <a:ext cx="2103120" cy="1508760"/>
          </a:xfrm>
          <a:prstGeom prst="ellipse">
            <a:avLst/>
          </a:prstGeom>
          <a:solidFill>
            <a:srgbClr val="DFF5F1">
              <a:alpha val="75000"/>
            </a:srgbClr>
          </a:solidFill>
          <a:ln w="12700">
            <a:solidFill>
              <a:srgbClr val="DFF5F1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43891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37C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PLATFORM MAP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40080" y="749808"/>
            <a:ext cx="7132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D35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 product surface, four stakeholder views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58368" y="1536192"/>
            <a:ext cx="6766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5566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same application record supports applicants, social workers, reviewers, and administrators without duplicating workflow systems.</a:t>
            </a:r>
            <a:endParaRPr lang="en-US" sz="1140" dirty="0"/>
          </a:p>
        </p:txBody>
      </p:sp>
      <p:sp>
        <p:nvSpPr>
          <p:cNvPr id="8" name="Shape 6"/>
          <p:cNvSpPr/>
          <p:nvPr/>
        </p:nvSpPr>
        <p:spPr>
          <a:xfrm>
            <a:off x="841248" y="2176272"/>
            <a:ext cx="1920240" cy="621792"/>
          </a:xfrm>
          <a:prstGeom prst="roundRect">
            <a:avLst>
              <a:gd name="adj" fmla="val 11765"/>
            </a:avLst>
          </a:prstGeom>
          <a:solidFill>
            <a:srgbClr val="E9F5FB"/>
          </a:solidFill>
          <a:ln w="12700">
            <a:solidFill>
              <a:srgbClr val="E9F5F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2313432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35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Applicant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41248" y="3063240"/>
            <a:ext cx="1920240" cy="621792"/>
          </a:xfrm>
          <a:prstGeom prst="roundRect">
            <a:avLst>
              <a:gd name="adj" fmla="val 11765"/>
            </a:avLst>
          </a:prstGeom>
          <a:solidFill>
            <a:srgbClr val="DFF5F1"/>
          </a:solidFill>
          <a:ln w="12700">
            <a:solidFill>
              <a:srgbClr val="DFF5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" y="3200400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35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Social worker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41248" y="3950208"/>
            <a:ext cx="1920240" cy="621792"/>
          </a:xfrm>
          <a:prstGeom prst="roundRect">
            <a:avLst>
              <a:gd name="adj" fmla="val 11765"/>
            </a:avLst>
          </a:prstGeom>
          <a:solidFill>
            <a:srgbClr val="F9E795"/>
          </a:solidFill>
          <a:ln w="12700">
            <a:solidFill>
              <a:srgbClr val="F9E79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4087368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35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Reviewer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41248" y="4837176"/>
            <a:ext cx="1920240" cy="621792"/>
          </a:xfrm>
          <a:prstGeom prst="roundRect">
            <a:avLst>
              <a:gd name="adj" fmla="val 11765"/>
            </a:avLst>
          </a:prstGeom>
          <a:solidFill>
            <a:srgbClr val="FDE4D8"/>
          </a:solidFill>
          <a:ln w="12700">
            <a:solidFill>
              <a:srgbClr val="FDE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2688" y="4974336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35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767328" y="2148840"/>
            <a:ext cx="3657600" cy="3200400"/>
          </a:xfrm>
          <a:prstGeom prst="roundRect">
            <a:avLst>
              <a:gd name="adj" fmla="val 2286"/>
            </a:avLst>
          </a:prstGeom>
          <a:solidFill>
            <a:srgbClr val="10263F"/>
          </a:solidFill>
          <a:ln w="12700">
            <a:solidFill>
              <a:srgbClr val="10263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69080" y="2395728"/>
            <a:ext cx="3054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HealthCompass MA platform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160520" y="2999232"/>
            <a:ext cx="2871216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51960" y="3136392"/>
            <a:ext cx="2688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35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Application record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160520" y="3566160"/>
            <a:ext cx="2871216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51960" y="3703320"/>
            <a:ext cx="2688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35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knowledge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160520" y="4133088"/>
            <a:ext cx="2871216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51960" y="4270248"/>
            <a:ext cx="2688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35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Verification state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458200" y="2176272"/>
            <a:ext cx="2423160" cy="530352"/>
          </a:xfrm>
          <a:prstGeom prst="roundRect">
            <a:avLst>
              <a:gd name="adj" fmla="val 13793"/>
            </a:avLst>
          </a:prstGeom>
          <a:solidFill>
            <a:srgbClr val="E9F5FB"/>
          </a:solidFill>
          <a:ln w="12700">
            <a:solidFill>
              <a:srgbClr val="E9F5F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49640" y="2313432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35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Supabase + RLS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458200" y="2907792"/>
            <a:ext cx="2423160" cy="530352"/>
          </a:xfrm>
          <a:prstGeom prst="roundRect">
            <a:avLst>
              <a:gd name="adj" fmla="val 13793"/>
            </a:avLst>
          </a:prstGeom>
          <a:solidFill>
            <a:srgbClr val="DFF5F1"/>
          </a:solidFill>
          <a:ln w="12700">
            <a:solidFill>
              <a:srgbClr val="DFF5F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49640" y="3044952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35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pgvector RAG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458200" y="3639312"/>
            <a:ext cx="2423160" cy="530352"/>
          </a:xfrm>
          <a:prstGeom prst="roundRect">
            <a:avLst>
              <a:gd name="adj" fmla="val 13793"/>
            </a:avLst>
          </a:prstGeom>
          <a:solidFill>
            <a:srgbClr val="F9E795"/>
          </a:solidFill>
          <a:ln w="12700">
            <a:solidFill>
              <a:srgbClr val="F9E79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549640" y="3776472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35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Ollama AI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458200" y="4370832"/>
            <a:ext cx="2423160" cy="530352"/>
          </a:xfrm>
          <a:prstGeom prst="roundRect">
            <a:avLst>
              <a:gd name="adj" fmla="val 13793"/>
            </a:avLst>
          </a:prstGeom>
          <a:solidFill>
            <a:srgbClr val="FDE4D8"/>
          </a:solidFill>
          <a:ln w="12700">
            <a:solidFill>
              <a:srgbClr val="FDE4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549640" y="4507992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35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OpenObserve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779776" y="2487168"/>
            <a:ext cx="969264" cy="1261872"/>
          </a:xfrm>
          <a:prstGeom prst="line">
            <a:avLst/>
          </a:prstGeom>
          <a:noFill/>
          <a:ln w="19050">
            <a:solidFill>
              <a:srgbClr val="137C71"/>
            </a:solidFill>
            <a:prstDash val="solid"/>
            <a:headEnd type="none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2779776" y="3374136"/>
            <a:ext cx="969264" cy="374904"/>
          </a:xfrm>
          <a:prstGeom prst="line">
            <a:avLst/>
          </a:prstGeom>
          <a:noFill/>
          <a:ln w="19050">
            <a:solidFill>
              <a:srgbClr val="137C71"/>
            </a:solidFill>
            <a:prstDash val="solid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2779776" y="4261104"/>
            <a:ext cx="969264" cy="-512064"/>
          </a:xfrm>
          <a:prstGeom prst="line">
            <a:avLst/>
          </a:prstGeom>
          <a:noFill/>
          <a:ln w="19050">
            <a:solidFill>
              <a:srgbClr val="137C71"/>
            </a:solidFill>
            <a:prstDash val="solid"/>
            <a:headEnd type="none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2779776" y="5148072"/>
            <a:ext cx="969264" cy="-1399032"/>
          </a:xfrm>
          <a:prstGeom prst="line">
            <a:avLst/>
          </a:prstGeom>
          <a:noFill/>
          <a:ln w="19050">
            <a:solidFill>
              <a:srgbClr val="137C71"/>
            </a:solidFill>
            <a:prstDash val="solid"/>
            <a:headEnd type="none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7434072" y="3749040"/>
            <a:ext cx="996696" cy="-1307592"/>
          </a:xfrm>
          <a:prstGeom prst="line">
            <a:avLst/>
          </a:prstGeom>
          <a:noFill/>
          <a:ln w="19050">
            <a:solidFill>
              <a:srgbClr val="E8825E"/>
            </a:solidFill>
            <a:prstDash val="solid"/>
            <a:headEnd type="none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7434072" y="3749040"/>
            <a:ext cx="996696" cy="-576072"/>
          </a:xfrm>
          <a:prstGeom prst="line">
            <a:avLst/>
          </a:prstGeom>
          <a:noFill/>
          <a:ln w="19050">
            <a:solidFill>
              <a:srgbClr val="E8825E"/>
            </a:solidFill>
            <a:prstDash val="solid"/>
            <a:headEnd type="none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7434072" y="3749040"/>
            <a:ext cx="996696" cy="155448"/>
          </a:xfrm>
          <a:prstGeom prst="line">
            <a:avLst/>
          </a:prstGeom>
          <a:noFill/>
          <a:ln w="19050">
            <a:solidFill>
              <a:srgbClr val="E8825E"/>
            </a:solidFill>
            <a:prstDash val="solid"/>
            <a:headEnd type="none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7434072" y="3749040"/>
            <a:ext cx="996696" cy="886968"/>
          </a:xfrm>
          <a:prstGeom prst="line">
            <a:avLst/>
          </a:prstGeom>
          <a:noFill/>
          <a:ln w="19050">
            <a:solidFill>
              <a:srgbClr val="E8825E"/>
            </a:solidFill>
            <a:prstDash val="solid"/>
            <a:headEnd type="none"/>
            <a:tailEnd type="triangle"/>
          </a:ln>
        </p:spPr>
      </p:sp>
      <p:sp>
        <p:nvSpPr>
          <p:cNvPr id="40" name="Text 38"/>
          <p:cNvSpPr/>
          <p:nvPr/>
        </p:nvSpPr>
        <p:spPr>
          <a:xfrm>
            <a:off x="566928" y="6455664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5566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HealthCompass MA | Architecture Investor View | April 2026</a:t>
            </a:r>
            <a:endParaRPr lang="en-US" sz="940" dirty="0"/>
          </a:p>
        </p:txBody>
      </p:sp>
      <p:sp>
        <p:nvSpPr>
          <p:cNvPr id="41" name="Text 39"/>
          <p:cNvSpPr/>
          <p:nvPr/>
        </p:nvSpPr>
        <p:spPr>
          <a:xfrm>
            <a:off x="10515600" y="6455664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40" dirty="0">
                <a:solidFill>
                  <a:srgbClr val="5566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Confidential</a:t>
            </a:r>
            <a:endParaRPr lang="en-US" sz="94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840000">
            <a:off x="8915400" y="-502920"/>
            <a:ext cx="4023360" cy="2926080"/>
          </a:xfrm>
          <a:prstGeom prst="rect">
            <a:avLst/>
          </a:prstGeom>
          <a:solidFill>
            <a:srgbClr val="137C71">
              <a:alpha val="22000"/>
            </a:srgbClr>
          </a:solidFill>
          <a:ln w="12700">
            <a:solidFill>
              <a:srgbClr val="137C7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548640" y="5257800"/>
            <a:ext cx="2560320" cy="1645920"/>
          </a:xfrm>
          <a:prstGeom prst="ellipse">
            <a:avLst/>
          </a:prstGeom>
          <a:solidFill>
            <a:srgbClr val="E8825E">
              <a:alpha val="18000"/>
            </a:srgbClr>
          </a:solidFill>
          <a:ln w="12700">
            <a:solidFill>
              <a:srgbClr val="E8825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3891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FDD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DEFENSIBLE AI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7452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Models assist; rules decide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58368" y="1536192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D5E4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Eligibility thresholds, FPL math, income sufficiency, and identity scoring stay deterministic. LLMs handle extraction, explanation, translation, and drafting.</a:t>
            </a:r>
            <a:endParaRPr lang="en-US" sz="1140" dirty="0"/>
          </a:p>
        </p:txBody>
      </p:sp>
      <p:sp>
        <p:nvSpPr>
          <p:cNvPr id="7" name="Shape 5"/>
          <p:cNvSpPr/>
          <p:nvPr/>
        </p:nvSpPr>
        <p:spPr>
          <a:xfrm>
            <a:off x="804672" y="2103120"/>
            <a:ext cx="3337560" cy="2423160"/>
          </a:xfrm>
          <a:prstGeom prst="roundRect">
            <a:avLst>
              <a:gd name="adj" fmla="val 3019"/>
            </a:avLst>
          </a:prstGeom>
          <a:solidFill>
            <a:srgbClr val="17304B"/>
          </a:solidFill>
          <a:ln w="12700">
            <a:solidFill>
              <a:srgbClr val="36536F"/>
            </a:solidFill>
            <a:prstDash val="solid"/>
          </a:ln>
          <a:effectLst>
            <a:outerShdw sx="100000" sy="100000" kx="0" ky="0" algn="bl" rotWithShape="0" blurRad="12700" dist="50800" dir="2700000">
              <a:srgbClr val="B7C8D5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04672" y="2103120"/>
            <a:ext cx="109728" cy="2423160"/>
          </a:xfrm>
          <a:prstGeom prst="rect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4128" y="2267712"/>
            <a:ext cx="2898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Deterministic core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24128" y="2633472"/>
            <a:ext cx="2898648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DCE8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Eligibility engines, benefit program evaluators, income evidence checks, identity match scoring, application submission gates.</a:t>
            </a:r>
            <a:endParaRPr lang="en-US" sz="1060" dirty="0"/>
          </a:p>
        </p:txBody>
      </p:sp>
      <p:sp>
        <p:nvSpPr>
          <p:cNvPr id="11" name="Shape 9"/>
          <p:cNvSpPr/>
          <p:nvPr/>
        </p:nvSpPr>
        <p:spPr>
          <a:xfrm>
            <a:off x="4443984" y="2103120"/>
            <a:ext cx="3337560" cy="2423160"/>
          </a:xfrm>
          <a:prstGeom prst="roundRect">
            <a:avLst>
              <a:gd name="adj" fmla="val 3019"/>
            </a:avLst>
          </a:prstGeom>
          <a:solidFill>
            <a:srgbClr val="17304B"/>
          </a:solidFill>
          <a:ln w="12700">
            <a:solidFill>
              <a:srgbClr val="36536F"/>
            </a:solidFill>
            <a:prstDash val="solid"/>
          </a:ln>
          <a:effectLst>
            <a:outerShdw sx="100000" sy="100000" kx="0" ky="0" algn="bl" rotWithShape="0" blurRad="12700" dist="50800" dir="2700000">
              <a:srgbClr val="B7C8D5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443984" y="2103120"/>
            <a:ext cx="109728" cy="2423160"/>
          </a:xfrm>
          <a:prstGeom prst="rect">
            <a:avLst/>
          </a:prstGeom>
          <a:solidFill>
            <a:srgbClr val="5DB7DE"/>
          </a:solidFill>
          <a:ln w="12700">
            <a:solidFill>
              <a:srgbClr val="5DB7D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2267712"/>
            <a:ext cx="2898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Policy grounding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663440" y="2633472"/>
            <a:ext cx="2898648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DCE8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MassHealth policy documents are chunked, embedded, stored in pgvector, and retrieved with focused task queries.</a:t>
            </a:r>
            <a:endParaRPr lang="en-US" sz="1060" dirty="0"/>
          </a:p>
        </p:txBody>
      </p:sp>
      <p:sp>
        <p:nvSpPr>
          <p:cNvPr id="15" name="Shape 13"/>
          <p:cNvSpPr/>
          <p:nvPr/>
        </p:nvSpPr>
        <p:spPr>
          <a:xfrm>
            <a:off x="8083296" y="2103120"/>
            <a:ext cx="3337560" cy="2423160"/>
          </a:xfrm>
          <a:prstGeom prst="roundRect">
            <a:avLst>
              <a:gd name="adj" fmla="val 3019"/>
            </a:avLst>
          </a:prstGeom>
          <a:solidFill>
            <a:srgbClr val="17304B"/>
          </a:solidFill>
          <a:ln w="12700">
            <a:solidFill>
              <a:srgbClr val="36536F"/>
            </a:solidFill>
            <a:prstDash val="solid"/>
          </a:ln>
          <a:effectLst>
            <a:outerShdw sx="100000" sy="100000" kx="0" ky="0" algn="bl" rotWithShape="0" blurRad="12700" dist="50800" dir="2700000">
              <a:srgbClr val="B7C8D5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083296" y="2103120"/>
            <a:ext cx="109728" cy="2423160"/>
          </a:xfrm>
          <a:prstGeom prst="rect">
            <a:avLst/>
          </a:prstGeom>
          <a:solidFill>
            <a:srgbClr val="E8825E"/>
          </a:solidFill>
          <a:ln w="12700">
            <a:solidFill>
              <a:srgbClr val="E882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02752" y="2267712"/>
            <a:ext cx="2898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LLM workbench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302752" y="2633472"/>
            <a:ext cx="2898648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DCE8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Ollama powers chat, form assistance, appeals, translation, and document extraction with narrow prompt contracts.</a:t>
            </a:r>
            <a:endParaRPr lang="en-US" sz="1060" dirty="0"/>
          </a:p>
        </p:txBody>
      </p:sp>
      <p:sp>
        <p:nvSpPr>
          <p:cNvPr id="19" name="Shape 17"/>
          <p:cNvSpPr/>
          <p:nvPr/>
        </p:nvSpPr>
        <p:spPr>
          <a:xfrm>
            <a:off x="4160520" y="3319272"/>
            <a:ext cx="265176" cy="0"/>
          </a:xfrm>
          <a:prstGeom prst="line">
            <a:avLst/>
          </a:prstGeom>
          <a:noFill/>
          <a:ln w="19050">
            <a:solidFill>
              <a:srgbClr val="5DB7DE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799832" y="3319272"/>
            <a:ext cx="265176" cy="0"/>
          </a:xfrm>
          <a:prstGeom prst="line">
            <a:avLst/>
          </a:prstGeom>
          <a:noFill/>
          <a:ln w="19050">
            <a:solidFill>
              <a:srgbClr val="5DB7DE"/>
            </a:solidFill>
            <a:prstDash val="solid"/>
            <a:headEnd type="none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566928" y="6455664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C7D6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HealthCompass MA | Architecture Investor View | April 2026</a:t>
            </a:r>
            <a:endParaRPr lang="en-US" sz="940" dirty="0"/>
          </a:p>
        </p:txBody>
      </p:sp>
      <p:sp>
        <p:nvSpPr>
          <p:cNvPr id="22" name="Text 20"/>
          <p:cNvSpPr/>
          <p:nvPr/>
        </p:nvSpPr>
        <p:spPr>
          <a:xfrm>
            <a:off x="10515600" y="6455664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40" dirty="0">
                <a:solidFill>
                  <a:srgbClr val="C7D6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Confidential</a:t>
            </a:r>
            <a:endParaRPr lang="en-US" sz="94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37C71"/>
          </a:solidFill>
          <a:ln w="12700">
            <a:solidFill>
              <a:srgbClr val="137C7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38360" y="-658368"/>
            <a:ext cx="2743200" cy="1828800"/>
          </a:xfrm>
          <a:prstGeom prst="ellipse">
            <a:avLst/>
          </a:prstGeom>
          <a:solidFill>
            <a:srgbClr val="E9F5FB">
              <a:alpha val="70000"/>
            </a:srgbClr>
          </a:solidFill>
          <a:ln w="12700">
            <a:solidFill>
              <a:srgbClr val="E9F5F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685800" y="5166360"/>
            <a:ext cx="2103120" cy="1508760"/>
          </a:xfrm>
          <a:prstGeom prst="ellipse">
            <a:avLst/>
          </a:prstGeom>
          <a:solidFill>
            <a:srgbClr val="DFF5F1">
              <a:alpha val="75000"/>
            </a:srgbClr>
          </a:solidFill>
          <a:ln w="12700">
            <a:solidFill>
              <a:srgbClr val="DFF5F1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43891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37C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BACKBONE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40080" y="749808"/>
            <a:ext cx="80467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D35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single governed record across intake, evidence, and collaboration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58368" y="1810512"/>
            <a:ext cx="6903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5566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Supabase/PostgreSQL anchors the workflow; RLS and role-aware access functions keep ownership explicit.</a:t>
            </a:r>
            <a:endParaRPr lang="en-US" sz="1040" dirty="0"/>
          </a:p>
        </p:txBody>
      </p:sp>
      <p:sp>
        <p:nvSpPr>
          <p:cNvPr id="8" name="Shape 6"/>
          <p:cNvSpPr/>
          <p:nvPr/>
        </p:nvSpPr>
        <p:spPr>
          <a:xfrm>
            <a:off x="749808" y="2286000"/>
            <a:ext cx="3246120" cy="1097280"/>
          </a:xfrm>
          <a:prstGeom prst="roundRect">
            <a:avLst>
              <a:gd name="adj" fmla="val 6667"/>
            </a:avLst>
          </a:prstGeom>
          <a:solidFill>
            <a:srgbClr val="FFFDFC"/>
          </a:solidFill>
          <a:ln w="12700">
            <a:solidFill>
              <a:srgbClr val="D9E3EA"/>
            </a:solidFill>
            <a:prstDash val="solid"/>
          </a:ln>
          <a:effectLst>
            <a:outerShdw sx="100000" sy="100000" kx="0" ky="0" algn="bl" rotWithShape="0" blurRad="12700" dist="50800" dir="2700000">
              <a:srgbClr val="B7C8D5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49808" y="2286000"/>
            <a:ext cx="109728" cy="1097280"/>
          </a:xfrm>
          <a:prstGeom prst="rect">
            <a:avLst/>
          </a:prstGeom>
          <a:solidFill>
            <a:srgbClr val="137C71"/>
          </a:solidFill>
          <a:ln w="12700">
            <a:solidFill>
              <a:srgbClr val="137C7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9264" y="2450592"/>
            <a:ext cx="2807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D35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Identity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69264" y="2816352"/>
            <a:ext cx="2807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5566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users, roles, applicants, identity attempts</a:t>
            </a:r>
            <a:endParaRPr lang="en-US" sz="940" dirty="0"/>
          </a:p>
        </p:txBody>
      </p:sp>
      <p:sp>
        <p:nvSpPr>
          <p:cNvPr id="12" name="Shape 10"/>
          <p:cNvSpPr/>
          <p:nvPr/>
        </p:nvSpPr>
        <p:spPr>
          <a:xfrm>
            <a:off x="3456432" y="2487168"/>
            <a:ext cx="310896" cy="310896"/>
          </a:xfrm>
          <a:prstGeom prst="ellipse">
            <a:avLst/>
          </a:prstGeom>
          <a:solidFill>
            <a:srgbClr val="E9F5FB"/>
          </a:solidFill>
          <a:ln w="12700">
            <a:solidFill>
              <a:srgbClr val="E9F5F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80560" y="2286000"/>
            <a:ext cx="3246120" cy="1097280"/>
          </a:xfrm>
          <a:prstGeom prst="roundRect">
            <a:avLst>
              <a:gd name="adj" fmla="val 6667"/>
            </a:avLst>
          </a:prstGeom>
          <a:solidFill>
            <a:srgbClr val="FFFDFC"/>
          </a:solidFill>
          <a:ln w="12700">
            <a:solidFill>
              <a:srgbClr val="D9E3EA"/>
            </a:solidFill>
            <a:prstDash val="solid"/>
          </a:ln>
          <a:effectLst>
            <a:outerShdw sx="100000" sy="100000" kx="0" ky="0" algn="bl" rotWithShape="0" blurRad="12700" dist="50800" dir="2700000">
              <a:srgbClr val="B7C8D5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480560" y="2286000"/>
            <a:ext cx="109728" cy="1097280"/>
          </a:xfrm>
          <a:prstGeom prst="rect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0016" y="2450592"/>
            <a:ext cx="2807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D35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Applications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700016" y="2816352"/>
            <a:ext cx="2807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5566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applications, household, incomes, assets, documents</a:t>
            </a:r>
            <a:endParaRPr lang="en-US" sz="940" dirty="0"/>
          </a:p>
        </p:txBody>
      </p:sp>
      <p:sp>
        <p:nvSpPr>
          <p:cNvPr id="17" name="Shape 15"/>
          <p:cNvSpPr/>
          <p:nvPr/>
        </p:nvSpPr>
        <p:spPr>
          <a:xfrm>
            <a:off x="7187184" y="2487168"/>
            <a:ext cx="310896" cy="310896"/>
          </a:xfrm>
          <a:prstGeom prst="ellipse">
            <a:avLst/>
          </a:prstGeom>
          <a:solidFill>
            <a:srgbClr val="DFF5F1"/>
          </a:solidFill>
          <a:ln w="12700">
            <a:solidFill>
              <a:srgbClr val="DFF5F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11312" y="2286000"/>
            <a:ext cx="3246120" cy="1097280"/>
          </a:xfrm>
          <a:prstGeom prst="roundRect">
            <a:avLst>
              <a:gd name="adj" fmla="val 6667"/>
            </a:avLst>
          </a:prstGeom>
          <a:solidFill>
            <a:srgbClr val="FFFDFC"/>
          </a:solidFill>
          <a:ln w="12700">
            <a:solidFill>
              <a:srgbClr val="D9E3EA"/>
            </a:solidFill>
            <a:prstDash val="solid"/>
          </a:ln>
          <a:effectLst>
            <a:outerShdw sx="100000" sy="100000" kx="0" ky="0" algn="bl" rotWithShape="0" blurRad="12700" dist="50800" dir="2700000">
              <a:srgbClr val="B7C8D5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211312" y="2286000"/>
            <a:ext cx="109728" cy="1097280"/>
          </a:xfrm>
          <a:prstGeom prst="rect">
            <a:avLst/>
          </a:prstGeom>
          <a:solidFill>
            <a:srgbClr val="E8825E"/>
          </a:solidFill>
          <a:ln w="12700">
            <a:solidFill>
              <a:srgbClr val="E882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30768" y="2450592"/>
            <a:ext cx="2807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D35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Verification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30768" y="2816352"/>
            <a:ext cx="2807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5566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income cases, requirements, extractions, decisions, RFI</a:t>
            </a:r>
            <a:endParaRPr lang="en-US" sz="940" dirty="0"/>
          </a:p>
        </p:txBody>
      </p:sp>
      <p:sp>
        <p:nvSpPr>
          <p:cNvPr id="22" name="Shape 20"/>
          <p:cNvSpPr/>
          <p:nvPr/>
        </p:nvSpPr>
        <p:spPr>
          <a:xfrm>
            <a:off x="10917936" y="2487168"/>
            <a:ext cx="310896" cy="310896"/>
          </a:xfrm>
          <a:prstGeom prst="ellipse">
            <a:avLst/>
          </a:prstGeom>
          <a:solidFill>
            <a:srgbClr val="F9E795"/>
          </a:solidFill>
          <a:ln w="12700">
            <a:solidFill>
              <a:srgbClr val="F9E79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9808" y="3767328"/>
            <a:ext cx="3246120" cy="1097280"/>
          </a:xfrm>
          <a:prstGeom prst="roundRect">
            <a:avLst>
              <a:gd name="adj" fmla="val 6667"/>
            </a:avLst>
          </a:prstGeom>
          <a:solidFill>
            <a:srgbClr val="FFFDFC"/>
          </a:solidFill>
          <a:ln w="12700">
            <a:solidFill>
              <a:srgbClr val="D9E3EA"/>
            </a:solidFill>
            <a:prstDash val="solid"/>
          </a:ln>
          <a:effectLst>
            <a:outerShdw sx="100000" sy="100000" kx="0" ky="0" algn="bl" rotWithShape="0" blurRad="12700" dist="50800" dir="2700000">
              <a:srgbClr val="B7C8D5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49808" y="3767328"/>
            <a:ext cx="109728" cy="1097280"/>
          </a:xfrm>
          <a:prstGeom prst="rect">
            <a:avLst/>
          </a:prstGeom>
          <a:solidFill>
            <a:srgbClr val="137C71"/>
          </a:solidFill>
          <a:ln w="12700">
            <a:solidFill>
              <a:srgbClr val="137C7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9264" y="3931920"/>
            <a:ext cx="2807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D35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Collaboration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69264" y="4297680"/>
            <a:ext cx="2807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5566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sessions, messages, social worker access, DMs</a:t>
            </a:r>
            <a:endParaRPr lang="en-US" sz="940" dirty="0"/>
          </a:p>
        </p:txBody>
      </p:sp>
      <p:sp>
        <p:nvSpPr>
          <p:cNvPr id="27" name="Shape 25"/>
          <p:cNvSpPr/>
          <p:nvPr/>
        </p:nvSpPr>
        <p:spPr>
          <a:xfrm>
            <a:off x="3456432" y="3968496"/>
            <a:ext cx="310896" cy="310896"/>
          </a:xfrm>
          <a:prstGeom prst="ellipse">
            <a:avLst/>
          </a:prstGeom>
          <a:solidFill>
            <a:srgbClr val="FDE4D8"/>
          </a:solidFill>
          <a:ln w="12700">
            <a:solidFill>
              <a:srgbClr val="FDE4D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480560" y="3767328"/>
            <a:ext cx="3246120" cy="1097280"/>
          </a:xfrm>
          <a:prstGeom prst="roundRect">
            <a:avLst>
              <a:gd name="adj" fmla="val 6667"/>
            </a:avLst>
          </a:prstGeom>
          <a:solidFill>
            <a:srgbClr val="FFFDFC"/>
          </a:solidFill>
          <a:ln w="12700">
            <a:solidFill>
              <a:srgbClr val="D9E3EA"/>
            </a:solidFill>
            <a:prstDash val="solid"/>
          </a:ln>
          <a:effectLst>
            <a:outerShdw sx="100000" sy="100000" kx="0" ky="0" algn="bl" rotWithShape="0" blurRad="12700" dist="50800" dir="2700000">
              <a:srgbClr val="B7C8D5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480560" y="3767328"/>
            <a:ext cx="109728" cy="1097280"/>
          </a:xfrm>
          <a:prstGeom prst="rect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00016" y="3931920"/>
            <a:ext cx="2807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D35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Knowledge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700016" y="4297680"/>
            <a:ext cx="2807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5566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documents, pgvector chunks, embeddings</a:t>
            </a:r>
            <a:endParaRPr lang="en-US" sz="940" dirty="0"/>
          </a:p>
        </p:txBody>
      </p:sp>
      <p:sp>
        <p:nvSpPr>
          <p:cNvPr id="32" name="Shape 30"/>
          <p:cNvSpPr/>
          <p:nvPr/>
        </p:nvSpPr>
        <p:spPr>
          <a:xfrm>
            <a:off x="7187184" y="3968496"/>
            <a:ext cx="310896" cy="310896"/>
          </a:xfrm>
          <a:prstGeom prst="ellipse">
            <a:avLst/>
          </a:prstGeom>
          <a:solidFill>
            <a:srgbClr val="E9F5FB"/>
          </a:solidFill>
          <a:ln w="12700">
            <a:solidFill>
              <a:srgbClr val="E9F5F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211312" y="3767328"/>
            <a:ext cx="3246120" cy="1097280"/>
          </a:xfrm>
          <a:prstGeom prst="roundRect">
            <a:avLst>
              <a:gd name="adj" fmla="val 6667"/>
            </a:avLst>
          </a:prstGeom>
          <a:solidFill>
            <a:srgbClr val="FFFDFC"/>
          </a:solidFill>
          <a:ln w="12700">
            <a:solidFill>
              <a:srgbClr val="D9E3EA"/>
            </a:solidFill>
            <a:prstDash val="solid"/>
          </a:ln>
          <a:effectLst>
            <a:outerShdw sx="100000" sy="100000" kx="0" ky="0" algn="bl" rotWithShape="0" blurRad="12700" dist="50800" dir="2700000">
              <a:srgbClr val="B7C8D5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8211312" y="3767328"/>
            <a:ext cx="109728" cy="1097280"/>
          </a:xfrm>
          <a:prstGeom prst="rect">
            <a:avLst/>
          </a:prstGeom>
          <a:solidFill>
            <a:srgbClr val="E8825E"/>
          </a:solidFill>
          <a:ln w="12700">
            <a:solidFill>
              <a:srgbClr val="E8825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430768" y="3931920"/>
            <a:ext cx="2807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D35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Audit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8430768" y="4297680"/>
            <a:ext cx="2807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5566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notifications, review actions, audit logs</a:t>
            </a:r>
            <a:endParaRPr lang="en-US" sz="940" dirty="0"/>
          </a:p>
        </p:txBody>
      </p:sp>
      <p:sp>
        <p:nvSpPr>
          <p:cNvPr id="37" name="Shape 35"/>
          <p:cNvSpPr/>
          <p:nvPr/>
        </p:nvSpPr>
        <p:spPr>
          <a:xfrm>
            <a:off x="10917936" y="3968496"/>
            <a:ext cx="310896" cy="310896"/>
          </a:xfrm>
          <a:prstGeom prst="ellipse">
            <a:avLst/>
          </a:prstGeom>
          <a:solidFill>
            <a:srgbClr val="DFF5F1"/>
          </a:solidFill>
          <a:ln w="12700">
            <a:solidFill>
              <a:srgbClr val="DFF5F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417320" y="5376672"/>
            <a:ext cx="9326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D35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Core pattern: transactional state + private object storage + vector policy memory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566928" y="6455664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5566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HealthCompass MA | Architecture Investor View | April 2026</a:t>
            </a:r>
            <a:endParaRPr lang="en-US" sz="940" dirty="0"/>
          </a:p>
        </p:txBody>
      </p:sp>
      <p:sp>
        <p:nvSpPr>
          <p:cNvPr id="40" name="Text 38"/>
          <p:cNvSpPr/>
          <p:nvPr/>
        </p:nvSpPr>
        <p:spPr>
          <a:xfrm>
            <a:off x="10515600" y="6455664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40" dirty="0">
                <a:solidFill>
                  <a:srgbClr val="5566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Confidential</a:t>
            </a:r>
            <a:endParaRPr lang="en-US" sz="94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37C71"/>
          </a:solidFill>
          <a:ln w="12700">
            <a:solidFill>
              <a:srgbClr val="137C7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38360" y="-658368"/>
            <a:ext cx="2743200" cy="1828800"/>
          </a:xfrm>
          <a:prstGeom prst="ellipse">
            <a:avLst/>
          </a:prstGeom>
          <a:solidFill>
            <a:srgbClr val="E9F5FB">
              <a:alpha val="70000"/>
            </a:srgbClr>
          </a:solidFill>
          <a:ln w="12700">
            <a:solidFill>
              <a:srgbClr val="E9F5F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685800" y="5166360"/>
            <a:ext cx="2103120" cy="1508760"/>
          </a:xfrm>
          <a:prstGeom prst="ellipse">
            <a:avLst/>
          </a:prstGeom>
          <a:solidFill>
            <a:srgbClr val="DFF5F1">
              <a:alpha val="75000"/>
            </a:srgbClr>
          </a:solidFill>
          <a:ln w="12700">
            <a:solidFill>
              <a:srgbClr val="DFF5F1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43891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37C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WORKFLOW FLYWHEEL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40080" y="749808"/>
            <a:ext cx="7498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D35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Each workflow strengthens the next one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58368" y="1536192"/>
            <a:ext cx="7223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5566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platform links guided intake, evidence verification, benefit recommendations, appeals, and assisted collaboration around one applicant journey.</a:t>
            </a:r>
            <a:endParaRPr lang="en-US" sz="1140" dirty="0"/>
          </a:p>
        </p:txBody>
      </p:sp>
      <p:sp>
        <p:nvSpPr>
          <p:cNvPr id="8" name="Shape 6"/>
          <p:cNvSpPr/>
          <p:nvPr/>
        </p:nvSpPr>
        <p:spPr>
          <a:xfrm>
            <a:off x="786384" y="2240280"/>
            <a:ext cx="1078992" cy="1078992"/>
          </a:xfrm>
          <a:prstGeom prst="ellipse">
            <a:avLst/>
          </a:prstGeom>
          <a:solidFill>
            <a:srgbClr val="137C71"/>
          </a:solidFill>
          <a:ln w="12700">
            <a:solidFill>
              <a:srgbClr val="137C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" y="2487168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84632" y="3566160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35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Intake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29184" y="3959352"/>
            <a:ext cx="19751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566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Collect structured facts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938528" y="2770632"/>
            <a:ext cx="932688" cy="0"/>
          </a:xfrm>
          <a:prstGeom prst="line">
            <a:avLst/>
          </a:prstGeom>
          <a:noFill/>
          <a:ln w="19050">
            <a:solidFill>
              <a:srgbClr val="137C71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044952" y="2240280"/>
            <a:ext cx="1078992" cy="1078992"/>
          </a:xfrm>
          <a:prstGeom prst="ellipse">
            <a:avLst/>
          </a:prstGeom>
          <a:solidFill>
            <a:srgbClr val="E8825E"/>
          </a:solidFill>
          <a:ln w="12700">
            <a:solidFill>
              <a:srgbClr val="E882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44952" y="2487168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743200" y="3566160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35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Verify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587752" y="3959352"/>
            <a:ext cx="19751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566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 identity and income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197096" y="2770632"/>
            <a:ext cx="932688" cy="0"/>
          </a:xfrm>
          <a:prstGeom prst="line">
            <a:avLst/>
          </a:prstGeom>
          <a:noFill/>
          <a:ln w="19050">
            <a:solidFill>
              <a:srgbClr val="137C71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303520" y="2240280"/>
            <a:ext cx="1078992" cy="1078992"/>
          </a:xfrm>
          <a:prstGeom prst="ellipse">
            <a:avLst/>
          </a:prstGeom>
          <a:solidFill>
            <a:srgbClr val="137C71"/>
          </a:solidFill>
          <a:ln w="12700">
            <a:solidFill>
              <a:srgbClr val="137C7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0" y="2487168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001768" y="3566160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35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Recommend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846320" y="3959352"/>
            <a:ext cx="19751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566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Rank benefits and next actions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455664" y="2770632"/>
            <a:ext cx="932688" cy="0"/>
          </a:xfrm>
          <a:prstGeom prst="line">
            <a:avLst/>
          </a:prstGeom>
          <a:noFill/>
          <a:ln w="19050">
            <a:solidFill>
              <a:srgbClr val="137C71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562088" y="2240280"/>
            <a:ext cx="1078992" cy="1078992"/>
          </a:xfrm>
          <a:prstGeom prst="ellipse">
            <a:avLst/>
          </a:prstGeom>
          <a:solidFill>
            <a:srgbClr val="E8825E"/>
          </a:solidFill>
          <a:ln w="12700">
            <a:solidFill>
              <a:srgbClr val="E8825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62088" y="2487168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7260336" y="3566160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35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Assist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104888" y="3959352"/>
            <a:ext cx="19751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566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RAG-backed guidance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8714232" y="2770632"/>
            <a:ext cx="932688" cy="0"/>
          </a:xfrm>
          <a:prstGeom prst="line">
            <a:avLst/>
          </a:prstGeom>
          <a:noFill/>
          <a:ln w="19050">
            <a:solidFill>
              <a:srgbClr val="137C71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820656" y="2240280"/>
            <a:ext cx="1078992" cy="1078992"/>
          </a:xfrm>
          <a:prstGeom prst="ellipse">
            <a:avLst/>
          </a:prstGeom>
          <a:solidFill>
            <a:srgbClr val="137C71"/>
          </a:solidFill>
          <a:ln w="12700">
            <a:solidFill>
              <a:srgbClr val="137C7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820656" y="2487168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9518904" y="3566160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35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Review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9363456" y="3959352"/>
            <a:ext cx="19751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566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Resolve RFI and decisions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66928" y="6455664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5566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HealthCompass MA | Architecture Investor View | April 2026</a:t>
            </a:r>
            <a:endParaRPr lang="en-US" sz="940" dirty="0"/>
          </a:p>
        </p:txBody>
      </p:sp>
      <p:sp>
        <p:nvSpPr>
          <p:cNvPr id="33" name="Text 31"/>
          <p:cNvSpPr/>
          <p:nvPr/>
        </p:nvSpPr>
        <p:spPr>
          <a:xfrm>
            <a:off x="10515600" y="6455664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40" dirty="0">
                <a:solidFill>
                  <a:srgbClr val="5566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Confidential</a:t>
            </a:r>
            <a:endParaRPr lang="en-US" sz="94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37C71"/>
          </a:solidFill>
          <a:ln w="12700">
            <a:solidFill>
              <a:srgbClr val="137C7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38360" y="-658368"/>
            <a:ext cx="2743200" cy="1828800"/>
          </a:xfrm>
          <a:prstGeom prst="ellipse">
            <a:avLst/>
          </a:prstGeom>
          <a:solidFill>
            <a:srgbClr val="E9F5FB">
              <a:alpha val="70000"/>
            </a:srgbClr>
          </a:solidFill>
          <a:ln w="12700">
            <a:solidFill>
              <a:srgbClr val="E9F5F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685800" y="5166360"/>
            <a:ext cx="2103120" cy="1508760"/>
          </a:xfrm>
          <a:prstGeom prst="ellipse">
            <a:avLst/>
          </a:prstGeom>
          <a:solidFill>
            <a:srgbClr val="DFF5F1">
              <a:alpha val="75000"/>
            </a:srgbClr>
          </a:solidFill>
          <a:ln w="12700">
            <a:solidFill>
              <a:srgbClr val="DFF5F1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43891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37C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SCALABILITY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40080" y="749808"/>
            <a:ext cx="80010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D35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Modular monolith now; extracted workers when volume demands it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58368" y="1901952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5566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architecture keeps product velocity high while leaving clean extraction points for compute-heavy services.</a:t>
            </a:r>
            <a:endParaRPr lang="en-US" sz="1040" dirty="0"/>
          </a:p>
        </p:txBody>
      </p:sp>
      <p:sp>
        <p:nvSpPr>
          <p:cNvPr id="8" name="Shape 6"/>
          <p:cNvSpPr/>
          <p:nvPr/>
        </p:nvSpPr>
        <p:spPr>
          <a:xfrm>
            <a:off x="749808" y="2487168"/>
            <a:ext cx="3246120" cy="2331720"/>
          </a:xfrm>
          <a:prstGeom prst="roundRect">
            <a:avLst>
              <a:gd name="adj" fmla="val 3137"/>
            </a:avLst>
          </a:prstGeom>
          <a:solidFill>
            <a:srgbClr val="FFFDFC"/>
          </a:solidFill>
          <a:ln w="12700">
            <a:solidFill>
              <a:srgbClr val="D9E3EA"/>
            </a:solidFill>
            <a:prstDash val="solid"/>
          </a:ln>
          <a:effectLst>
            <a:outerShdw sx="100000" sy="100000" kx="0" ky="0" algn="bl" rotWithShape="0" blurRad="12700" dist="50800" dir="2700000">
              <a:srgbClr val="B7C8D5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49808" y="2487168"/>
            <a:ext cx="109728" cy="2331720"/>
          </a:xfrm>
          <a:prstGeom prst="rect">
            <a:avLst/>
          </a:prstGeom>
          <a:solidFill>
            <a:srgbClr val="137C71"/>
          </a:solidFill>
          <a:ln w="12700">
            <a:solidFill>
              <a:srgbClr val="137C7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9264" y="2651760"/>
            <a:ext cx="2807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D35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Now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69264" y="3017520"/>
            <a:ext cx="2807208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566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Next.js App Router, Supabase/PostgreSQL, pgvector, private storage, self-hosted Ollama, OpenObserve.</a:t>
            </a:r>
            <a:endParaRPr lang="en-US" sz="1030" dirty="0"/>
          </a:p>
        </p:txBody>
      </p:sp>
      <p:sp>
        <p:nvSpPr>
          <p:cNvPr id="12" name="Shape 10"/>
          <p:cNvSpPr/>
          <p:nvPr/>
        </p:nvSpPr>
        <p:spPr>
          <a:xfrm>
            <a:off x="4471416" y="2487168"/>
            <a:ext cx="3246120" cy="2331720"/>
          </a:xfrm>
          <a:prstGeom prst="roundRect">
            <a:avLst>
              <a:gd name="adj" fmla="val 3137"/>
            </a:avLst>
          </a:prstGeom>
          <a:solidFill>
            <a:srgbClr val="FFFDFC"/>
          </a:solidFill>
          <a:ln w="12700">
            <a:solidFill>
              <a:srgbClr val="D9E3EA"/>
            </a:solidFill>
            <a:prstDash val="solid"/>
          </a:ln>
          <a:effectLst>
            <a:outerShdw sx="100000" sy="100000" kx="0" ky="0" algn="bl" rotWithShape="0" blurRad="12700" dist="50800" dir="2700000">
              <a:srgbClr val="B7C8D5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471416" y="2487168"/>
            <a:ext cx="109728" cy="2331720"/>
          </a:xfrm>
          <a:prstGeom prst="rect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90872" y="2651760"/>
            <a:ext cx="2807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D35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Next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90872" y="3017520"/>
            <a:ext cx="2807208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566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 modules, route-thin use cases, AI parse metrics, background extraction jobs, RAG quality evaluation.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8193024" y="2487168"/>
            <a:ext cx="3246120" cy="2331720"/>
          </a:xfrm>
          <a:prstGeom prst="roundRect">
            <a:avLst>
              <a:gd name="adj" fmla="val 3137"/>
            </a:avLst>
          </a:prstGeom>
          <a:solidFill>
            <a:srgbClr val="FFFDFC"/>
          </a:solidFill>
          <a:ln w="12700">
            <a:solidFill>
              <a:srgbClr val="D9E3EA"/>
            </a:solidFill>
            <a:prstDash val="solid"/>
          </a:ln>
          <a:effectLst>
            <a:outerShdw sx="100000" sy="100000" kx="0" ky="0" algn="bl" rotWithShape="0" blurRad="12700" dist="50800" dir="2700000">
              <a:srgbClr val="B7C8D5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193024" y="2487168"/>
            <a:ext cx="109728" cy="2331720"/>
          </a:xfrm>
          <a:prstGeom prst="rect">
            <a:avLst/>
          </a:prstGeom>
          <a:solidFill>
            <a:srgbClr val="E8825E"/>
          </a:solidFill>
          <a:ln w="12700">
            <a:solidFill>
              <a:srgbClr val="E882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0" y="2651760"/>
            <a:ext cx="2807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D35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Later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412480" y="3017520"/>
            <a:ext cx="2807208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566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Dedicated extraction workers, ingestion pipelines, notification dispatchers, analytics service, state-specific rule packs.</a:t>
            </a:r>
            <a:endParaRPr lang="en-US" sz="1030" dirty="0"/>
          </a:p>
        </p:txBody>
      </p:sp>
      <p:sp>
        <p:nvSpPr>
          <p:cNvPr id="20" name="Text 18"/>
          <p:cNvSpPr/>
          <p:nvPr/>
        </p:nvSpPr>
        <p:spPr>
          <a:xfrm>
            <a:off x="1024128" y="5440680"/>
            <a:ext cx="10104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D35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Investor signal: the system is built to expand by workflow and state without rebuilding the core.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66928" y="6455664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5566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HealthCompass MA | Architecture Investor View | April 2026</a:t>
            </a:r>
            <a:endParaRPr lang="en-US" sz="940" dirty="0"/>
          </a:p>
        </p:txBody>
      </p:sp>
      <p:sp>
        <p:nvSpPr>
          <p:cNvPr id="22" name="Text 20"/>
          <p:cNvSpPr/>
          <p:nvPr/>
        </p:nvSpPr>
        <p:spPr>
          <a:xfrm>
            <a:off x="10515600" y="6455664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40" dirty="0">
                <a:solidFill>
                  <a:srgbClr val="5566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Confidential</a:t>
            </a:r>
            <a:endParaRPr lang="en-US" sz="94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0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840000">
            <a:off x="8915400" y="-502920"/>
            <a:ext cx="4023360" cy="2926080"/>
          </a:xfrm>
          <a:prstGeom prst="rect">
            <a:avLst/>
          </a:prstGeom>
          <a:solidFill>
            <a:srgbClr val="137C71">
              <a:alpha val="22000"/>
            </a:srgbClr>
          </a:solidFill>
          <a:ln w="12700">
            <a:solidFill>
              <a:srgbClr val="137C7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548640" y="5257800"/>
            <a:ext cx="2560320" cy="1645920"/>
          </a:xfrm>
          <a:prstGeom prst="ellipse">
            <a:avLst/>
          </a:prstGeom>
          <a:solidFill>
            <a:srgbClr val="E8825E">
              <a:alpha val="18000"/>
            </a:srgbClr>
          </a:solidFill>
          <a:ln w="12700">
            <a:solidFill>
              <a:srgbClr val="E8825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3891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FDD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IT MATTERS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7909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HealthCompass MA is positioned as workflow infrastructure, not a point tool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58368" y="1755648"/>
            <a:ext cx="6903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D5E4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moat is the combination of governed data, deterministic eligibility logic, policy-grounded AI, and collaboration workflows.</a:t>
            </a:r>
            <a:endParaRPr lang="en-US" sz="1140" dirty="0"/>
          </a:p>
        </p:txBody>
      </p:sp>
      <p:sp>
        <p:nvSpPr>
          <p:cNvPr id="7" name="Shape 5"/>
          <p:cNvSpPr/>
          <p:nvPr/>
        </p:nvSpPr>
        <p:spPr>
          <a:xfrm>
            <a:off x="804672" y="2743200"/>
            <a:ext cx="3337560" cy="1600200"/>
          </a:xfrm>
          <a:prstGeom prst="roundRect">
            <a:avLst>
              <a:gd name="adj" fmla="val 4571"/>
            </a:avLst>
          </a:prstGeom>
          <a:solidFill>
            <a:srgbClr val="17304B"/>
          </a:solidFill>
          <a:ln w="12700">
            <a:solidFill>
              <a:srgbClr val="36536F"/>
            </a:solidFill>
            <a:prstDash val="solid"/>
          </a:ln>
          <a:effectLst>
            <a:outerShdw sx="100000" sy="100000" kx="0" ky="0" algn="bl" rotWithShape="0" blurRad="12700" dist="50800" dir="2700000">
              <a:srgbClr val="B7C8D5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04672" y="2743200"/>
            <a:ext cx="109728" cy="1600200"/>
          </a:xfrm>
          <a:prstGeom prst="rect">
            <a:avLst/>
          </a:prstGeom>
          <a:solidFill>
            <a:srgbClr val="5DB7DE"/>
          </a:solidFill>
          <a:ln w="12700">
            <a:solidFill>
              <a:srgbClr val="5DB7D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4128" y="2907792"/>
            <a:ext cx="2898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Trust layer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24128" y="3273552"/>
            <a:ext cx="2898648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DCE8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RLS, audit trails, private storage, and deterministic decision boundaries.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4443984" y="2743200"/>
            <a:ext cx="3337560" cy="1600200"/>
          </a:xfrm>
          <a:prstGeom prst="roundRect">
            <a:avLst>
              <a:gd name="adj" fmla="val 4571"/>
            </a:avLst>
          </a:prstGeom>
          <a:solidFill>
            <a:srgbClr val="17304B"/>
          </a:solidFill>
          <a:ln w="12700">
            <a:solidFill>
              <a:srgbClr val="36536F"/>
            </a:solidFill>
            <a:prstDash val="solid"/>
          </a:ln>
          <a:effectLst>
            <a:outerShdw sx="100000" sy="100000" kx="0" ky="0" algn="bl" rotWithShape="0" blurRad="12700" dist="50800" dir="2700000">
              <a:srgbClr val="B7C8D5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443984" y="2743200"/>
            <a:ext cx="109728" cy="1600200"/>
          </a:xfrm>
          <a:prstGeom prst="rect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2907792"/>
            <a:ext cx="2898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leverage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663440" y="3273552"/>
            <a:ext cx="2898648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DCE8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Models handle language-heavy workflows while code owns rules and sufficiency.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8083296" y="2743200"/>
            <a:ext cx="3337560" cy="1600200"/>
          </a:xfrm>
          <a:prstGeom prst="roundRect">
            <a:avLst>
              <a:gd name="adj" fmla="val 4571"/>
            </a:avLst>
          </a:prstGeom>
          <a:solidFill>
            <a:srgbClr val="17304B"/>
          </a:solidFill>
          <a:ln w="12700">
            <a:solidFill>
              <a:srgbClr val="36536F"/>
            </a:solidFill>
            <a:prstDash val="solid"/>
          </a:ln>
          <a:effectLst>
            <a:outerShdw sx="100000" sy="100000" kx="0" ky="0" algn="bl" rotWithShape="0" blurRad="12700" dist="50800" dir="2700000">
              <a:srgbClr val="B7C8D5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083296" y="2743200"/>
            <a:ext cx="109728" cy="1600200"/>
          </a:xfrm>
          <a:prstGeom prst="rect">
            <a:avLst/>
          </a:prstGeom>
          <a:solidFill>
            <a:srgbClr val="E8825E"/>
          </a:solidFill>
          <a:ln w="12700">
            <a:solidFill>
              <a:srgbClr val="E882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02752" y="2907792"/>
            <a:ext cx="2898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Expansion path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302752" y="3273552"/>
            <a:ext cx="2898648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DCE8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Provider portals, reviewer operations, analytics, and state-specific policy packs.</a:t>
            </a:r>
            <a:endParaRPr lang="en-US" sz="1020" dirty="0"/>
          </a:p>
        </p:txBody>
      </p:sp>
      <p:sp>
        <p:nvSpPr>
          <p:cNvPr id="19" name="Text 17"/>
          <p:cNvSpPr/>
          <p:nvPr/>
        </p:nvSpPr>
        <p:spPr>
          <a:xfrm>
            <a:off x="1234440" y="5257800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Designed for the workflows that make healthcare access expensive: intake, evidence, policy, review, and follow-up.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566928" y="6455664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C7D6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HealthCompass MA | Architecture Investor View | April 2026</a:t>
            </a:r>
            <a:endParaRPr lang="en-US" sz="940" dirty="0"/>
          </a:p>
        </p:txBody>
      </p:sp>
      <p:sp>
        <p:nvSpPr>
          <p:cNvPr id="21" name="Text 19"/>
          <p:cNvSpPr/>
          <p:nvPr/>
        </p:nvSpPr>
        <p:spPr>
          <a:xfrm>
            <a:off x="10515600" y="6455664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40" dirty="0">
                <a:solidFill>
                  <a:srgbClr val="C7D6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Confidential</a:t>
            </a:r>
            <a:endParaRPr lang="en-US" sz="9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HealthCompass MA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HealthCompass MA Architecture - Investor View</dc:title>
  <dc:subject>High-level architecture deck for investors</dc:subject>
  <dc:creator>Codex</dc:creator>
  <cp:lastModifiedBy>Codex</cp:lastModifiedBy>
  <cp:revision>1</cp:revision>
  <dcterms:created xsi:type="dcterms:W3CDTF">2026-04-12T00:53:40Z</dcterms:created>
  <dcterms:modified xsi:type="dcterms:W3CDTF">2026-04-12T00:53:40Z</dcterms:modified>
</cp:coreProperties>
</file>