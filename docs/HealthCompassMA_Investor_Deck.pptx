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344"/>
    <p:restoredTop sz="94610"/>
  </p:normalViewPr>
  <p:slideViewPr>
    <p:cSldViewPr snapToGrid="0" snapToObjects="1">
      <p:cViewPr varScale="1">
        <p:scale>
          <a:sx n="164" d="100"/>
          <a:sy n="164" d="100"/>
        </p:scale>
        <p:origin x="176" y="2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086295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63F"/>
        </a:solidFill>
        <a:effectLst/>
      </p:bgPr>
    </p:bg>
    <p:spTree>
      <p:nvGrpSpPr>
        <p:cNvPr id="1" name=""/>
        <p:cNvGrpSpPr/>
        <p:nvPr/>
      </p:nvGrpSpPr>
      <p:grpSpPr>
        <a:xfrm>
          <a:off x="0" y="0"/>
          <a:ext cx="0" cy="0"/>
          <a:chOff x="0" y="0"/>
          <a:chExt cx="0" cy="0"/>
        </a:xfrm>
      </p:grpSpPr>
      <p:sp>
        <p:nvSpPr>
          <p:cNvPr id="2" name="Shape 0"/>
          <p:cNvSpPr/>
          <p:nvPr/>
        </p:nvSpPr>
        <p:spPr>
          <a:xfrm rot="960000">
            <a:off x="9052560" y="-548640"/>
            <a:ext cx="3840480" cy="3474720"/>
          </a:xfrm>
          <a:prstGeom prst="rect">
            <a:avLst/>
          </a:prstGeom>
          <a:solidFill>
            <a:srgbClr val="137C71">
              <a:alpha val="18000"/>
            </a:srgbClr>
          </a:solidFill>
          <a:ln w="12700">
            <a:solidFill>
              <a:srgbClr val="137C71">
                <a:alpha val="0"/>
              </a:srgbClr>
            </a:solidFill>
            <a:prstDash val="solid"/>
          </a:ln>
        </p:spPr>
        <p:txBody>
          <a:bodyPr/>
          <a:lstStyle/>
          <a:p>
            <a:endParaRPr lang="en-US"/>
          </a:p>
        </p:txBody>
      </p:sp>
      <p:sp>
        <p:nvSpPr>
          <p:cNvPr id="3" name="Shape 1"/>
          <p:cNvSpPr/>
          <p:nvPr/>
        </p:nvSpPr>
        <p:spPr>
          <a:xfrm>
            <a:off x="-731520" y="5212080"/>
            <a:ext cx="3108960" cy="2194560"/>
          </a:xfrm>
          <a:prstGeom prst="ellipse">
            <a:avLst/>
          </a:prstGeom>
          <a:solidFill>
            <a:srgbClr val="E8825E">
              <a:alpha val="20000"/>
            </a:srgbClr>
          </a:solidFill>
          <a:ln w="12700">
            <a:solidFill>
              <a:srgbClr val="E8825E">
                <a:alpha val="0"/>
              </a:srgbClr>
            </a:solidFill>
            <a:prstDash val="solid"/>
          </a:ln>
        </p:spPr>
        <p:txBody>
          <a:bodyPr/>
          <a:lstStyle/>
          <a:p>
            <a:endParaRPr lang="en-US"/>
          </a:p>
        </p:txBody>
      </p:sp>
      <p:sp>
        <p:nvSpPr>
          <p:cNvPr id="4" name="Shape 2"/>
          <p:cNvSpPr/>
          <p:nvPr/>
        </p:nvSpPr>
        <p:spPr>
          <a:xfrm>
            <a:off x="548640" y="1005840"/>
            <a:ext cx="11064240" cy="0"/>
          </a:xfrm>
          <a:prstGeom prst="line">
            <a:avLst/>
          </a:prstGeom>
          <a:noFill/>
          <a:ln w="17780">
            <a:solidFill>
              <a:srgbClr val="5DB7DE">
                <a:alpha val="40000"/>
              </a:srgbClr>
            </a:solidFill>
            <a:prstDash val="solid"/>
          </a:ln>
        </p:spPr>
        <p:txBody>
          <a:bodyPr/>
          <a:lstStyle/>
          <a:p>
            <a:endParaRPr lang="en-US"/>
          </a:p>
        </p:txBody>
      </p:sp>
      <p:sp>
        <p:nvSpPr>
          <p:cNvPr id="5" name="Shape 3"/>
          <p:cNvSpPr/>
          <p:nvPr/>
        </p:nvSpPr>
        <p:spPr>
          <a:xfrm>
            <a:off x="658368" y="676656"/>
            <a:ext cx="768096" cy="457200"/>
          </a:xfrm>
          <a:prstGeom prst="roundRect">
            <a:avLst>
              <a:gd name="adj" fmla="val 16000"/>
            </a:avLst>
          </a:prstGeom>
          <a:solidFill>
            <a:srgbClr val="137C71"/>
          </a:solidFill>
          <a:ln w="12700">
            <a:solidFill>
              <a:srgbClr val="137C71"/>
            </a:solidFill>
            <a:prstDash val="solid"/>
          </a:ln>
        </p:spPr>
        <p:txBody>
          <a:bodyPr/>
          <a:lstStyle/>
          <a:p>
            <a:endParaRPr lang="en-US"/>
          </a:p>
        </p:txBody>
      </p:sp>
      <p:sp>
        <p:nvSpPr>
          <p:cNvPr id="6" name="Text 4"/>
          <p:cNvSpPr/>
          <p:nvPr/>
        </p:nvSpPr>
        <p:spPr>
          <a:xfrm>
            <a:off x="822960" y="795528"/>
            <a:ext cx="420624" cy="164592"/>
          </a:xfrm>
          <a:prstGeom prst="rect">
            <a:avLst/>
          </a:prstGeom>
          <a:noFill/>
          <a:ln/>
        </p:spPr>
        <p:txBody>
          <a:bodyPr wrap="square" lIns="0" tIns="0" rIns="0" bIns="0" rtlCol="0" anchor="ctr"/>
          <a:lstStyle/>
          <a:p>
            <a:pPr marL="0" indent="0" algn="ctr">
              <a:buNone/>
            </a:pPr>
            <a:r>
              <a:rPr lang="en-US" sz="1600" b="1" dirty="0">
                <a:solidFill>
                  <a:srgbClr val="FFFFFF"/>
                </a:solidFill>
                <a:latin typeface="Aptos Display" pitchFamily="34" charset="0"/>
                <a:ea typeface="Aptos Display" pitchFamily="34" charset="-122"/>
                <a:cs typeface="Aptos Display" pitchFamily="34" charset="-120"/>
              </a:rPr>
              <a:t>HC</a:t>
            </a:r>
            <a:endParaRPr lang="en-US" sz="1600" dirty="0"/>
          </a:p>
        </p:txBody>
      </p:sp>
      <p:sp>
        <p:nvSpPr>
          <p:cNvPr id="7" name="Text 5"/>
          <p:cNvSpPr/>
          <p:nvPr/>
        </p:nvSpPr>
        <p:spPr>
          <a:xfrm>
            <a:off x="658368" y="1298448"/>
            <a:ext cx="5669280" cy="457200"/>
          </a:xfrm>
          <a:prstGeom prst="rect">
            <a:avLst/>
          </a:prstGeom>
          <a:noFill/>
          <a:ln/>
        </p:spPr>
        <p:txBody>
          <a:bodyPr wrap="square" lIns="0" tIns="0" rIns="0" bIns="0" rtlCol="0" anchor="ctr"/>
          <a:lstStyle/>
          <a:p>
            <a:pPr marL="0" indent="0">
              <a:buNone/>
            </a:pPr>
            <a:r>
              <a:rPr lang="en-US" sz="2800" b="1" dirty="0">
                <a:solidFill>
                  <a:srgbClr val="FFFFFF"/>
                </a:solidFill>
                <a:latin typeface="Aptos Display" pitchFamily="34" charset="0"/>
                <a:ea typeface="Aptos Display" pitchFamily="34" charset="-122"/>
                <a:cs typeface="Aptos Display" pitchFamily="34" charset="-120"/>
              </a:rPr>
              <a:t>HealthCompass MA</a:t>
            </a:r>
            <a:endParaRPr lang="en-US" sz="2800" dirty="0"/>
          </a:p>
        </p:txBody>
      </p:sp>
      <p:sp>
        <p:nvSpPr>
          <p:cNvPr id="8" name="Text 6"/>
          <p:cNvSpPr/>
          <p:nvPr/>
        </p:nvSpPr>
        <p:spPr>
          <a:xfrm>
            <a:off x="676656" y="1801368"/>
            <a:ext cx="6217920" cy="256032"/>
          </a:xfrm>
          <a:prstGeom prst="rect">
            <a:avLst/>
          </a:prstGeom>
          <a:noFill/>
          <a:ln/>
        </p:spPr>
        <p:txBody>
          <a:bodyPr wrap="square" lIns="0" tIns="0" rIns="0" bIns="0" rtlCol="0" anchor="ctr"/>
          <a:lstStyle/>
          <a:p>
            <a:pPr marL="0" indent="0">
              <a:buNone/>
            </a:pPr>
            <a:r>
              <a:rPr lang="en-US" sz="1300" dirty="0">
                <a:solidFill>
                  <a:srgbClr val="A8D7EA"/>
                </a:solidFill>
                <a:latin typeface="Aptos" pitchFamily="34" charset="0"/>
                <a:ea typeface="Aptos" pitchFamily="34" charset="-122"/>
                <a:cs typeface="Aptos" pitchFamily="34" charset="-120"/>
              </a:rPr>
              <a:t>Executive Summary  |  AI Infrastructure for Benefits Access</a:t>
            </a:r>
            <a:endParaRPr lang="en-US" sz="1300" dirty="0"/>
          </a:p>
        </p:txBody>
      </p:sp>
      <p:sp>
        <p:nvSpPr>
          <p:cNvPr id="9" name="Text 7"/>
          <p:cNvSpPr/>
          <p:nvPr/>
        </p:nvSpPr>
        <p:spPr>
          <a:xfrm>
            <a:off x="676656" y="2331720"/>
            <a:ext cx="5806440" cy="1078992"/>
          </a:xfrm>
          <a:prstGeom prst="rect">
            <a:avLst/>
          </a:prstGeom>
          <a:noFill/>
          <a:ln/>
        </p:spPr>
        <p:txBody>
          <a:bodyPr wrap="square" lIns="0" tIns="0" rIns="0" bIns="0" rtlCol="0" anchor="ctr"/>
          <a:lstStyle/>
          <a:p>
            <a:pPr marL="0" indent="0">
              <a:buNone/>
            </a:pPr>
            <a:r>
              <a:rPr lang="en-US" sz="1800" b="1" dirty="0">
                <a:solidFill>
                  <a:srgbClr val="EDF5FB"/>
                </a:solidFill>
                <a:latin typeface="Aptos" pitchFamily="34" charset="0"/>
                <a:ea typeface="Aptos" pitchFamily="34" charset="-122"/>
                <a:cs typeface="Aptos" pitchFamily="34" charset="-120"/>
              </a:rPr>
              <a:t>Turning fragmented public-benefits intake into a guided, multilingual, AI-supported care navigation system for patients, social workers, and facilities.</a:t>
            </a:r>
            <a:endParaRPr lang="en-US" sz="1800" dirty="0"/>
          </a:p>
        </p:txBody>
      </p:sp>
      <p:sp>
        <p:nvSpPr>
          <p:cNvPr id="10" name="Shape 8"/>
          <p:cNvSpPr/>
          <p:nvPr/>
        </p:nvSpPr>
        <p:spPr>
          <a:xfrm>
            <a:off x="694944" y="3730752"/>
            <a:ext cx="1755648" cy="310896"/>
          </a:xfrm>
          <a:prstGeom prst="roundRect">
            <a:avLst>
              <a:gd name="adj" fmla="val 23529"/>
            </a:avLst>
          </a:prstGeom>
          <a:solidFill>
            <a:srgbClr val="E3FAF6"/>
          </a:solidFill>
          <a:ln w="12700">
            <a:solidFill>
              <a:srgbClr val="E3FAF6"/>
            </a:solidFill>
            <a:prstDash val="solid"/>
          </a:ln>
        </p:spPr>
        <p:txBody>
          <a:bodyPr/>
          <a:lstStyle/>
          <a:p>
            <a:endParaRPr lang="en-US"/>
          </a:p>
        </p:txBody>
      </p:sp>
      <p:sp>
        <p:nvSpPr>
          <p:cNvPr id="11" name="Text 9"/>
          <p:cNvSpPr/>
          <p:nvPr/>
        </p:nvSpPr>
        <p:spPr>
          <a:xfrm>
            <a:off x="786384" y="3767328"/>
            <a:ext cx="1572768" cy="164592"/>
          </a:xfrm>
          <a:prstGeom prst="rect">
            <a:avLst/>
          </a:prstGeom>
          <a:noFill/>
          <a:ln/>
        </p:spPr>
        <p:txBody>
          <a:bodyPr wrap="square" lIns="0" tIns="0" rIns="0" bIns="0" rtlCol="0" anchor="ctr"/>
          <a:lstStyle/>
          <a:p>
            <a:pPr marL="0" indent="0" algn="ctr">
              <a:buNone/>
            </a:pPr>
            <a:r>
              <a:rPr lang="en-US" sz="1000" b="1" dirty="0">
                <a:solidFill>
                  <a:srgbClr val="137C71"/>
                </a:solidFill>
                <a:latin typeface="Aptos" pitchFamily="34" charset="0"/>
                <a:ea typeface="Aptos" pitchFamily="34" charset="-122"/>
                <a:cs typeface="Aptos" pitchFamily="34" charset="-120"/>
              </a:rPr>
              <a:t>10-program orchestration</a:t>
            </a:r>
            <a:endParaRPr lang="en-US" sz="1000" dirty="0"/>
          </a:p>
        </p:txBody>
      </p:sp>
      <p:sp>
        <p:nvSpPr>
          <p:cNvPr id="12" name="Shape 10"/>
          <p:cNvSpPr/>
          <p:nvPr/>
        </p:nvSpPr>
        <p:spPr>
          <a:xfrm>
            <a:off x="2596896" y="3730752"/>
            <a:ext cx="1554480" cy="310896"/>
          </a:xfrm>
          <a:prstGeom prst="roundRect">
            <a:avLst>
              <a:gd name="adj" fmla="val 23529"/>
            </a:avLst>
          </a:prstGeom>
          <a:solidFill>
            <a:srgbClr val="EAF5FC"/>
          </a:solidFill>
          <a:ln w="12700">
            <a:solidFill>
              <a:srgbClr val="EAF5FC"/>
            </a:solidFill>
            <a:prstDash val="solid"/>
          </a:ln>
        </p:spPr>
        <p:txBody>
          <a:bodyPr/>
          <a:lstStyle/>
          <a:p>
            <a:endParaRPr lang="en-US"/>
          </a:p>
        </p:txBody>
      </p:sp>
      <p:sp>
        <p:nvSpPr>
          <p:cNvPr id="13" name="Text 11"/>
          <p:cNvSpPr/>
          <p:nvPr/>
        </p:nvSpPr>
        <p:spPr>
          <a:xfrm>
            <a:off x="2688336" y="3767328"/>
            <a:ext cx="1371600" cy="164592"/>
          </a:xfrm>
          <a:prstGeom prst="rect">
            <a:avLst/>
          </a:prstGeom>
          <a:noFill/>
          <a:ln/>
        </p:spPr>
        <p:txBody>
          <a:bodyPr wrap="square" lIns="0" tIns="0" rIns="0" bIns="0" rtlCol="0" anchor="ctr"/>
          <a:lstStyle/>
          <a:p>
            <a:pPr marL="0" indent="0" algn="ctr">
              <a:buNone/>
            </a:pPr>
            <a:r>
              <a:rPr lang="en-US" sz="1000" b="1" dirty="0">
                <a:solidFill>
                  <a:srgbClr val="1D3557"/>
                </a:solidFill>
                <a:latin typeface="Aptos" pitchFamily="34" charset="0"/>
                <a:ea typeface="Aptos" pitchFamily="34" charset="-122"/>
                <a:cs typeface="Aptos" pitchFamily="34" charset="-120"/>
              </a:rPr>
              <a:t>6 supported languages</a:t>
            </a:r>
            <a:endParaRPr lang="en-US" sz="1000" dirty="0"/>
          </a:p>
        </p:txBody>
      </p:sp>
      <p:sp>
        <p:nvSpPr>
          <p:cNvPr id="14" name="Shape 12"/>
          <p:cNvSpPr/>
          <p:nvPr/>
        </p:nvSpPr>
        <p:spPr>
          <a:xfrm>
            <a:off x="4279392" y="3730752"/>
            <a:ext cx="1572768" cy="310896"/>
          </a:xfrm>
          <a:prstGeom prst="roundRect">
            <a:avLst>
              <a:gd name="adj" fmla="val 23529"/>
            </a:avLst>
          </a:prstGeom>
          <a:solidFill>
            <a:srgbClr val="FFF3D2"/>
          </a:solidFill>
          <a:ln w="12700">
            <a:solidFill>
              <a:srgbClr val="FFF3D2"/>
            </a:solidFill>
            <a:prstDash val="solid"/>
          </a:ln>
        </p:spPr>
        <p:txBody>
          <a:bodyPr/>
          <a:lstStyle/>
          <a:p>
            <a:endParaRPr lang="en-US"/>
          </a:p>
        </p:txBody>
      </p:sp>
      <p:sp>
        <p:nvSpPr>
          <p:cNvPr id="15" name="Text 13"/>
          <p:cNvSpPr/>
          <p:nvPr/>
        </p:nvSpPr>
        <p:spPr>
          <a:xfrm>
            <a:off x="4370832" y="3767328"/>
            <a:ext cx="1389888" cy="164592"/>
          </a:xfrm>
          <a:prstGeom prst="rect">
            <a:avLst/>
          </a:prstGeom>
          <a:noFill/>
          <a:ln/>
        </p:spPr>
        <p:txBody>
          <a:bodyPr wrap="square" lIns="0" tIns="0" rIns="0" bIns="0" rtlCol="0" anchor="ctr"/>
          <a:lstStyle/>
          <a:p>
            <a:pPr marL="0" indent="0" algn="ctr">
              <a:buNone/>
            </a:pPr>
            <a:r>
              <a:rPr lang="en-US" sz="1000" b="1" dirty="0">
                <a:solidFill>
                  <a:srgbClr val="1D3557"/>
                </a:solidFill>
                <a:latin typeface="Aptos" pitchFamily="34" charset="0"/>
                <a:ea typeface="Aptos" pitchFamily="34" charset="-122"/>
                <a:cs typeface="Aptos" pitchFamily="34" charset="-120"/>
              </a:rPr>
              <a:t>Local AI + policy RAG</a:t>
            </a:r>
            <a:endParaRPr lang="en-US" sz="1000" dirty="0"/>
          </a:p>
        </p:txBody>
      </p:sp>
      <p:sp>
        <p:nvSpPr>
          <p:cNvPr id="16" name="Text 14"/>
          <p:cNvSpPr/>
          <p:nvPr/>
        </p:nvSpPr>
        <p:spPr>
          <a:xfrm>
            <a:off x="694944" y="4251960"/>
            <a:ext cx="4389120" cy="1335024"/>
          </a:xfrm>
          <a:prstGeom prst="rect">
            <a:avLst/>
          </a:prstGeom>
          <a:noFill/>
          <a:ln/>
        </p:spPr>
        <p:txBody>
          <a:bodyPr wrap="square" lIns="0" tIns="0" rIns="0" bIns="0" rtlCol="0" anchor="ctr"/>
          <a:lstStyle/>
          <a:p>
            <a:pPr marL="0" indent="0">
              <a:buNone/>
            </a:pPr>
            <a:r>
              <a:rPr lang="en-US" sz="1220" dirty="0">
                <a:solidFill>
                  <a:srgbClr val="D3E2EF"/>
                </a:solidFill>
                <a:latin typeface="Aptos" pitchFamily="34" charset="0"/>
                <a:ea typeface="Aptos" pitchFamily="34" charset="-122"/>
                <a:cs typeface="Aptos" pitchFamily="34" charset="-120"/>
              </a:rPr>
              <a:t>Focus of this refresh</a:t>
            </a:r>
            <a:endParaRPr lang="en-US" sz="1220" dirty="0"/>
          </a:p>
          <a:p>
            <a:pPr marL="0" indent="0">
              <a:buNone/>
            </a:pPr>
            <a:r>
              <a:rPr lang="en-US" sz="1220" dirty="0">
                <a:solidFill>
                  <a:srgbClr val="D3E2EF"/>
                </a:solidFill>
                <a:latin typeface="Aptos" pitchFamily="34" charset="0"/>
                <a:ea typeface="Aptos" pitchFamily="34" charset="-122"/>
                <a:cs typeface="Aptos" pitchFamily="34" charset="-120"/>
              </a:rPr>
              <a:t>• technical secret sauce and defensibility</a:t>
            </a:r>
            <a:endParaRPr lang="en-US" sz="1220" dirty="0"/>
          </a:p>
          <a:p>
            <a:pPr marL="0" indent="0">
              <a:buNone/>
            </a:pPr>
            <a:r>
              <a:rPr lang="en-US" sz="1220" dirty="0">
                <a:solidFill>
                  <a:srgbClr val="D3E2EF"/>
                </a:solidFill>
                <a:latin typeface="Aptos" pitchFamily="34" charset="0"/>
                <a:ea typeface="Aptos" pitchFamily="34" charset="-122"/>
                <a:cs typeface="Aptos" pitchFamily="34" charset="-120"/>
              </a:rPr>
              <a:t>• patient and facility impact</a:t>
            </a:r>
            <a:endParaRPr lang="en-US" sz="1220" dirty="0"/>
          </a:p>
          <a:p>
            <a:pPr marL="0" indent="0">
              <a:buNone/>
            </a:pPr>
            <a:r>
              <a:rPr lang="en-US" sz="1220" dirty="0">
                <a:solidFill>
                  <a:srgbClr val="D3E2EF"/>
                </a:solidFill>
                <a:latin typeface="Aptos" pitchFamily="34" charset="0"/>
                <a:ea typeface="Aptos" pitchFamily="34" charset="-122"/>
                <a:cs typeface="Aptos" pitchFamily="34" charset="-120"/>
              </a:rPr>
              <a:t>• language, disability, and application support</a:t>
            </a:r>
            <a:endParaRPr lang="en-US" sz="1220" dirty="0"/>
          </a:p>
          <a:p>
            <a:pPr marL="0" indent="0">
              <a:buNone/>
            </a:pPr>
            <a:r>
              <a:rPr lang="en-US" sz="1220" dirty="0">
                <a:solidFill>
                  <a:srgbClr val="D3E2EF"/>
                </a:solidFill>
                <a:latin typeface="Aptos" pitchFamily="34" charset="0"/>
                <a:ea typeface="Aptos" pitchFamily="34" charset="-122"/>
                <a:cs typeface="Aptos" pitchFamily="34" charset="-120"/>
              </a:rPr>
              <a:t>• future blueprint</a:t>
            </a:r>
            <a:endParaRPr lang="en-US" sz="1220" dirty="0"/>
          </a:p>
        </p:txBody>
      </p:sp>
      <p:sp>
        <p:nvSpPr>
          <p:cNvPr id="17" name="Shape 15"/>
          <p:cNvSpPr/>
          <p:nvPr/>
        </p:nvSpPr>
        <p:spPr>
          <a:xfrm>
            <a:off x="7333488" y="1261872"/>
            <a:ext cx="1874520" cy="1078992"/>
          </a:xfrm>
          <a:prstGeom prst="roundRect">
            <a:avLst>
              <a:gd name="adj" fmla="val 6780"/>
            </a:avLst>
          </a:prstGeom>
          <a:solidFill>
            <a:srgbClr val="DFF5F1"/>
          </a:solidFill>
          <a:ln w="12700">
            <a:solidFill>
              <a:srgbClr val="DFF5F1"/>
            </a:solidFill>
            <a:prstDash val="solid"/>
          </a:ln>
        </p:spPr>
        <p:txBody>
          <a:bodyPr/>
          <a:lstStyle/>
          <a:p>
            <a:endParaRPr lang="en-US"/>
          </a:p>
        </p:txBody>
      </p:sp>
      <p:sp>
        <p:nvSpPr>
          <p:cNvPr id="18" name="Text 16"/>
          <p:cNvSpPr/>
          <p:nvPr/>
        </p:nvSpPr>
        <p:spPr>
          <a:xfrm>
            <a:off x="7498080" y="1371600"/>
            <a:ext cx="1545336" cy="310896"/>
          </a:xfrm>
          <a:prstGeom prst="rect">
            <a:avLst/>
          </a:prstGeom>
          <a:noFill/>
          <a:ln/>
        </p:spPr>
        <p:txBody>
          <a:bodyPr wrap="square" lIns="0" tIns="0" rIns="0" bIns="0" rtlCol="0" anchor="ctr"/>
          <a:lstStyle/>
          <a:p>
            <a:pPr marL="0" indent="0" algn="ctr">
              <a:buNone/>
            </a:pPr>
            <a:r>
              <a:rPr lang="en-US" sz="2400" b="1" dirty="0">
                <a:solidFill>
                  <a:srgbClr val="1D3557"/>
                </a:solidFill>
                <a:latin typeface="Aptos Display" pitchFamily="34" charset="0"/>
                <a:ea typeface="Aptos Display" pitchFamily="34" charset="-122"/>
                <a:cs typeface="Aptos Display" pitchFamily="34" charset="-120"/>
              </a:rPr>
              <a:t>10</a:t>
            </a:r>
            <a:endParaRPr lang="en-US" sz="2400" dirty="0"/>
          </a:p>
        </p:txBody>
      </p:sp>
      <p:sp>
        <p:nvSpPr>
          <p:cNvPr id="19" name="Text 17"/>
          <p:cNvSpPr/>
          <p:nvPr/>
        </p:nvSpPr>
        <p:spPr>
          <a:xfrm>
            <a:off x="7498080" y="1737360"/>
            <a:ext cx="1545336" cy="164592"/>
          </a:xfrm>
          <a:prstGeom prst="rect">
            <a:avLst/>
          </a:prstGeom>
          <a:noFill/>
          <a:ln/>
        </p:spPr>
        <p:txBody>
          <a:bodyPr wrap="square" lIns="0" tIns="0" rIns="0" bIns="0" rtlCol="0" anchor="ctr"/>
          <a:lstStyle/>
          <a:p>
            <a:pPr marL="0" indent="0" algn="ctr">
              <a:buNone/>
            </a:pPr>
            <a:r>
              <a:rPr lang="en-US" sz="1000" b="1" dirty="0">
                <a:solidFill>
                  <a:srgbClr val="137C71"/>
                </a:solidFill>
                <a:latin typeface="Aptos" pitchFamily="34" charset="0"/>
                <a:ea typeface="Aptos" pitchFamily="34" charset="-122"/>
                <a:cs typeface="Aptos" pitchFamily="34" charset="-120"/>
              </a:rPr>
              <a:t>Programs evaluated</a:t>
            </a:r>
            <a:endParaRPr lang="en-US" sz="1000" dirty="0"/>
          </a:p>
        </p:txBody>
      </p:sp>
      <p:sp>
        <p:nvSpPr>
          <p:cNvPr id="20" name="Text 18"/>
          <p:cNvSpPr/>
          <p:nvPr/>
        </p:nvSpPr>
        <p:spPr>
          <a:xfrm>
            <a:off x="7498080" y="1938528"/>
            <a:ext cx="1545336" cy="201168"/>
          </a:xfrm>
          <a:prstGeom prst="rect">
            <a:avLst/>
          </a:prstGeom>
          <a:noFill/>
          <a:ln/>
        </p:spPr>
        <p:txBody>
          <a:bodyPr wrap="square" lIns="0" tIns="0" rIns="0" bIns="0" rtlCol="0" anchor="ctr"/>
          <a:lstStyle/>
          <a:p>
            <a:pPr marL="0" indent="0" algn="ctr">
              <a:buNone/>
            </a:pPr>
            <a:r>
              <a:rPr lang="en-US" sz="880" dirty="0">
                <a:solidFill>
                  <a:srgbClr val="556677"/>
                </a:solidFill>
                <a:latin typeface="Aptos" pitchFamily="34" charset="0"/>
                <a:ea typeface="Aptos" pitchFamily="34" charset="-122"/>
                <a:cs typeface="Aptos" pitchFamily="34" charset="-120"/>
              </a:rPr>
              <a:t>MassHealth + cross-program stack</a:t>
            </a:r>
            <a:endParaRPr lang="en-US" sz="880" dirty="0"/>
          </a:p>
        </p:txBody>
      </p:sp>
      <p:sp>
        <p:nvSpPr>
          <p:cNvPr id="21" name="Shape 19"/>
          <p:cNvSpPr/>
          <p:nvPr/>
        </p:nvSpPr>
        <p:spPr>
          <a:xfrm>
            <a:off x="9400032" y="1261872"/>
            <a:ext cx="1874520" cy="1078992"/>
          </a:xfrm>
          <a:prstGeom prst="roundRect">
            <a:avLst>
              <a:gd name="adj" fmla="val 6780"/>
            </a:avLst>
          </a:prstGeom>
          <a:solidFill>
            <a:srgbClr val="E9F5FB"/>
          </a:solidFill>
          <a:ln w="12700">
            <a:solidFill>
              <a:srgbClr val="E9F5FB"/>
            </a:solidFill>
            <a:prstDash val="solid"/>
          </a:ln>
        </p:spPr>
        <p:txBody>
          <a:bodyPr/>
          <a:lstStyle/>
          <a:p>
            <a:endParaRPr lang="en-US"/>
          </a:p>
        </p:txBody>
      </p:sp>
      <p:sp>
        <p:nvSpPr>
          <p:cNvPr id="22" name="Text 20"/>
          <p:cNvSpPr/>
          <p:nvPr/>
        </p:nvSpPr>
        <p:spPr>
          <a:xfrm>
            <a:off x="9564624" y="1371600"/>
            <a:ext cx="1545336" cy="310896"/>
          </a:xfrm>
          <a:prstGeom prst="rect">
            <a:avLst/>
          </a:prstGeom>
          <a:noFill/>
          <a:ln/>
        </p:spPr>
        <p:txBody>
          <a:bodyPr wrap="square" lIns="0" tIns="0" rIns="0" bIns="0" rtlCol="0" anchor="ctr"/>
          <a:lstStyle/>
          <a:p>
            <a:pPr marL="0" indent="0" algn="ctr">
              <a:buNone/>
            </a:pPr>
            <a:r>
              <a:rPr lang="en-US" sz="2400" b="1" dirty="0">
                <a:solidFill>
                  <a:srgbClr val="1D3557"/>
                </a:solidFill>
                <a:latin typeface="Aptos Display" pitchFamily="34" charset="0"/>
                <a:ea typeface="Aptos Display" pitchFamily="34" charset="-122"/>
                <a:cs typeface="Aptos Display" pitchFamily="34" charset="-120"/>
              </a:rPr>
              <a:t>6</a:t>
            </a:r>
            <a:endParaRPr lang="en-US" sz="2400" dirty="0"/>
          </a:p>
        </p:txBody>
      </p:sp>
      <p:sp>
        <p:nvSpPr>
          <p:cNvPr id="23" name="Text 21"/>
          <p:cNvSpPr/>
          <p:nvPr/>
        </p:nvSpPr>
        <p:spPr>
          <a:xfrm>
            <a:off x="9564624" y="1675368"/>
            <a:ext cx="1545336" cy="164592"/>
          </a:xfrm>
          <a:prstGeom prst="rect">
            <a:avLst/>
          </a:prstGeom>
          <a:noFill/>
          <a:ln/>
        </p:spPr>
        <p:txBody>
          <a:bodyPr wrap="square" lIns="0" tIns="0" rIns="0" bIns="0" rtlCol="0" anchor="ctr"/>
          <a:lstStyle/>
          <a:p>
            <a:pPr marL="0" indent="0" algn="ctr">
              <a:buNone/>
            </a:pPr>
            <a:r>
              <a:rPr lang="en-US" sz="1000" b="1" dirty="0">
                <a:solidFill>
                  <a:srgbClr val="137C71"/>
                </a:solidFill>
                <a:latin typeface="Aptos" pitchFamily="34" charset="0"/>
                <a:ea typeface="Aptos" pitchFamily="34" charset="-122"/>
                <a:cs typeface="Aptos" pitchFamily="34" charset="-120"/>
              </a:rPr>
              <a:t>Languages live</a:t>
            </a:r>
            <a:endParaRPr lang="en-US" sz="1000" dirty="0"/>
          </a:p>
        </p:txBody>
      </p:sp>
      <p:sp>
        <p:nvSpPr>
          <p:cNvPr id="24" name="Text 22"/>
          <p:cNvSpPr/>
          <p:nvPr/>
        </p:nvSpPr>
        <p:spPr>
          <a:xfrm>
            <a:off x="9564624" y="1938528"/>
            <a:ext cx="1545336" cy="201168"/>
          </a:xfrm>
          <a:prstGeom prst="rect">
            <a:avLst/>
          </a:prstGeom>
          <a:noFill/>
          <a:ln/>
        </p:spPr>
        <p:txBody>
          <a:bodyPr wrap="square" lIns="0" tIns="0" rIns="0" bIns="0" rtlCol="0" anchor="ctr"/>
          <a:lstStyle/>
          <a:p>
            <a:pPr marL="0" indent="0" algn="ctr">
              <a:buNone/>
            </a:pPr>
            <a:r>
              <a:rPr lang="en-US" sz="880" dirty="0">
                <a:solidFill>
                  <a:srgbClr val="556677"/>
                </a:solidFill>
                <a:latin typeface="Aptos" pitchFamily="34" charset="0"/>
                <a:ea typeface="Aptos" pitchFamily="34" charset="-122"/>
                <a:cs typeface="Aptos" pitchFamily="34" charset="-120"/>
              </a:rPr>
              <a:t>English, Chinese, Haitian Creole, Portuguese, Spanish, Vietnamese</a:t>
            </a:r>
            <a:endParaRPr lang="en-US" sz="880" dirty="0"/>
          </a:p>
        </p:txBody>
      </p:sp>
      <p:sp>
        <p:nvSpPr>
          <p:cNvPr id="25" name="Shape 23"/>
          <p:cNvSpPr/>
          <p:nvPr/>
        </p:nvSpPr>
        <p:spPr>
          <a:xfrm>
            <a:off x="7333488" y="2578608"/>
            <a:ext cx="1874520" cy="1078992"/>
          </a:xfrm>
          <a:prstGeom prst="roundRect">
            <a:avLst>
              <a:gd name="adj" fmla="val 6780"/>
            </a:avLst>
          </a:prstGeom>
          <a:solidFill>
            <a:srgbClr val="FFF3D2"/>
          </a:solidFill>
          <a:ln w="12700">
            <a:solidFill>
              <a:srgbClr val="FFF3D2"/>
            </a:solidFill>
            <a:prstDash val="solid"/>
          </a:ln>
        </p:spPr>
        <p:txBody>
          <a:bodyPr/>
          <a:lstStyle/>
          <a:p>
            <a:endParaRPr lang="en-US"/>
          </a:p>
        </p:txBody>
      </p:sp>
      <p:sp>
        <p:nvSpPr>
          <p:cNvPr id="26" name="Text 24"/>
          <p:cNvSpPr/>
          <p:nvPr/>
        </p:nvSpPr>
        <p:spPr>
          <a:xfrm>
            <a:off x="7498080" y="2688336"/>
            <a:ext cx="1545336" cy="310896"/>
          </a:xfrm>
          <a:prstGeom prst="rect">
            <a:avLst/>
          </a:prstGeom>
          <a:noFill/>
          <a:ln/>
        </p:spPr>
        <p:txBody>
          <a:bodyPr wrap="square" lIns="0" tIns="0" rIns="0" bIns="0" rtlCol="0" anchor="ctr"/>
          <a:lstStyle/>
          <a:p>
            <a:pPr marL="0" indent="0" algn="ctr">
              <a:buNone/>
            </a:pPr>
            <a:r>
              <a:rPr lang="en-US" sz="2400" b="1" dirty="0">
                <a:solidFill>
                  <a:srgbClr val="1D3557"/>
                </a:solidFill>
                <a:latin typeface="Aptos Display" pitchFamily="34" charset="0"/>
                <a:ea typeface="Aptos Display" pitchFamily="34" charset="-122"/>
                <a:cs typeface="Aptos Display" pitchFamily="34" charset="-120"/>
              </a:rPr>
              <a:t>4</a:t>
            </a:r>
            <a:endParaRPr lang="en-US" sz="2400" dirty="0"/>
          </a:p>
        </p:txBody>
      </p:sp>
      <p:sp>
        <p:nvSpPr>
          <p:cNvPr id="27" name="Text 25"/>
          <p:cNvSpPr/>
          <p:nvPr/>
        </p:nvSpPr>
        <p:spPr>
          <a:xfrm>
            <a:off x="7498080" y="3054096"/>
            <a:ext cx="1545336" cy="164592"/>
          </a:xfrm>
          <a:prstGeom prst="rect">
            <a:avLst/>
          </a:prstGeom>
          <a:noFill/>
          <a:ln/>
        </p:spPr>
        <p:txBody>
          <a:bodyPr wrap="square" lIns="0" tIns="0" rIns="0" bIns="0" rtlCol="0" anchor="ctr"/>
          <a:lstStyle/>
          <a:p>
            <a:pPr marL="0" indent="0" algn="ctr">
              <a:buNone/>
            </a:pPr>
            <a:r>
              <a:rPr lang="en-US" sz="1000" b="1" dirty="0">
                <a:solidFill>
                  <a:srgbClr val="137C71"/>
                </a:solidFill>
                <a:latin typeface="Aptos" pitchFamily="34" charset="0"/>
                <a:ea typeface="Aptos" pitchFamily="34" charset="-122"/>
                <a:cs typeface="Aptos" pitchFamily="34" charset="-120"/>
              </a:rPr>
              <a:t>AI support modes</a:t>
            </a:r>
            <a:endParaRPr lang="en-US" sz="1000" dirty="0"/>
          </a:p>
        </p:txBody>
      </p:sp>
      <p:sp>
        <p:nvSpPr>
          <p:cNvPr id="28" name="Text 26"/>
          <p:cNvSpPr/>
          <p:nvPr/>
        </p:nvSpPr>
        <p:spPr>
          <a:xfrm>
            <a:off x="7498080" y="3255264"/>
            <a:ext cx="1545336" cy="201168"/>
          </a:xfrm>
          <a:prstGeom prst="rect">
            <a:avLst/>
          </a:prstGeom>
          <a:noFill/>
          <a:ln/>
        </p:spPr>
        <p:txBody>
          <a:bodyPr wrap="square" lIns="0" tIns="0" rIns="0" bIns="0" rtlCol="0" anchor="ctr"/>
          <a:lstStyle/>
          <a:p>
            <a:pPr marL="0" indent="0" algn="ctr">
              <a:buNone/>
            </a:pPr>
            <a:r>
              <a:rPr lang="en-US" sz="880" dirty="0">
                <a:solidFill>
                  <a:srgbClr val="556677"/>
                </a:solidFill>
                <a:latin typeface="Aptos" pitchFamily="34" charset="0"/>
                <a:ea typeface="Aptos" pitchFamily="34" charset="-122"/>
                <a:cs typeface="Aptos" pitchFamily="34" charset="-120"/>
              </a:rPr>
              <a:t>Advisor, intake, form assist, appeal</a:t>
            </a:r>
            <a:endParaRPr lang="en-US" sz="880" dirty="0"/>
          </a:p>
        </p:txBody>
      </p:sp>
      <p:sp>
        <p:nvSpPr>
          <p:cNvPr id="29" name="Shape 27"/>
          <p:cNvSpPr/>
          <p:nvPr/>
        </p:nvSpPr>
        <p:spPr>
          <a:xfrm>
            <a:off x="9400032" y="2578608"/>
            <a:ext cx="1874520" cy="1078992"/>
          </a:xfrm>
          <a:prstGeom prst="roundRect">
            <a:avLst>
              <a:gd name="adj" fmla="val 6780"/>
            </a:avLst>
          </a:prstGeom>
          <a:solidFill>
            <a:srgbClr val="FDE9E2"/>
          </a:solidFill>
          <a:ln w="12700">
            <a:solidFill>
              <a:srgbClr val="FDE9E2"/>
            </a:solidFill>
            <a:prstDash val="solid"/>
          </a:ln>
        </p:spPr>
        <p:txBody>
          <a:bodyPr/>
          <a:lstStyle/>
          <a:p>
            <a:endParaRPr lang="en-US"/>
          </a:p>
        </p:txBody>
      </p:sp>
      <p:sp>
        <p:nvSpPr>
          <p:cNvPr id="30" name="Text 28"/>
          <p:cNvSpPr/>
          <p:nvPr/>
        </p:nvSpPr>
        <p:spPr>
          <a:xfrm>
            <a:off x="9564624" y="2688336"/>
            <a:ext cx="1545336" cy="310896"/>
          </a:xfrm>
          <a:prstGeom prst="rect">
            <a:avLst/>
          </a:prstGeom>
          <a:noFill/>
          <a:ln/>
        </p:spPr>
        <p:txBody>
          <a:bodyPr wrap="square" lIns="0" tIns="0" rIns="0" bIns="0" rtlCol="0" anchor="ctr"/>
          <a:lstStyle/>
          <a:p>
            <a:pPr marL="0" indent="0" algn="ctr">
              <a:buNone/>
            </a:pPr>
            <a:r>
              <a:rPr lang="en-US" sz="2400" b="1" dirty="0">
                <a:solidFill>
                  <a:srgbClr val="1D3557"/>
                </a:solidFill>
                <a:latin typeface="Aptos Display" pitchFamily="34" charset="0"/>
                <a:ea typeface="Aptos Display" pitchFamily="34" charset="-122"/>
                <a:cs typeface="Aptos Display" pitchFamily="34" charset="-120"/>
              </a:rPr>
              <a:t>24/7</a:t>
            </a:r>
            <a:endParaRPr lang="en-US" sz="2400" dirty="0"/>
          </a:p>
        </p:txBody>
      </p:sp>
      <p:sp>
        <p:nvSpPr>
          <p:cNvPr id="31" name="Text 29"/>
          <p:cNvSpPr/>
          <p:nvPr/>
        </p:nvSpPr>
        <p:spPr>
          <a:xfrm>
            <a:off x="9564624" y="3054096"/>
            <a:ext cx="1545336" cy="164592"/>
          </a:xfrm>
          <a:prstGeom prst="rect">
            <a:avLst/>
          </a:prstGeom>
          <a:noFill/>
          <a:ln/>
        </p:spPr>
        <p:txBody>
          <a:bodyPr wrap="square" lIns="0" tIns="0" rIns="0" bIns="0" rtlCol="0" anchor="ctr"/>
          <a:lstStyle/>
          <a:p>
            <a:pPr marL="0" indent="0" algn="ctr">
              <a:buNone/>
            </a:pPr>
            <a:r>
              <a:rPr lang="en-US" sz="1000" b="1" dirty="0">
                <a:solidFill>
                  <a:srgbClr val="137C71"/>
                </a:solidFill>
                <a:latin typeface="Aptos" pitchFamily="34" charset="0"/>
                <a:ea typeface="Aptos" pitchFamily="34" charset="-122"/>
                <a:cs typeface="Aptos" pitchFamily="34" charset="-120"/>
              </a:rPr>
              <a:t>Guided help</a:t>
            </a:r>
            <a:endParaRPr lang="en-US" sz="1000" dirty="0"/>
          </a:p>
        </p:txBody>
      </p:sp>
      <p:sp>
        <p:nvSpPr>
          <p:cNvPr id="32" name="Text 30"/>
          <p:cNvSpPr/>
          <p:nvPr/>
        </p:nvSpPr>
        <p:spPr>
          <a:xfrm>
            <a:off x="9564624" y="3255264"/>
            <a:ext cx="1545336" cy="201168"/>
          </a:xfrm>
          <a:prstGeom prst="rect">
            <a:avLst/>
          </a:prstGeom>
          <a:noFill/>
          <a:ln/>
        </p:spPr>
        <p:txBody>
          <a:bodyPr wrap="square" lIns="0" tIns="0" rIns="0" bIns="0" rtlCol="0" anchor="ctr"/>
          <a:lstStyle/>
          <a:p>
            <a:pPr marL="0" indent="0" algn="ctr">
              <a:buNone/>
            </a:pPr>
            <a:r>
              <a:rPr lang="en-US" sz="880" dirty="0">
                <a:solidFill>
                  <a:srgbClr val="556677"/>
                </a:solidFill>
                <a:latin typeface="Aptos" pitchFamily="34" charset="0"/>
                <a:ea typeface="Aptos" pitchFamily="34" charset="-122"/>
                <a:cs typeface="Aptos" pitchFamily="34" charset="-120"/>
              </a:rPr>
              <a:t>Chat, notifications, social-worker collaboration</a:t>
            </a:r>
            <a:endParaRPr lang="en-US" sz="880" dirty="0"/>
          </a:p>
        </p:txBody>
      </p:sp>
      <p:sp>
        <p:nvSpPr>
          <p:cNvPr id="33" name="Shape 31"/>
          <p:cNvSpPr/>
          <p:nvPr/>
        </p:nvSpPr>
        <p:spPr>
          <a:xfrm>
            <a:off x="7242048" y="4023360"/>
            <a:ext cx="4041648" cy="1353312"/>
          </a:xfrm>
          <a:prstGeom prst="roundRect">
            <a:avLst>
              <a:gd name="adj" fmla="val 5405"/>
            </a:avLst>
          </a:prstGeom>
          <a:solidFill>
            <a:srgbClr val="17304B"/>
          </a:solidFill>
          <a:ln w="13970">
            <a:solidFill>
              <a:srgbClr val="35516A"/>
            </a:solidFill>
            <a:prstDash val="solid"/>
          </a:ln>
        </p:spPr>
        <p:txBody>
          <a:bodyPr/>
          <a:lstStyle/>
          <a:p>
            <a:endParaRPr lang="en-US"/>
          </a:p>
        </p:txBody>
      </p:sp>
      <p:sp>
        <p:nvSpPr>
          <p:cNvPr id="34" name="Shape 32"/>
          <p:cNvSpPr/>
          <p:nvPr/>
        </p:nvSpPr>
        <p:spPr>
          <a:xfrm>
            <a:off x="7406640" y="4187952"/>
            <a:ext cx="164592" cy="1024128"/>
          </a:xfrm>
          <a:prstGeom prst="roundRect">
            <a:avLst>
              <a:gd name="adj" fmla="val 44444"/>
            </a:avLst>
          </a:prstGeom>
          <a:solidFill>
            <a:srgbClr val="E8825E"/>
          </a:solidFill>
          <a:ln w="12700">
            <a:solidFill>
              <a:srgbClr val="E8825E"/>
            </a:solidFill>
            <a:prstDash val="solid"/>
          </a:ln>
        </p:spPr>
        <p:txBody>
          <a:bodyPr/>
          <a:lstStyle/>
          <a:p>
            <a:endParaRPr lang="en-US"/>
          </a:p>
        </p:txBody>
      </p:sp>
      <p:sp>
        <p:nvSpPr>
          <p:cNvPr id="35" name="Text 33"/>
          <p:cNvSpPr/>
          <p:nvPr/>
        </p:nvSpPr>
        <p:spPr>
          <a:xfrm>
            <a:off x="7680960" y="4187952"/>
            <a:ext cx="3438144" cy="274320"/>
          </a:xfrm>
          <a:prstGeom prst="rect">
            <a:avLst/>
          </a:prstGeom>
          <a:noFill/>
          <a:ln/>
        </p:spPr>
        <p:txBody>
          <a:bodyPr wrap="square" lIns="0" tIns="0" rIns="0" bIns="0" rtlCol="0" anchor="ctr"/>
          <a:lstStyle/>
          <a:p>
            <a:pPr marL="0" indent="0">
              <a:buNone/>
            </a:pPr>
            <a:r>
              <a:rPr lang="en-US" sz="1500" b="1" dirty="0">
                <a:solidFill>
                  <a:srgbClr val="FFFFFF"/>
                </a:solidFill>
                <a:latin typeface="Aptos Display" pitchFamily="34" charset="0"/>
                <a:ea typeface="Aptos Display" pitchFamily="34" charset="-122"/>
                <a:cs typeface="Aptos Display" pitchFamily="34" charset="-120"/>
              </a:rPr>
              <a:t>What changed since the older deck</a:t>
            </a:r>
            <a:endParaRPr lang="en-US" sz="1500" dirty="0"/>
          </a:p>
        </p:txBody>
      </p:sp>
      <p:sp>
        <p:nvSpPr>
          <p:cNvPr id="36" name="Text 34"/>
          <p:cNvSpPr/>
          <p:nvPr/>
        </p:nvSpPr>
        <p:spPr>
          <a:xfrm>
            <a:off x="7680960" y="4535424"/>
            <a:ext cx="3438144" cy="658368"/>
          </a:xfrm>
          <a:prstGeom prst="rect">
            <a:avLst/>
          </a:prstGeom>
          <a:noFill/>
          <a:ln/>
        </p:spPr>
        <p:txBody>
          <a:bodyPr wrap="square" lIns="0" tIns="0" rIns="0" bIns="0" rtlCol="0" anchor="t"/>
          <a:lstStyle/>
          <a:p>
            <a:pPr marL="0" indent="0">
              <a:buNone/>
            </a:pPr>
            <a:r>
              <a:rPr lang="en-US" sz="1050" dirty="0">
                <a:solidFill>
                  <a:srgbClr val="D9E5F0"/>
                </a:solidFill>
                <a:latin typeface="Aptos" pitchFamily="34" charset="0"/>
                <a:ea typeface="Aptos" pitchFamily="34" charset="-122"/>
                <a:cs typeface="Aptos" pitchFamily="34" charset="-120"/>
              </a:rPr>
              <a:t>The platform now extends beyond screening into application assistance, appeal support, multilingual communication, reviewer workflows, notifications, and direct patient-to-social-worker collaboration.</a:t>
            </a:r>
            <a:endParaRPr lang="en-US" sz="1050" dirty="0"/>
          </a:p>
        </p:txBody>
      </p:sp>
      <p:sp>
        <p:nvSpPr>
          <p:cNvPr id="37" name="Text 35"/>
          <p:cNvSpPr/>
          <p:nvPr/>
        </p:nvSpPr>
        <p:spPr>
          <a:xfrm>
            <a:off x="548640" y="6455664"/>
            <a:ext cx="4937760" cy="164592"/>
          </a:xfrm>
          <a:prstGeom prst="rect">
            <a:avLst/>
          </a:prstGeom>
          <a:noFill/>
          <a:ln/>
        </p:spPr>
        <p:txBody>
          <a:bodyPr wrap="square" lIns="0" tIns="0" rIns="0" bIns="0" rtlCol="0" anchor="ctr"/>
          <a:lstStyle/>
          <a:p>
            <a:pPr marL="0" indent="0">
              <a:buNone/>
            </a:pPr>
            <a:r>
              <a:rPr lang="en-US" sz="950" dirty="0">
                <a:solidFill>
                  <a:srgbClr val="C7D6E5"/>
                </a:solidFill>
                <a:latin typeface="Aptos" pitchFamily="34" charset="0"/>
                <a:ea typeface="Aptos" pitchFamily="34" charset="-122"/>
                <a:cs typeface="Aptos" pitchFamily="34" charset="-120"/>
              </a:rPr>
              <a:t>HealthCompass MA  |  Executive Summary  |  April 2026</a:t>
            </a:r>
            <a:endParaRPr lang="en-US" sz="950" dirty="0"/>
          </a:p>
        </p:txBody>
      </p:sp>
      <p:sp>
        <p:nvSpPr>
          <p:cNvPr id="38" name="Text 36"/>
          <p:cNvSpPr/>
          <p:nvPr/>
        </p:nvSpPr>
        <p:spPr>
          <a:xfrm>
            <a:off x="10469880" y="6455664"/>
            <a:ext cx="1097280" cy="164592"/>
          </a:xfrm>
          <a:prstGeom prst="rect">
            <a:avLst/>
          </a:prstGeom>
          <a:noFill/>
          <a:ln/>
        </p:spPr>
        <p:txBody>
          <a:bodyPr wrap="square" lIns="0" tIns="0" rIns="0" bIns="0" rtlCol="0" anchor="ctr"/>
          <a:lstStyle/>
          <a:p>
            <a:pPr marL="0" indent="0" algn="r">
              <a:buNone/>
            </a:pPr>
            <a:r>
              <a:rPr lang="en-US" sz="950" dirty="0">
                <a:solidFill>
                  <a:srgbClr val="C7D6E5"/>
                </a:solidFill>
                <a:latin typeface="Aptos" pitchFamily="34" charset="0"/>
                <a:ea typeface="Aptos" pitchFamily="34" charset="-122"/>
                <a:cs typeface="Aptos" pitchFamily="34" charset="-120"/>
              </a:rPr>
              <a:t>Confidential</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137C71"/>
          </a:solidFill>
          <a:ln w="12700">
            <a:solidFill>
              <a:srgbClr val="137C71"/>
            </a:solidFill>
            <a:prstDash val="solid"/>
          </a:ln>
        </p:spPr>
        <p:txBody>
          <a:bodyPr/>
          <a:lstStyle/>
          <a:p>
            <a:endParaRPr lang="en-US"/>
          </a:p>
        </p:txBody>
      </p:sp>
      <p:sp>
        <p:nvSpPr>
          <p:cNvPr id="3" name="Shape 1"/>
          <p:cNvSpPr/>
          <p:nvPr/>
        </p:nvSpPr>
        <p:spPr>
          <a:xfrm>
            <a:off x="9509760" y="-640080"/>
            <a:ext cx="2926080" cy="2011680"/>
          </a:xfrm>
          <a:prstGeom prst="ellipse">
            <a:avLst/>
          </a:prstGeom>
          <a:solidFill>
            <a:srgbClr val="E9F5FB">
              <a:alpha val="65000"/>
            </a:srgbClr>
          </a:solidFill>
          <a:ln w="12700">
            <a:solidFill>
              <a:srgbClr val="E9F5FB">
                <a:alpha val="0"/>
              </a:srgbClr>
            </a:solidFill>
            <a:prstDash val="solid"/>
          </a:ln>
        </p:spPr>
        <p:txBody>
          <a:bodyPr/>
          <a:lstStyle/>
          <a:p>
            <a:endParaRPr lang="en-US"/>
          </a:p>
        </p:txBody>
      </p:sp>
      <p:sp>
        <p:nvSpPr>
          <p:cNvPr id="4" name="Shape 2"/>
          <p:cNvSpPr/>
          <p:nvPr/>
        </p:nvSpPr>
        <p:spPr>
          <a:xfrm>
            <a:off x="-731520" y="5212080"/>
            <a:ext cx="2377440" cy="1737360"/>
          </a:xfrm>
          <a:prstGeom prst="ellipse">
            <a:avLst/>
          </a:prstGeom>
          <a:solidFill>
            <a:srgbClr val="DFF5F1">
              <a:alpha val="70000"/>
            </a:srgbClr>
          </a:solidFill>
          <a:ln w="12700">
            <a:solidFill>
              <a:srgbClr val="DFF5F1">
                <a:alpha val="0"/>
              </a:srgbClr>
            </a:solidFill>
            <a:prstDash val="solid"/>
          </a:ln>
        </p:spPr>
        <p:txBody>
          <a:bodyPr/>
          <a:lstStyle/>
          <a:p>
            <a:endParaRPr lang="en-US"/>
          </a:p>
        </p:txBody>
      </p:sp>
      <p:sp>
        <p:nvSpPr>
          <p:cNvPr id="5" name="Text 3"/>
          <p:cNvSpPr/>
          <p:nvPr/>
        </p:nvSpPr>
        <p:spPr>
          <a:xfrm>
            <a:off x="640080" y="438912"/>
            <a:ext cx="3474720" cy="201168"/>
          </a:xfrm>
          <a:prstGeom prst="rect">
            <a:avLst/>
          </a:prstGeom>
          <a:noFill/>
          <a:ln/>
        </p:spPr>
        <p:txBody>
          <a:bodyPr wrap="square" lIns="0" tIns="0" rIns="0" bIns="0" rtlCol="0" anchor="ctr"/>
          <a:lstStyle/>
          <a:p>
            <a:pPr marL="0" indent="0">
              <a:buNone/>
            </a:pPr>
            <a:r>
              <a:rPr lang="en-US" sz="1050" b="1" dirty="0">
                <a:solidFill>
                  <a:srgbClr val="137C71"/>
                </a:solidFill>
                <a:latin typeface="Aptos" pitchFamily="34" charset="0"/>
                <a:ea typeface="Aptos" pitchFamily="34" charset="-122"/>
                <a:cs typeface="Aptos" pitchFamily="34" charset="-120"/>
              </a:rPr>
              <a:t>PLATFORM TODAY</a:t>
            </a:r>
            <a:endParaRPr lang="en-US" sz="1050" dirty="0"/>
          </a:p>
        </p:txBody>
      </p:sp>
      <p:sp>
        <p:nvSpPr>
          <p:cNvPr id="6" name="Text 4"/>
          <p:cNvSpPr/>
          <p:nvPr/>
        </p:nvSpPr>
        <p:spPr>
          <a:xfrm>
            <a:off x="640080" y="749808"/>
            <a:ext cx="7498080" cy="713232"/>
          </a:xfrm>
          <a:prstGeom prst="rect">
            <a:avLst/>
          </a:prstGeom>
          <a:noFill/>
          <a:ln/>
        </p:spPr>
        <p:txBody>
          <a:bodyPr wrap="square" lIns="0" tIns="0" rIns="0" bIns="0" rtlCol="0" anchor="ctr"/>
          <a:lstStyle/>
          <a:p>
            <a:pPr marL="0" indent="0">
              <a:buNone/>
            </a:pPr>
            <a:r>
              <a:rPr lang="en-US" sz="2400" b="1" dirty="0">
                <a:solidFill>
                  <a:srgbClr val="1D3557"/>
                </a:solidFill>
                <a:latin typeface="Aptos Display" pitchFamily="34" charset="0"/>
                <a:ea typeface="Aptos Display" pitchFamily="34" charset="-122"/>
                <a:cs typeface="Aptos Display" pitchFamily="34" charset="-120"/>
              </a:rPr>
              <a:t>HealthCompass MA is now a workflow system, not just a screener</a:t>
            </a:r>
            <a:endParaRPr lang="en-US" sz="2400" dirty="0"/>
          </a:p>
        </p:txBody>
      </p:sp>
      <p:sp>
        <p:nvSpPr>
          <p:cNvPr id="7" name="Text 5"/>
          <p:cNvSpPr/>
          <p:nvPr/>
        </p:nvSpPr>
        <p:spPr>
          <a:xfrm>
            <a:off x="658368" y="1481328"/>
            <a:ext cx="7040880" cy="512064"/>
          </a:xfrm>
          <a:prstGeom prst="rect">
            <a:avLst/>
          </a:prstGeom>
          <a:noFill/>
          <a:ln/>
        </p:spPr>
        <p:txBody>
          <a:bodyPr wrap="square" lIns="0" tIns="0" rIns="0" bIns="0" rtlCol="0" anchor="ctr"/>
          <a:lstStyle/>
          <a:p>
            <a:pPr marL="0" indent="0">
              <a:buNone/>
            </a:pPr>
            <a:r>
              <a:rPr lang="en-US" sz="1150" dirty="0">
                <a:solidFill>
                  <a:srgbClr val="556677"/>
                </a:solidFill>
                <a:latin typeface="Aptos" pitchFamily="34" charset="0"/>
                <a:ea typeface="Aptos" pitchFamily="34" charset="-122"/>
                <a:cs typeface="Aptos" pitchFamily="34" charset="-120"/>
              </a:rPr>
              <a:t>The live product combines deterministic eligibility, AI support, document handling, messaging, and staff operations in one stack.</a:t>
            </a:r>
            <a:endParaRPr lang="en-US" sz="1150" dirty="0"/>
          </a:p>
        </p:txBody>
      </p:sp>
      <p:sp>
        <p:nvSpPr>
          <p:cNvPr id="8" name="Shape 6"/>
          <p:cNvSpPr/>
          <p:nvPr/>
        </p:nvSpPr>
        <p:spPr>
          <a:xfrm>
            <a:off x="658368" y="2011680"/>
            <a:ext cx="2560320" cy="1371600"/>
          </a:xfrm>
          <a:prstGeom prst="roundRect">
            <a:avLst>
              <a:gd name="adj" fmla="val 5333"/>
            </a:avLst>
          </a:prstGeom>
          <a:solidFill>
            <a:srgbClr val="FFFDFC"/>
          </a:solidFill>
          <a:ln w="13970">
            <a:solidFill>
              <a:srgbClr val="D9E3EA"/>
            </a:solidFill>
            <a:prstDash val="solid"/>
          </a:ln>
          <a:effectLst>
            <a:outerShdw blurRad="12700" dist="50800" dir="2700000" algn="bl" rotWithShape="0">
              <a:srgbClr val="B7C8D5">
                <a:alpha val="12000"/>
              </a:srgbClr>
            </a:outerShdw>
          </a:effectLst>
        </p:spPr>
        <p:txBody>
          <a:bodyPr/>
          <a:lstStyle/>
          <a:p>
            <a:endParaRPr lang="en-US"/>
          </a:p>
        </p:txBody>
      </p:sp>
      <p:sp>
        <p:nvSpPr>
          <p:cNvPr id="9" name="Shape 7"/>
          <p:cNvSpPr/>
          <p:nvPr/>
        </p:nvSpPr>
        <p:spPr>
          <a:xfrm>
            <a:off x="822960" y="2176272"/>
            <a:ext cx="164592" cy="1042416"/>
          </a:xfrm>
          <a:prstGeom prst="roundRect">
            <a:avLst>
              <a:gd name="adj" fmla="val 44444"/>
            </a:avLst>
          </a:prstGeom>
          <a:solidFill>
            <a:srgbClr val="137C71"/>
          </a:solidFill>
          <a:ln w="12700">
            <a:solidFill>
              <a:srgbClr val="137C71"/>
            </a:solidFill>
            <a:prstDash val="solid"/>
          </a:ln>
        </p:spPr>
        <p:txBody>
          <a:bodyPr/>
          <a:lstStyle/>
          <a:p>
            <a:endParaRPr lang="en-US"/>
          </a:p>
        </p:txBody>
      </p:sp>
      <p:sp>
        <p:nvSpPr>
          <p:cNvPr id="10" name="Text 8"/>
          <p:cNvSpPr/>
          <p:nvPr/>
        </p:nvSpPr>
        <p:spPr>
          <a:xfrm>
            <a:off x="1097280" y="2176272"/>
            <a:ext cx="1956816" cy="274320"/>
          </a:xfrm>
          <a:prstGeom prst="rect">
            <a:avLst/>
          </a:prstGeom>
          <a:noFill/>
          <a:ln/>
        </p:spPr>
        <p:txBody>
          <a:bodyPr wrap="square" lIns="0" tIns="0" rIns="0" bIns="0" rtlCol="0" anchor="ctr"/>
          <a:lstStyle/>
          <a:p>
            <a:pPr marL="0" indent="0">
              <a:buNone/>
            </a:pPr>
            <a:r>
              <a:rPr lang="en-US" sz="1500" b="1" dirty="0">
                <a:solidFill>
                  <a:srgbClr val="1D3557"/>
                </a:solidFill>
                <a:latin typeface="Aptos Display" pitchFamily="34" charset="0"/>
                <a:ea typeface="Aptos Display" pitchFamily="34" charset="-122"/>
                <a:cs typeface="Aptos Display" pitchFamily="34" charset="-120"/>
              </a:rPr>
              <a:t>1. Discover</a:t>
            </a:r>
            <a:endParaRPr lang="en-US" sz="1500" dirty="0"/>
          </a:p>
        </p:txBody>
      </p:sp>
      <p:sp>
        <p:nvSpPr>
          <p:cNvPr id="11" name="Text 9"/>
          <p:cNvSpPr/>
          <p:nvPr/>
        </p:nvSpPr>
        <p:spPr>
          <a:xfrm>
            <a:off x="1097280" y="2523744"/>
            <a:ext cx="1956816" cy="676656"/>
          </a:xfrm>
          <a:prstGeom prst="rect">
            <a:avLst/>
          </a:prstGeom>
          <a:noFill/>
          <a:ln/>
        </p:spPr>
        <p:txBody>
          <a:bodyPr wrap="square" lIns="0" tIns="0" rIns="0" bIns="0" rtlCol="0" anchor="t"/>
          <a:lstStyle/>
          <a:p>
            <a:pPr marL="0" indent="0">
              <a:buNone/>
            </a:pPr>
            <a:r>
              <a:rPr lang="en-US" sz="1050" dirty="0">
                <a:solidFill>
                  <a:srgbClr val="556677"/>
                </a:solidFill>
                <a:latin typeface="Aptos" pitchFamily="34" charset="0"/>
                <a:ea typeface="Aptos" pitchFamily="34" charset="-122"/>
                <a:cs typeface="Aptos" pitchFamily="34" charset="-120"/>
              </a:rPr>
              <a:t>Deterministic pre-screener plus benefit orchestration across 10 Massachusetts and federal programs with household/FPL logic.</a:t>
            </a:r>
            <a:endParaRPr lang="en-US" sz="1050" dirty="0"/>
          </a:p>
        </p:txBody>
      </p:sp>
      <p:sp>
        <p:nvSpPr>
          <p:cNvPr id="12" name="Shape 10"/>
          <p:cNvSpPr/>
          <p:nvPr/>
        </p:nvSpPr>
        <p:spPr>
          <a:xfrm>
            <a:off x="3401568" y="2011680"/>
            <a:ext cx="2560320" cy="1371600"/>
          </a:xfrm>
          <a:prstGeom prst="roundRect">
            <a:avLst>
              <a:gd name="adj" fmla="val 5333"/>
            </a:avLst>
          </a:prstGeom>
          <a:solidFill>
            <a:srgbClr val="FFFDFC"/>
          </a:solidFill>
          <a:ln w="13970">
            <a:solidFill>
              <a:srgbClr val="D9E3EA"/>
            </a:solidFill>
            <a:prstDash val="solid"/>
          </a:ln>
          <a:effectLst>
            <a:outerShdw blurRad="12700" dist="50800" dir="2700000" algn="bl" rotWithShape="0">
              <a:srgbClr val="B7C8D5">
                <a:alpha val="12000"/>
              </a:srgbClr>
            </a:outerShdw>
          </a:effectLst>
        </p:spPr>
        <p:txBody>
          <a:bodyPr/>
          <a:lstStyle/>
          <a:p>
            <a:endParaRPr lang="en-US"/>
          </a:p>
        </p:txBody>
      </p:sp>
      <p:sp>
        <p:nvSpPr>
          <p:cNvPr id="13" name="Shape 11"/>
          <p:cNvSpPr/>
          <p:nvPr/>
        </p:nvSpPr>
        <p:spPr>
          <a:xfrm>
            <a:off x="3566160" y="2176272"/>
            <a:ext cx="164592" cy="1042416"/>
          </a:xfrm>
          <a:prstGeom prst="roundRect">
            <a:avLst>
              <a:gd name="adj" fmla="val 44444"/>
            </a:avLst>
          </a:prstGeom>
          <a:solidFill>
            <a:srgbClr val="5DB7DE"/>
          </a:solidFill>
          <a:ln w="12700">
            <a:solidFill>
              <a:srgbClr val="5DB7DE"/>
            </a:solidFill>
            <a:prstDash val="solid"/>
          </a:ln>
        </p:spPr>
        <p:txBody>
          <a:bodyPr/>
          <a:lstStyle/>
          <a:p>
            <a:endParaRPr lang="en-US"/>
          </a:p>
        </p:txBody>
      </p:sp>
      <p:sp>
        <p:nvSpPr>
          <p:cNvPr id="14" name="Text 12"/>
          <p:cNvSpPr/>
          <p:nvPr/>
        </p:nvSpPr>
        <p:spPr>
          <a:xfrm>
            <a:off x="3840480" y="2176272"/>
            <a:ext cx="1956816" cy="274320"/>
          </a:xfrm>
          <a:prstGeom prst="rect">
            <a:avLst/>
          </a:prstGeom>
          <a:noFill/>
          <a:ln/>
        </p:spPr>
        <p:txBody>
          <a:bodyPr wrap="square" lIns="0" tIns="0" rIns="0" bIns="0" rtlCol="0" anchor="ctr"/>
          <a:lstStyle/>
          <a:p>
            <a:pPr marL="0" indent="0">
              <a:buNone/>
            </a:pPr>
            <a:r>
              <a:rPr lang="en-US" sz="1500" b="1" dirty="0">
                <a:solidFill>
                  <a:srgbClr val="1D3557"/>
                </a:solidFill>
                <a:latin typeface="Aptos Display" pitchFamily="34" charset="0"/>
                <a:ea typeface="Aptos Display" pitchFamily="34" charset="-122"/>
                <a:cs typeface="Aptos Display" pitchFamily="34" charset="-120"/>
              </a:rPr>
              <a:t>2. Apply</a:t>
            </a:r>
            <a:endParaRPr lang="en-US" sz="1500" dirty="0"/>
          </a:p>
        </p:txBody>
      </p:sp>
      <p:sp>
        <p:nvSpPr>
          <p:cNvPr id="15" name="Text 13"/>
          <p:cNvSpPr/>
          <p:nvPr/>
        </p:nvSpPr>
        <p:spPr>
          <a:xfrm>
            <a:off x="3840480" y="2523744"/>
            <a:ext cx="1956816" cy="676656"/>
          </a:xfrm>
          <a:prstGeom prst="rect">
            <a:avLst/>
          </a:prstGeom>
          <a:noFill/>
          <a:ln/>
        </p:spPr>
        <p:txBody>
          <a:bodyPr wrap="square" lIns="0" tIns="0" rIns="0" bIns="0" rtlCol="0" anchor="t"/>
          <a:lstStyle/>
          <a:p>
            <a:pPr marL="0" indent="0">
              <a:buNone/>
            </a:pPr>
            <a:r>
              <a:rPr lang="en-US" sz="1050" dirty="0">
                <a:solidFill>
                  <a:srgbClr val="556677"/>
                </a:solidFill>
                <a:latin typeface="Aptos" pitchFamily="34" charset="0"/>
                <a:ea typeface="Aptos" pitchFamily="34" charset="-122"/>
                <a:cs typeface="Aptos" pitchFamily="34" charset="-120"/>
              </a:rPr>
              <a:t>MassHealth flows, ACA-3-AP rules, document uploads, form guidance, eligibility findings, and required-document tracking.</a:t>
            </a:r>
            <a:endParaRPr lang="en-US" sz="1050" dirty="0"/>
          </a:p>
        </p:txBody>
      </p:sp>
      <p:sp>
        <p:nvSpPr>
          <p:cNvPr id="16" name="Shape 14"/>
          <p:cNvSpPr/>
          <p:nvPr/>
        </p:nvSpPr>
        <p:spPr>
          <a:xfrm>
            <a:off x="658368" y="3611880"/>
            <a:ext cx="2560320" cy="1371600"/>
          </a:xfrm>
          <a:prstGeom prst="roundRect">
            <a:avLst>
              <a:gd name="adj" fmla="val 5333"/>
            </a:avLst>
          </a:prstGeom>
          <a:solidFill>
            <a:srgbClr val="FFFDFC"/>
          </a:solidFill>
          <a:ln w="13970">
            <a:solidFill>
              <a:srgbClr val="D9E3EA"/>
            </a:solidFill>
            <a:prstDash val="solid"/>
          </a:ln>
          <a:effectLst>
            <a:outerShdw blurRad="12700" dist="50800" dir="2700000" algn="bl" rotWithShape="0">
              <a:srgbClr val="B7C8D5">
                <a:alpha val="12000"/>
              </a:srgbClr>
            </a:outerShdw>
          </a:effectLst>
        </p:spPr>
        <p:txBody>
          <a:bodyPr/>
          <a:lstStyle/>
          <a:p>
            <a:endParaRPr lang="en-US"/>
          </a:p>
        </p:txBody>
      </p:sp>
      <p:sp>
        <p:nvSpPr>
          <p:cNvPr id="17" name="Shape 15"/>
          <p:cNvSpPr/>
          <p:nvPr/>
        </p:nvSpPr>
        <p:spPr>
          <a:xfrm>
            <a:off x="822960" y="3776472"/>
            <a:ext cx="164592" cy="1042416"/>
          </a:xfrm>
          <a:prstGeom prst="roundRect">
            <a:avLst>
              <a:gd name="adj" fmla="val 44444"/>
            </a:avLst>
          </a:prstGeom>
          <a:solidFill>
            <a:srgbClr val="F2C14E"/>
          </a:solidFill>
          <a:ln w="12700">
            <a:solidFill>
              <a:srgbClr val="F2C14E"/>
            </a:solidFill>
            <a:prstDash val="solid"/>
          </a:ln>
        </p:spPr>
        <p:txBody>
          <a:bodyPr/>
          <a:lstStyle/>
          <a:p>
            <a:endParaRPr lang="en-US"/>
          </a:p>
        </p:txBody>
      </p:sp>
      <p:sp>
        <p:nvSpPr>
          <p:cNvPr id="18" name="Text 16"/>
          <p:cNvSpPr/>
          <p:nvPr/>
        </p:nvSpPr>
        <p:spPr>
          <a:xfrm>
            <a:off x="1097280" y="3776472"/>
            <a:ext cx="1956816" cy="274320"/>
          </a:xfrm>
          <a:prstGeom prst="rect">
            <a:avLst/>
          </a:prstGeom>
          <a:noFill/>
          <a:ln/>
        </p:spPr>
        <p:txBody>
          <a:bodyPr wrap="square" lIns="0" tIns="0" rIns="0" bIns="0" rtlCol="0" anchor="ctr"/>
          <a:lstStyle/>
          <a:p>
            <a:pPr marL="0" indent="0">
              <a:buNone/>
            </a:pPr>
            <a:r>
              <a:rPr lang="en-US" sz="1500" b="1" dirty="0">
                <a:solidFill>
                  <a:srgbClr val="1D3557"/>
                </a:solidFill>
                <a:latin typeface="Aptos Display" pitchFamily="34" charset="0"/>
                <a:ea typeface="Aptos Display" pitchFamily="34" charset="-122"/>
                <a:cs typeface="Aptos Display" pitchFamily="34" charset="-120"/>
              </a:rPr>
              <a:t>3. Support</a:t>
            </a:r>
            <a:endParaRPr lang="en-US" sz="1500" dirty="0"/>
          </a:p>
        </p:txBody>
      </p:sp>
      <p:sp>
        <p:nvSpPr>
          <p:cNvPr id="19" name="Text 17"/>
          <p:cNvSpPr/>
          <p:nvPr/>
        </p:nvSpPr>
        <p:spPr>
          <a:xfrm>
            <a:off x="1097280" y="4123944"/>
            <a:ext cx="1956816" cy="676656"/>
          </a:xfrm>
          <a:prstGeom prst="rect">
            <a:avLst/>
          </a:prstGeom>
          <a:noFill/>
          <a:ln/>
        </p:spPr>
        <p:txBody>
          <a:bodyPr wrap="square" lIns="0" tIns="0" rIns="0" bIns="0" rtlCol="0" anchor="t"/>
          <a:lstStyle/>
          <a:p>
            <a:pPr marL="0" indent="0">
              <a:buNone/>
            </a:pPr>
            <a:r>
              <a:rPr lang="en-US" sz="1050" dirty="0">
                <a:solidFill>
                  <a:srgbClr val="556677"/>
                </a:solidFill>
                <a:latin typeface="Aptos" pitchFamily="34" charset="0"/>
                <a:ea typeface="Aptos" pitchFamily="34" charset="-122"/>
                <a:cs typeface="Aptos" pitchFamily="34" charset="-120"/>
              </a:rPr>
              <a:t>Benefit advisor chat, form assistant, appeal assistant, knowledge-center content, multilingual guidance, and notifications.</a:t>
            </a:r>
            <a:endParaRPr lang="en-US" sz="1050" dirty="0"/>
          </a:p>
        </p:txBody>
      </p:sp>
      <p:sp>
        <p:nvSpPr>
          <p:cNvPr id="20" name="Shape 18"/>
          <p:cNvSpPr/>
          <p:nvPr/>
        </p:nvSpPr>
        <p:spPr>
          <a:xfrm>
            <a:off x="3401568" y="3611880"/>
            <a:ext cx="2560320" cy="1371600"/>
          </a:xfrm>
          <a:prstGeom prst="roundRect">
            <a:avLst>
              <a:gd name="adj" fmla="val 5333"/>
            </a:avLst>
          </a:prstGeom>
          <a:solidFill>
            <a:srgbClr val="FFFDFC"/>
          </a:solidFill>
          <a:ln w="13970">
            <a:solidFill>
              <a:srgbClr val="D9E3EA"/>
            </a:solidFill>
            <a:prstDash val="solid"/>
          </a:ln>
          <a:effectLst>
            <a:outerShdw blurRad="12700" dist="50800" dir="2700000" algn="bl" rotWithShape="0">
              <a:srgbClr val="B7C8D5">
                <a:alpha val="12000"/>
              </a:srgbClr>
            </a:outerShdw>
          </a:effectLst>
        </p:spPr>
        <p:txBody>
          <a:bodyPr/>
          <a:lstStyle/>
          <a:p>
            <a:endParaRPr lang="en-US"/>
          </a:p>
        </p:txBody>
      </p:sp>
      <p:sp>
        <p:nvSpPr>
          <p:cNvPr id="21" name="Shape 19"/>
          <p:cNvSpPr/>
          <p:nvPr/>
        </p:nvSpPr>
        <p:spPr>
          <a:xfrm>
            <a:off x="3566160" y="3776472"/>
            <a:ext cx="164592" cy="1042416"/>
          </a:xfrm>
          <a:prstGeom prst="roundRect">
            <a:avLst>
              <a:gd name="adj" fmla="val 44444"/>
            </a:avLst>
          </a:prstGeom>
          <a:solidFill>
            <a:srgbClr val="E8825E"/>
          </a:solidFill>
          <a:ln w="12700">
            <a:solidFill>
              <a:srgbClr val="E8825E"/>
            </a:solidFill>
            <a:prstDash val="solid"/>
          </a:ln>
        </p:spPr>
        <p:txBody>
          <a:bodyPr/>
          <a:lstStyle/>
          <a:p>
            <a:endParaRPr lang="en-US"/>
          </a:p>
        </p:txBody>
      </p:sp>
      <p:sp>
        <p:nvSpPr>
          <p:cNvPr id="22" name="Text 20"/>
          <p:cNvSpPr/>
          <p:nvPr/>
        </p:nvSpPr>
        <p:spPr>
          <a:xfrm>
            <a:off x="3840480" y="3776472"/>
            <a:ext cx="1956816" cy="274320"/>
          </a:xfrm>
          <a:prstGeom prst="rect">
            <a:avLst/>
          </a:prstGeom>
          <a:noFill/>
          <a:ln/>
        </p:spPr>
        <p:txBody>
          <a:bodyPr wrap="square" lIns="0" tIns="0" rIns="0" bIns="0" rtlCol="0" anchor="ctr"/>
          <a:lstStyle/>
          <a:p>
            <a:pPr marL="0" indent="0">
              <a:buNone/>
            </a:pPr>
            <a:r>
              <a:rPr lang="en-US" sz="1500" b="1" dirty="0">
                <a:solidFill>
                  <a:srgbClr val="1D3557"/>
                </a:solidFill>
                <a:latin typeface="Aptos Display" pitchFamily="34" charset="0"/>
                <a:ea typeface="Aptos Display" pitchFamily="34" charset="-122"/>
                <a:cs typeface="Aptos Display" pitchFamily="34" charset="-120"/>
              </a:rPr>
              <a:t>4. Coordinate</a:t>
            </a:r>
            <a:endParaRPr lang="en-US" sz="1500" dirty="0"/>
          </a:p>
        </p:txBody>
      </p:sp>
      <p:sp>
        <p:nvSpPr>
          <p:cNvPr id="23" name="Text 21"/>
          <p:cNvSpPr/>
          <p:nvPr/>
        </p:nvSpPr>
        <p:spPr>
          <a:xfrm>
            <a:off x="3840480" y="4123944"/>
            <a:ext cx="1956816" cy="676656"/>
          </a:xfrm>
          <a:prstGeom prst="rect">
            <a:avLst/>
          </a:prstGeom>
          <a:noFill/>
          <a:ln/>
        </p:spPr>
        <p:txBody>
          <a:bodyPr wrap="square" lIns="0" tIns="0" rIns="0" bIns="0" rtlCol="0" anchor="t"/>
          <a:lstStyle/>
          <a:p>
            <a:pPr marL="0" indent="0">
              <a:buNone/>
            </a:pPr>
            <a:r>
              <a:rPr lang="en-US" sz="1050" dirty="0">
                <a:solidFill>
                  <a:srgbClr val="556677"/>
                </a:solidFill>
                <a:latin typeface="Aptos" pitchFamily="34" charset="0"/>
                <a:ea typeface="Aptos" pitchFamily="34" charset="-122"/>
                <a:cs typeface="Aptos" pitchFamily="34" charset="-120"/>
              </a:rPr>
              <a:t>Social-worker messaging, voice-note transcription, translation, screen-share sessions, reviewer portal, cases, audit, and reports.</a:t>
            </a:r>
            <a:endParaRPr lang="en-US" sz="1050" dirty="0"/>
          </a:p>
        </p:txBody>
      </p:sp>
      <p:sp>
        <p:nvSpPr>
          <p:cNvPr id="24" name="Shape 22"/>
          <p:cNvSpPr/>
          <p:nvPr/>
        </p:nvSpPr>
        <p:spPr>
          <a:xfrm>
            <a:off x="6400800" y="2011680"/>
            <a:ext cx="5102352" cy="3127248"/>
          </a:xfrm>
          <a:prstGeom prst="roundRect">
            <a:avLst>
              <a:gd name="adj" fmla="val 2339"/>
            </a:avLst>
          </a:prstGeom>
          <a:solidFill>
            <a:srgbClr val="FFFDFC"/>
          </a:solidFill>
          <a:ln w="13970">
            <a:solidFill>
              <a:srgbClr val="D9E3EA"/>
            </a:solidFill>
            <a:prstDash val="solid"/>
          </a:ln>
          <a:effectLst>
            <a:outerShdw blurRad="12700" dist="50800" dir="2700000" algn="bl" rotWithShape="0">
              <a:srgbClr val="B7C8D5">
                <a:alpha val="12000"/>
              </a:srgbClr>
            </a:outerShdw>
          </a:effectLst>
        </p:spPr>
        <p:txBody>
          <a:bodyPr/>
          <a:lstStyle/>
          <a:p>
            <a:endParaRPr lang="en-US"/>
          </a:p>
        </p:txBody>
      </p:sp>
      <p:sp>
        <p:nvSpPr>
          <p:cNvPr id="25" name="Shape 23"/>
          <p:cNvSpPr/>
          <p:nvPr/>
        </p:nvSpPr>
        <p:spPr>
          <a:xfrm>
            <a:off x="6565392" y="2176272"/>
            <a:ext cx="164592" cy="2798064"/>
          </a:xfrm>
          <a:prstGeom prst="roundRect">
            <a:avLst>
              <a:gd name="adj" fmla="val 44444"/>
            </a:avLst>
          </a:prstGeom>
          <a:solidFill>
            <a:srgbClr val="137C71"/>
          </a:solidFill>
          <a:ln w="12700">
            <a:solidFill>
              <a:srgbClr val="137C71"/>
            </a:solidFill>
            <a:prstDash val="solid"/>
          </a:ln>
        </p:spPr>
        <p:txBody>
          <a:bodyPr/>
          <a:lstStyle/>
          <a:p>
            <a:endParaRPr lang="en-US"/>
          </a:p>
        </p:txBody>
      </p:sp>
      <p:sp>
        <p:nvSpPr>
          <p:cNvPr id="26" name="Text 24"/>
          <p:cNvSpPr/>
          <p:nvPr/>
        </p:nvSpPr>
        <p:spPr>
          <a:xfrm>
            <a:off x="6839712" y="2176272"/>
            <a:ext cx="4498848" cy="274320"/>
          </a:xfrm>
          <a:prstGeom prst="rect">
            <a:avLst/>
          </a:prstGeom>
          <a:noFill/>
          <a:ln/>
        </p:spPr>
        <p:txBody>
          <a:bodyPr wrap="square" lIns="0" tIns="0" rIns="0" bIns="0" rtlCol="0" anchor="ctr"/>
          <a:lstStyle/>
          <a:p>
            <a:pPr marL="0" indent="0">
              <a:buNone/>
            </a:pPr>
            <a:r>
              <a:rPr lang="en-US" sz="1500" b="1" dirty="0">
                <a:solidFill>
                  <a:srgbClr val="1D3557"/>
                </a:solidFill>
                <a:latin typeface="Aptos Display" pitchFamily="34" charset="0"/>
                <a:ea typeface="Aptos Display" pitchFamily="34" charset="-122"/>
                <a:cs typeface="Aptos Display" pitchFamily="34" charset="-120"/>
              </a:rPr>
              <a:t>Core live capabilities grounded in the repo</a:t>
            </a:r>
            <a:endParaRPr lang="en-US" sz="1500" dirty="0"/>
          </a:p>
        </p:txBody>
      </p:sp>
      <p:sp>
        <p:nvSpPr>
          <p:cNvPr id="27" name="Text 25"/>
          <p:cNvSpPr/>
          <p:nvPr/>
        </p:nvSpPr>
        <p:spPr>
          <a:xfrm>
            <a:off x="6839712" y="2523744"/>
            <a:ext cx="4498848" cy="2432304"/>
          </a:xfrm>
          <a:prstGeom prst="rect">
            <a:avLst/>
          </a:prstGeom>
          <a:noFill/>
          <a:ln/>
        </p:spPr>
        <p:txBody>
          <a:bodyPr wrap="square" lIns="0" tIns="0" rIns="0" bIns="0" rtlCol="0" anchor="t"/>
          <a:lstStyle/>
          <a:p>
            <a:pPr marL="0" indent="0">
              <a:buNone/>
            </a:pPr>
            <a:r>
              <a:rPr lang="en-US" sz="1020" dirty="0">
                <a:solidFill>
                  <a:srgbClr val="556677"/>
                </a:solidFill>
                <a:latin typeface="Aptos" pitchFamily="34" charset="0"/>
                <a:ea typeface="Aptos" pitchFamily="34" charset="-122"/>
                <a:cs typeface="Aptos" pitchFamily="34" charset="-120"/>
              </a:rPr>
              <a:t>• Deterministic rule engines for MassHealth screening and ACA-3-AP case additions</a:t>
            </a:r>
            <a:endParaRPr lang="en-US" sz="1020" dirty="0"/>
          </a:p>
          <a:p>
            <a:pPr marL="0" indent="0">
              <a:buNone/>
            </a:pPr>
            <a:r>
              <a:rPr lang="en-US" sz="1020" dirty="0">
                <a:solidFill>
                  <a:srgbClr val="556677"/>
                </a:solidFill>
                <a:latin typeface="Aptos" pitchFamily="34" charset="0"/>
                <a:ea typeface="Aptos" pitchFamily="34" charset="-122"/>
                <a:cs typeface="Aptos" pitchFamily="34" charset="-120"/>
              </a:rPr>
              <a:t>• Cross-program orchestrator for MassHealth, MSP, SNAP, EITC, Section 8, Child Care, LIHEAP, WIC, TAFDC, and EAEDC</a:t>
            </a:r>
            <a:endParaRPr lang="en-US" sz="1020" dirty="0"/>
          </a:p>
          <a:p>
            <a:pPr marL="0" indent="0">
              <a:buNone/>
            </a:pPr>
            <a:r>
              <a:rPr lang="en-US" sz="1020" dirty="0">
                <a:solidFill>
                  <a:srgbClr val="556677"/>
                </a:solidFill>
                <a:latin typeface="Aptos" pitchFamily="34" charset="0"/>
                <a:ea typeface="Aptos" pitchFamily="34" charset="-122"/>
                <a:cs typeface="Aptos" pitchFamily="34" charset="-120"/>
              </a:rPr>
              <a:t>• Policy RAG on pgvector for task-specific prompts</a:t>
            </a:r>
            <a:endParaRPr lang="en-US" sz="1020" dirty="0"/>
          </a:p>
          <a:p>
            <a:pPr marL="0" indent="0">
              <a:buNone/>
            </a:pPr>
            <a:r>
              <a:rPr lang="en-US" sz="1020" dirty="0">
                <a:solidFill>
                  <a:srgbClr val="556677"/>
                </a:solidFill>
                <a:latin typeface="Aptos" pitchFamily="34" charset="0"/>
                <a:ea typeface="Aptos" pitchFamily="34" charset="-122"/>
                <a:cs typeface="Aptos" pitchFamily="34" charset="-120"/>
              </a:rPr>
              <a:t>• Appeal analysis with structured JSON output and document extraction</a:t>
            </a:r>
            <a:endParaRPr lang="en-US" sz="1020" dirty="0"/>
          </a:p>
          <a:p>
            <a:pPr marL="0" indent="0">
              <a:buNone/>
            </a:pPr>
            <a:r>
              <a:rPr lang="en-US" sz="1020" dirty="0">
                <a:solidFill>
                  <a:srgbClr val="556677"/>
                </a:solidFill>
                <a:latin typeface="Aptos" pitchFamily="34" charset="0"/>
                <a:ea typeface="Aptos" pitchFamily="34" charset="-122"/>
                <a:cs typeface="Aptos" pitchFamily="34" charset="-120"/>
              </a:rPr>
              <a:t>• Patient dashboard, profile, notifications, document storage, and case status views</a:t>
            </a:r>
            <a:endParaRPr lang="en-US" sz="1020" dirty="0"/>
          </a:p>
          <a:p>
            <a:pPr marL="0" indent="0">
              <a:buNone/>
            </a:pPr>
            <a:r>
              <a:rPr lang="en-US" sz="1020" dirty="0">
                <a:solidFill>
                  <a:srgbClr val="556677"/>
                </a:solidFill>
                <a:latin typeface="Aptos" pitchFamily="34" charset="0"/>
                <a:ea typeface="Aptos" pitchFamily="34" charset="-122"/>
                <a:cs typeface="Aptos" pitchFamily="34" charset="-120"/>
              </a:rPr>
              <a:t>• Social-worker and reviewer operating surfaces</a:t>
            </a:r>
            <a:endParaRPr lang="en-US" sz="1020" dirty="0"/>
          </a:p>
        </p:txBody>
      </p:sp>
      <p:sp>
        <p:nvSpPr>
          <p:cNvPr id="28" name="Shape 26"/>
          <p:cNvSpPr/>
          <p:nvPr/>
        </p:nvSpPr>
        <p:spPr>
          <a:xfrm>
            <a:off x="6419088" y="5358384"/>
            <a:ext cx="2139696" cy="310896"/>
          </a:xfrm>
          <a:prstGeom prst="roundRect">
            <a:avLst>
              <a:gd name="adj" fmla="val 23529"/>
            </a:avLst>
          </a:prstGeom>
          <a:solidFill>
            <a:srgbClr val="DFF5F1"/>
          </a:solidFill>
          <a:ln w="12700">
            <a:solidFill>
              <a:srgbClr val="DFF5F1"/>
            </a:solidFill>
            <a:prstDash val="solid"/>
          </a:ln>
        </p:spPr>
        <p:txBody>
          <a:bodyPr/>
          <a:lstStyle/>
          <a:p>
            <a:endParaRPr lang="en-US"/>
          </a:p>
        </p:txBody>
      </p:sp>
      <p:sp>
        <p:nvSpPr>
          <p:cNvPr id="29" name="Text 27"/>
          <p:cNvSpPr/>
          <p:nvPr/>
        </p:nvSpPr>
        <p:spPr>
          <a:xfrm>
            <a:off x="6510528" y="5394960"/>
            <a:ext cx="1956816" cy="164592"/>
          </a:xfrm>
          <a:prstGeom prst="rect">
            <a:avLst/>
          </a:prstGeom>
          <a:noFill/>
          <a:ln/>
        </p:spPr>
        <p:txBody>
          <a:bodyPr wrap="square" lIns="0" tIns="0" rIns="0" bIns="0" rtlCol="0" anchor="ctr"/>
          <a:lstStyle/>
          <a:p>
            <a:pPr marL="0" indent="0" algn="ctr">
              <a:buNone/>
            </a:pPr>
            <a:r>
              <a:rPr lang="en-US" sz="1000" b="1" dirty="0">
                <a:solidFill>
                  <a:srgbClr val="137C71"/>
                </a:solidFill>
                <a:latin typeface="Aptos" pitchFamily="34" charset="0"/>
                <a:ea typeface="Aptos" pitchFamily="34" charset="-122"/>
                <a:cs typeface="Aptos" pitchFamily="34" charset="-120"/>
              </a:rPr>
              <a:t>Deterministic where decisions matter</a:t>
            </a:r>
            <a:endParaRPr lang="en-US" sz="1000" dirty="0"/>
          </a:p>
        </p:txBody>
      </p:sp>
      <p:sp>
        <p:nvSpPr>
          <p:cNvPr id="30" name="Shape 28"/>
          <p:cNvSpPr/>
          <p:nvPr/>
        </p:nvSpPr>
        <p:spPr>
          <a:xfrm>
            <a:off x="8705088" y="5358384"/>
            <a:ext cx="2761488" cy="310896"/>
          </a:xfrm>
          <a:prstGeom prst="roundRect">
            <a:avLst>
              <a:gd name="adj" fmla="val 23529"/>
            </a:avLst>
          </a:prstGeom>
          <a:solidFill>
            <a:srgbClr val="E9F5FB"/>
          </a:solidFill>
          <a:ln w="12700">
            <a:solidFill>
              <a:srgbClr val="E9F5FB"/>
            </a:solidFill>
            <a:prstDash val="solid"/>
          </a:ln>
        </p:spPr>
        <p:txBody>
          <a:bodyPr/>
          <a:lstStyle/>
          <a:p>
            <a:endParaRPr lang="en-US"/>
          </a:p>
        </p:txBody>
      </p:sp>
      <p:sp>
        <p:nvSpPr>
          <p:cNvPr id="31" name="Text 29"/>
          <p:cNvSpPr/>
          <p:nvPr/>
        </p:nvSpPr>
        <p:spPr>
          <a:xfrm>
            <a:off x="8796528" y="5394960"/>
            <a:ext cx="2578608" cy="164592"/>
          </a:xfrm>
          <a:prstGeom prst="rect">
            <a:avLst/>
          </a:prstGeom>
          <a:noFill/>
          <a:ln/>
        </p:spPr>
        <p:txBody>
          <a:bodyPr wrap="square" lIns="0" tIns="0" rIns="0" bIns="0" rtlCol="0" anchor="ctr"/>
          <a:lstStyle/>
          <a:p>
            <a:pPr marL="0" indent="0" algn="ctr">
              <a:buNone/>
            </a:pPr>
            <a:r>
              <a:rPr lang="en-US" sz="1000" b="1" dirty="0">
                <a:solidFill>
                  <a:srgbClr val="1D3557"/>
                </a:solidFill>
                <a:latin typeface="Aptos" pitchFamily="34" charset="0"/>
                <a:ea typeface="Aptos" pitchFamily="34" charset="-122"/>
                <a:cs typeface="Aptos" pitchFamily="34" charset="-120"/>
              </a:rPr>
              <a:t>LLM where language and documents matter</a:t>
            </a:r>
            <a:endParaRPr lang="en-US" sz="1000" dirty="0"/>
          </a:p>
        </p:txBody>
      </p:sp>
      <p:sp>
        <p:nvSpPr>
          <p:cNvPr id="32" name="Text 30"/>
          <p:cNvSpPr/>
          <p:nvPr/>
        </p:nvSpPr>
        <p:spPr>
          <a:xfrm>
            <a:off x="548640" y="6455664"/>
            <a:ext cx="4937760" cy="164592"/>
          </a:xfrm>
          <a:prstGeom prst="rect">
            <a:avLst/>
          </a:prstGeom>
          <a:noFill/>
          <a:ln/>
        </p:spPr>
        <p:txBody>
          <a:bodyPr wrap="square" lIns="0" tIns="0" rIns="0" bIns="0" rtlCol="0" anchor="ctr"/>
          <a:lstStyle/>
          <a:p>
            <a:pPr marL="0" indent="0">
              <a:buNone/>
            </a:pPr>
            <a:r>
              <a:rPr lang="en-US" sz="950" dirty="0">
                <a:solidFill>
                  <a:srgbClr val="556677"/>
                </a:solidFill>
                <a:latin typeface="Aptos" pitchFamily="34" charset="0"/>
                <a:ea typeface="Aptos" pitchFamily="34" charset="-122"/>
                <a:cs typeface="Aptos" pitchFamily="34" charset="-120"/>
              </a:rPr>
              <a:t>HealthCompass MA  |  Executive Summary  |  April 2026</a:t>
            </a:r>
            <a:endParaRPr lang="en-US" sz="950" dirty="0"/>
          </a:p>
        </p:txBody>
      </p:sp>
      <p:sp>
        <p:nvSpPr>
          <p:cNvPr id="33" name="Text 31"/>
          <p:cNvSpPr/>
          <p:nvPr/>
        </p:nvSpPr>
        <p:spPr>
          <a:xfrm>
            <a:off x="10469880" y="6455664"/>
            <a:ext cx="1097280" cy="164592"/>
          </a:xfrm>
          <a:prstGeom prst="rect">
            <a:avLst/>
          </a:prstGeom>
          <a:noFill/>
          <a:ln/>
        </p:spPr>
        <p:txBody>
          <a:bodyPr wrap="square" lIns="0" tIns="0" rIns="0" bIns="0" rtlCol="0" anchor="ctr"/>
          <a:lstStyle/>
          <a:p>
            <a:pPr marL="0" indent="0" algn="r">
              <a:buNone/>
            </a:pPr>
            <a:r>
              <a:rPr lang="en-US" sz="950" dirty="0">
                <a:solidFill>
                  <a:srgbClr val="556677"/>
                </a:solidFill>
                <a:latin typeface="Aptos" pitchFamily="34" charset="0"/>
                <a:ea typeface="Aptos" pitchFamily="34" charset="-122"/>
                <a:cs typeface="Aptos" pitchFamily="34" charset="-120"/>
              </a:rPr>
              <a:t>Confidential</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263F"/>
        </a:solidFill>
        <a:effectLst/>
      </p:bgPr>
    </p:bg>
    <p:spTree>
      <p:nvGrpSpPr>
        <p:cNvPr id="1" name=""/>
        <p:cNvGrpSpPr/>
        <p:nvPr/>
      </p:nvGrpSpPr>
      <p:grpSpPr>
        <a:xfrm>
          <a:off x="0" y="0"/>
          <a:ext cx="0" cy="0"/>
          <a:chOff x="0" y="0"/>
          <a:chExt cx="0" cy="0"/>
        </a:xfrm>
      </p:grpSpPr>
      <p:sp>
        <p:nvSpPr>
          <p:cNvPr id="2" name="Shape 0"/>
          <p:cNvSpPr/>
          <p:nvPr/>
        </p:nvSpPr>
        <p:spPr>
          <a:xfrm rot="960000">
            <a:off x="9052560" y="-548640"/>
            <a:ext cx="3840480" cy="3474720"/>
          </a:xfrm>
          <a:prstGeom prst="rect">
            <a:avLst/>
          </a:prstGeom>
          <a:solidFill>
            <a:srgbClr val="137C71">
              <a:alpha val="18000"/>
            </a:srgbClr>
          </a:solidFill>
          <a:ln w="12700">
            <a:solidFill>
              <a:srgbClr val="137C71">
                <a:alpha val="0"/>
              </a:srgbClr>
            </a:solidFill>
            <a:prstDash val="solid"/>
          </a:ln>
        </p:spPr>
        <p:txBody>
          <a:bodyPr/>
          <a:lstStyle/>
          <a:p>
            <a:endParaRPr lang="en-US"/>
          </a:p>
        </p:txBody>
      </p:sp>
      <p:sp>
        <p:nvSpPr>
          <p:cNvPr id="3" name="Shape 1"/>
          <p:cNvSpPr/>
          <p:nvPr/>
        </p:nvSpPr>
        <p:spPr>
          <a:xfrm>
            <a:off x="-731520" y="5212080"/>
            <a:ext cx="3108960" cy="2194560"/>
          </a:xfrm>
          <a:prstGeom prst="ellipse">
            <a:avLst/>
          </a:prstGeom>
          <a:solidFill>
            <a:srgbClr val="E8825E">
              <a:alpha val="20000"/>
            </a:srgbClr>
          </a:solidFill>
          <a:ln w="12700">
            <a:solidFill>
              <a:srgbClr val="E8825E">
                <a:alpha val="0"/>
              </a:srgbClr>
            </a:solidFill>
            <a:prstDash val="solid"/>
          </a:ln>
        </p:spPr>
        <p:txBody>
          <a:bodyPr/>
          <a:lstStyle/>
          <a:p>
            <a:endParaRPr lang="en-US"/>
          </a:p>
        </p:txBody>
      </p:sp>
      <p:sp>
        <p:nvSpPr>
          <p:cNvPr id="4" name="Shape 2"/>
          <p:cNvSpPr/>
          <p:nvPr/>
        </p:nvSpPr>
        <p:spPr>
          <a:xfrm>
            <a:off x="548640" y="1005840"/>
            <a:ext cx="11064240" cy="0"/>
          </a:xfrm>
          <a:prstGeom prst="line">
            <a:avLst/>
          </a:prstGeom>
          <a:noFill/>
          <a:ln w="17780">
            <a:solidFill>
              <a:srgbClr val="5DB7DE">
                <a:alpha val="40000"/>
              </a:srgbClr>
            </a:solidFill>
            <a:prstDash val="solid"/>
          </a:ln>
        </p:spPr>
        <p:txBody>
          <a:bodyPr/>
          <a:lstStyle/>
          <a:p>
            <a:endParaRPr lang="en-US"/>
          </a:p>
        </p:txBody>
      </p:sp>
      <p:sp>
        <p:nvSpPr>
          <p:cNvPr id="5" name="Text 3"/>
          <p:cNvSpPr/>
          <p:nvPr/>
        </p:nvSpPr>
        <p:spPr>
          <a:xfrm>
            <a:off x="640080" y="438912"/>
            <a:ext cx="3474720" cy="201168"/>
          </a:xfrm>
          <a:prstGeom prst="rect">
            <a:avLst/>
          </a:prstGeom>
          <a:noFill/>
          <a:ln/>
        </p:spPr>
        <p:txBody>
          <a:bodyPr wrap="square" lIns="0" tIns="0" rIns="0" bIns="0" rtlCol="0" anchor="ctr"/>
          <a:lstStyle/>
          <a:p>
            <a:pPr marL="0" indent="0">
              <a:buNone/>
            </a:pPr>
            <a:r>
              <a:rPr lang="en-US" sz="1050" b="1" dirty="0">
                <a:solidFill>
                  <a:srgbClr val="9FDDF1"/>
                </a:solidFill>
                <a:latin typeface="Aptos" pitchFamily="34" charset="0"/>
                <a:ea typeface="Aptos" pitchFamily="34" charset="-122"/>
                <a:cs typeface="Aptos" pitchFamily="34" charset="-120"/>
              </a:rPr>
              <a:t>TECHNOLOGY SECRET SAUCE</a:t>
            </a:r>
            <a:endParaRPr lang="en-US" sz="1050" dirty="0"/>
          </a:p>
        </p:txBody>
      </p:sp>
      <p:sp>
        <p:nvSpPr>
          <p:cNvPr id="6" name="Text 4"/>
          <p:cNvSpPr/>
          <p:nvPr/>
        </p:nvSpPr>
        <p:spPr>
          <a:xfrm>
            <a:off x="640080" y="749808"/>
            <a:ext cx="7589520" cy="713232"/>
          </a:xfrm>
          <a:prstGeom prst="rect">
            <a:avLst/>
          </a:prstGeom>
          <a:noFill/>
          <a:ln/>
        </p:spPr>
        <p:txBody>
          <a:bodyPr wrap="square" lIns="0" tIns="0" rIns="0" bIns="0" rtlCol="0" anchor="ctr"/>
          <a:lstStyle/>
          <a:p>
            <a:pPr marL="0" indent="0">
              <a:buNone/>
            </a:pPr>
            <a:r>
              <a:rPr lang="en-US" sz="2400" b="1" dirty="0">
                <a:solidFill>
                  <a:srgbClr val="FFFFFF"/>
                </a:solidFill>
                <a:latin typeface="Aptos Display" pitchFamily="34" charset="0"/>
                <a:ea typeface="Aptos Display" pitchFamily="34" charset="-122"/>
                <a:cs typeface="Aptos Display" pitchFamily="34" charset="-120"/>
              </a:rPr>
              <a:t>A hybrid architecture that separates deterministic decisions from AI support</a:t>
            </a:r>
            <a:endParaRPr lang="en-US" sz="2400" dirty="0"/>
          </a:p>
        </p:txBody>
      </p:sp>
      <p:sp>
        <p:nvSpPr>
          <p:cNvPr id="7" name="Text 5"/>
          <p:cNvSpPr/>
          <p:nvPr/>
        </p:nvSpPr>
        <p:spPr>
          <a:xfrm>
            <a:off x="658368" y="1481328"/>
            <a:ext cx="7040880" cy="512064"/>
          </a:xfrm>
          <a:prstGeom prst="rect">
            <a:avLst/>
          </a:prstGeom>
          <a:noFill/>
          <a:ln/>
        </p:spPr>
        <p:txBody>
          <a:bodyPr wrap="square" lIns="0" tIns="0" rIns="0" bIns="0" rtlCol="0" anchor="ctr"/>
          <a:lstStyle/>
          <a:p>
            <a:pPr marL="0" indent="0">
              <a:buNone/>
            </a:pPr>
            <a:r>
              <a:rPr lang="en-US" sz="1150" dirty="0">
                <a:solidFill>
                  <a:srgbClr val="D5E4F2"/>
                </a:solidFill>
                <a:latin typeface="Aptos" pitchFamily="34" charset="0"/>
                <a:ea typeface="Aptos" pitchFamily="34" charset="-122"/>
                <a:cs typeface="Aptos" pitchFamily="34" charset="-120"/>
              </a:rPr>
              <a:t>This is the core design choice that makes the platform trustworthy, extensible, and hard to replicate.</a:t>
            </a:r>
            <a:endParaRPr lang="en-US" sz="1150" dirty="0"/>
          </a:p>
        </p:txBody>
      </p:sp>
      <p:sp>
        <p:nvSpPr>
          <p:cNvPr id="8" name="Shape 6"/>
          <p:cNvSpPr/>
          <p:nvPr/>
        </p:nvSpPr>
        <p:spPr>
          <a:xfrm>
            <a:off x="658368" y="2057400"/>
            <a:ext cx="2487168" cy="1828800"/>
          </a:xfrm>
          <a:prstGeom prst="roundRect">
            <a:avLst>
              <a:gd name="adj" fmla="val 4000"/>
            </a:avLst>
          </a:prstGeom>
          <a:solidFill>
            <a:srgbClr val="17304B"/>
          </a:solidFill>
          <a:ln w="13970">
            <a:solidFill>
              <a:srgbClr val="35516A"/>
            </a:solidFill>
            <a:prstDash val="solid"/>
          </a:ln>
        </p:spPr>
        <p:txBody>
          <a:bodyPr/>
          <a:lstStyle/>
          <a:p>
            <a:endParaRPr lang="en-US"/>
          </a:p>
        </p:txBody>
      </p:sp>
      <p:sp>
        <p:nvSpPr>
          <p:cNvPr id="9" name="Shape 7"/>
          <p:cNvSpPr/>
          <p:nvPr/>
        </p:nvSpPr>
        <p:spPr>
          <a:xfrm>
            <a:off x="822960" y="2221992"/>
            <a:ext cx="164592" cy="1499616"/>
          </a:xfrm>
          <a:prstGeom prst="roundRect">
            <a:avLst>
              <a:gd name="adj" fmla="val 44444"/>
            </a:avLst>
          </a:prstGeom>
          <a:solidFill>
            <a:srgbClr val="137C71"/>
          </a:solidFill>
          <a:ln w="12700">
            <a:solidFill>
              <a:srgbClr val="137C71"/>
            </a:solidFill>
            <a:prstDash val="solid"/>
          </a:ln>
        </p:spPr>
        <p:txBody>
          <a:bodyPr/>
          <a:lstStyle/>
          <a:p>
            <a:endParaRPr lang="en-US"/>
          </a:p>
        </p:txBody>
      </p:sp>
      <p:sp>
        <p:nvSpPr>
          <p:cNvPr id="10" name="Text 8"/>
          <p:cNvSpPr/>
          <p:nvPr/>
        </p:nvSpPr>
        <p:spPr>
          <a:xfrm>
            <a:off x="1097280" y="2221992"/>
            <a:ext cx="1883664" cy="274320"/>
          </a:xfrm>
          <a:prstGeom prst="rect">
            <a:avLst/>
          </a:prstGeom>
          <a:noFill/>
          <a:ln/>
        </p:spPr>
        <p:txBody>
          <a:bodyPr wrap="square" lIns="0" tIns="0" rIns="0" bIns="0" rtlCol="0" anchor="ctr"/>
          <a:lstStyle/>
          <a:p>
            <a:pPr marL="0" indent="0">
              <a:buNone/>
            </a:pPr>
            <a:r>
              <a:rPr lang="en-US" sz="1500" b="1" dirty="0">
                <a:solidFill>
                  <a:srgbClr val="FFFFFF"/>
                </a:solidFill>
                <a:latin typeface="Aptos Display" pitchFamily="34" charset="0"/>
                <a:ea typeface="Aptos Display" pitchFamily="34" charset="-122"/>
                <a:cs typeface="Aptos Display" pitchFamily="34" charset="-120"/>
              </a:rPr>
              <a:t>Plain-language intake</a:t>
            </a:r>
            <a:endParaRPr lang="en-US" sz="1500" dirty="0"/>
          </a:p>
        </p:txBody>
      </p:sp>
      <p:sp>
        <p:nvSpPr>
          <p:cNvPr id="11" name="Text 9"/>
          <p:cNvSpPr/>
          <p:nvPr/>
        </p:nvSpPr>
        <p:spPr>
          <a:xfrm>
            <a:off x="1097280" y="2569464"/>
            <a:ext cx="1883664" cy="1133856"/>
          </a:xfrm>
          <a:prstGeom prst="rect">
            <a:avLst/>
          </a:prstGeom>
          <a:noFill/>
          <a:ln/>
        </p:spPr>
        <p:txBody>
          <a:bodyPr wrap="square" lIns="0" tIns="0" rIns="0" bIns="0" rtlCol="0" anchor="t"/>
          <a:lstStyle/>
          <a:p>
            <a:pPr marL="0" indent="0">
              <a:buNone/>
            </a:pPr>
            <a:r>
              <a:rPr lang="en-US" sz="980" dirty="0">
                <a:solidFill>
                  <a:srgbClr val="D9E5F0"/>
                </a:solidFill>
                <a:latin typeface="Aptos" pitchFamily="34" charset="0"/>
                <a:ea typeface="Aptos" pitchFamily="34" charset="-122"/>
                <a:cs typeface="Aptos" pitchFamily="34" charset="-120"/>
              </a:rPr>
              <a:t>Users can type or speak naturally instead of navigating policy jargon first.</a:t>
            </a:r>
            <a:endParaRPr lang="en-US" sz="980" dirty="0"/>
          </a:p>
        </p:txBody>
      </p:sp>
      <p:sp>
        <p:nvSpPr>
          <p:cNvPr id="12" name="Shape 10"/>
          <p:cNvSpPr/>
          <p:nvPr/>
        </p:nvSpPr>
        <p:spPr>
          <a:xfrm>
            <a:off x="3200400" y="2724912"/>
            <a:ext cx="201168" cy="384048"/>
          </a:xfrm>
          <a:prstGeom prst="chevron">
            <a:avLst/>
          </a:prstGeom>
          <a:solidFill>
            <a:srgbClr val="6BA6C4"/>
          </a:solidFill>
          <a:ln w="12700">
            <a:solidFill>
              <a:srgbClr val="6BA6C4"/>
            </a:solidFill>
            <a:prstDash val="solid"/>
          </a:ln>
        </p:spPr>
        <p:txBody>
          <a:bodyPr/>
          <a:lstStyle/>
          <a:p>
            <a:endParaRPr lang="en-US"/>
          </a:p>
        </p:txBody>
      </p:sp>
      <p:sp>
        <p:nvSpPr>
          <p:cNvPr id="13" name="Shape 11"/>
          <p:cNvSpPr/>
          <p:nvPr/>
        </p:nvSpPr>
        <p:spPr>
          <a:xfrm>
            <a:off x="3474720" y="2057400"/>
            <a:ext cx="2487168" cy="1828800"/>
          </a:xfrm>
          <a:prstGeom prst="roundRect">
            <a:avLst>
              <a:gd name="adj" fmla="val 4000"/>
            </a:avLst>
          </a:prstGeom>
          <a:solidFill>
            <a:srgbClr val="17304B"/>
          </a:solidFill>
          <a:ln w="13970">
            <a:solidFill>
              <a:srgbClr val="35516A"/>
            </a:solidFill>
            <a:prstDash val="solid"/>
          </a:ln>
        </p:spPr>
        <p:txBody>
          <a:bodyPr/>
          <a:lstStyle/>
          <a:p>
            <a:endParaRPr lang="en-US"/>
          </a:p>
        </p:txBody>
      </p:sp>
      <p:sp>
        <p:nvSpPr>
          <p:cNvPr id="14" name="Shape 12"/>
          <p:cNvSpPr/>
          <p:nvPr/>
        </p:nvSpPr>
        <p:spPr>
          <a:xfrm>
            <a:off x="3639312" y="2221992"/>
            <a:ext cx="164592" cy="1499616"/>
          </a:xfrm>
          <a:prstGeom prst="roundRect">
            <a:avLst>
              <a:gd name="adj" fmla="val 44444"/>
            </a:avLst>
          </a:prstGeom>
          <a:solidFill>
            <a:srgbClr val="5DB7DE"/>
          </a:solidFill>
          <a:ln w="12700">
            <a:solidFill>
              <a:srgbClr val="5DB7DE"/>
            </a:solidFill>
            <a:prstDash val="solid"/>
          </a:ln>
        </p:spPr>
        <p:txBody>
          <a:bodyPr/>
          <a:lstStyle/>
          <a:p>
            <a:endParaRPr lang="en-US"/>
          </a:p>
        </p:txBody>
      </p:sp>
      <p:sp>
        <p:nvSpPr>
          <p:cNvPr id="15" name="Text 13"/>
          <p:cNvSpPr/>
          <p:nvPr/>
        </p:nvSpPr>
        <p:spPr>
          <a:xfrm>
            <a:off x="3913632" y="2221992"/>
            <a:ext cx="1883664" cy="274320"/>
          </a:xfrm>
          <a:prstGeom prst="rect">
            <a:avLst/>
          </a:prstGeom>
          <a:noFill/>
          <a:ln/>
        </p:spPr>
        <p:txBody>
          <a:bodyPr wrap="square" lIns="0" tIns="0" rIns="0" bIns="0" rtlCol="0" anchor="ctr"/>
          <a:lstStyle/>
          <a:p>
            <a:pPr marL="0" indent="0">
              <a:buNone/>
            </a:pPr>
            <a:r>
              <a:rPr lang="en-US" sz="1500" b="1" dirty="0">
                <a:solidFill>
                  <a:srgbClr val="FFFFFF"/>
                </a:solidFill>
                <a:latin typeface="Aptos Display" pitchFamily="34" charset="0"/>
                <a:ea typeface="Aptos Display" pitchFamily="34" charset="-122"/>
                <a:cs typeface="Aptos Display" pitchFamily="34" charset="-120"/>
              </a:rPr>
              <a:t>Structured extraction</a:t>
            </a:r>
            <a:endParaRPr lang="en-US" sz="1500" dirty="0"/>
          </a:p>
        </p:txBody>
      </p:sp>
      <p:sp>
        <p:nvSpPr>
          <p:cNvPr id="16" name="Text 14"/>
          <p:cNvSpPr/>
          <p:nvPr/>
        </p:nvSpPr>
        <p:spPr>
          <a:xfrm>
            <a:off x="3913632" y="2569464"/>
            <a:ext cx="1883664" cy="1133856"/>
          </a:xfrm>
          <a:prstGeom prst="rect">
            <a:avLst/>
          </a:prstGeom>
          <a:noFill/>
          <a:ln/>
        </p:spPr>
        <p:txBody>
          <a:bodyPr wrap="square" lIns="0" tIns="0" rIns="0" bIns="0" rtlCol="0" anchor="t"/>
          <a:lstStyle/>
          <a:p>
            <a:pPr marL="0" indent="0">
              <a:buNone/>
            </a:pPr>
            <a:r>
              <a:rPr lang="en-US" sz="980" dirty="0">
                <a:solidFill>
                  <a:srgbClr val="D9E5F0"/>
                </a:solidFill>
                <a:latin typeface="Aptos" pitchFamily="34" charset="0"/>
                <a:ea typeface="Aptos" pitchFamily="34" charset="-122"/>
                <a:cs typeface="Aptos" pitchFamily="34" charset="-120"/>
              </a:rPr>
              <a:t>AI pulls household, income, relationship, and document signals into typed fields.</a:t>
            </a:r>
            <a:endParaRPr lang="en-US" sz="980" dirty="0"/>
          </a:p>
        </p:txBody>
      </p:sp>
      <p:sp>
        <p:nvSpPr>
          <p:cNvPr id="17" name="Shape 15"/>
          <p:cNvSpPr/>
          <p:nvPr/>
        </p:nvSpPr>
        <p:spPr>
          <a:xfrm>
            <a:off x="6016752" y="2724912"/>
            <a:ext cx="201168" cy="384048"/>
          </a:xfrm>
          <a:prstGeom prst="chevron">
            <a:avLst/>
          </a:prstGeom>
          <a:solidFill>
            <a:srgbClr val="6BA6C4"/>
          </a:solidFill>
          <a:ln w="12700">
            <a:solidFill>
              <a:srgbClr val="6BA6C4"/>
            </a:solidFill>
            <a:prstDash val="solid"/>
          </a:ln>
        </p:spPr>
        <p:txBody>
          <a:bodyPr/>
          <a:lstStyle/>
          <a:p>
            <a:endParaRPr lang="en-US"/>
          </a:p>
        </p:txBody>
      </p:sp>
      <p:sp>
        <p:nvSpPr>
          <p:cNvPr id="18" name="Shape 16"/>
          <p:cNvSpPr/>
          <p:nvPr/>
        </p:nvSpPr>
        <p:spPr>
          <a:xfrm>
            <a:off x="6291072" y="2057400"/>
            <a:ext cx="2487168" cy="1828800"/>
          </a:xfrm>
          <a:prstGeom prst="roundRect">
            <a:avLst>
              <a:gd name="adj" fmla="val 4000"/>
            </a:avLst>
          </a:prstGeom>
          <a:solidFill>
            <a:srgbClr val="17304B"/>
          </a:solidFill>
          <a:ln w="13970">
            <a:solidFill>
              <a:srgbClr val="35516A"/>
            </a:solidFill>
            <a:prstDash val="solid"/>
          </a:ln>
        </p:spPr>
        <p:txBody>
          <a:bodyPr/>
          <a:lstStyle/>
          <a:p>
            <a:endParaRPr lang="en-US"/>
          </a:p>
        </p:txBody>
      </p:sp>
      <p:sp>
        <p:nvSpPr>
          <p:cNvPr id="19" name="Shape 17"/>
          <p:cNvSpPr/>
          <p:nvPr/>
        </p:nvSpPr>
        <p:spPr>
          <a:xfrm>
            <a:off x="6455664" y="2221992"/>
            <a:ext cx="164592" cy="1499616"/>
          </a:xfrm>
          <a:prstGeom prst="roundRect">
            <a:avLst>
              <a:gd name="adj" fmla="val 44444"/>
            </a:avLst>
          </a:prstGeom>
          <a:solidFill>
            <a:srgbClr val="F2C14E"/>
          </a:solidFill>
          <a:ln w="12700">
            <a:solidFill>
              <a:srgbClr val="F2C14E"/>
            </a:solidFill>
            <a:prstDash val="solid"/>
          </a:ln>
        </p:spPr>
        <p:txBody>
          <a:bodyPr/>
          <a:lstStyle/>
          <a:p>
            <a:endParaRPr lang="en-US"/>
          </a:p>
        </p:txBody>
      </p:sp>
      <p:sp>
        <p:nvSpPr>
          <p:cNvPr id="20" name="Text 18"/>
          <p:cNvSpPr/>
          <p:nvPr/>
        </p:nvSpPr>
        <p:spPr>
          <a:xfrm>
            <a:off x="6729984" y="2221992"/>
            <a:ext cx="1883664" cy="274320"/>
          </a:xfrm>
          <a:prstGeom prst="rect">
            <a:avLst/>
          </a:prstGeom>
          <a:noFill/>
          <a:ln/>
        </p:spPr>
        <p:txBody>
          <a:bodyPr wrap="square" lIns="0" tIns="0" rIns="0" bIns="0" rtlCol="0" anchor="ctr"/>
          <a:lstStyle/>
          <a:p>
            <a:pPr marL="0" indent="0">
              <a:buNone/>
            </a:pPr>
            <a:r>
              <a:rPr lang="en-US" sz="1500" b="1" dirty="0">
                <a:solidFill>
                  <a:srgbClr val="FFFFFF"/>
                </a:solidFill>
                <a:latin typeface="Aptos Display" pitchFamily="34" charset="0"/>
                <a:ea typeface="Aptos Display" pitchFamily="34" charset="-122"/>
                <a:cs typeface="Aptos Display" pitchFamily="34" charset="-120"/>
              </a:rPr>
              <a:t>Deterministic evaluation</a:t>
            </a:r>
            <a:endParaRPr lang="en-US" sz="1500" dirty="0"/>
          </a:p>
        </p:txBody>
      </p:sp>
      <p:sp>
        <p:nvSpPr>
          <p:cNvPr id="21" name="Text 19"/>
          <p:cNvSpPr/>
          <p:nvPr/>
        </p:nvSpPr>
        <p:spPr>
          <a:xfrm>
            <a:off x="6729984" y="2569464"/>
            <a:ext cx="1883664" cy="1133856"/>
          </a:xfrm>
          <a:prstGeom prst="rect">
            <a:avLst/>
          </a:prstGeom>
          <a:noFill/>
          <a:ln/>
        </p:spPr>
        <p:txBody>
          <a:bodyPr wrap="square" lIns="0" tIns="0" rIns="0" bIns="0" rtlCol="0" anchor="t"/>
          <a:lstStyle/>
          <a:p>
            <a:pPr marL="0" indent="0">
              <a:buNone/>
            </a:pPr>
            <a:r>
              <a:rPr lang="en-US" sz="980" dirty="0">
                <a:solidFill>
                  <a:srgbClr val="D9E5F0"/>
                </a:solidFill>
                <a:latin typeface="Aptos" pitchFamily="34" charset="0"/>
                <a:ea typeface="Aptos" pitchFamily="34" charset="-122"/>
                <a:cs typeface="Aptos" pitchFamily="34" charset="-120"/>
              </a:rPr>
              <a:t>Rule engines decide eligibility, required documents, and routing using code, not model guesswork.</a:t>
            </a:r>
            <a:endParaRPr lang="en-US" sz="980" dirty="0"/>
          </a:p>
        </p:txBody>
      </p:sp>
      <p:sp>
        <p:nvSpPr>
          <p:cNvPr id="22" name="Shape 20"/>
          <p:cNvSpPr/>
          <p:nvPr/>
        </p:nvSpPr>
        <p:spPr>
          <a:xfrm>
            <a:off x="8833104" y="2724912"/>
            <a:ext cx="201168" cy="384048"/>
          </a:xfrm>
          <a:prstGeom prst="chevron">
            <a:avLst/>
          </a:prstGeom>
          <a:solidFill>
            <a:srgbClr val="6BA6C4"/>
          </a:solidFill>
          <a:ln w="12700">
            <a:solidFill>
              <a:srgbClr val="6BA6C4"/>
            </a:solidFill>
            <a:prstDash val="solid"/>
          </a:ln>
        </p:spPr>
        <p:txBody>
          <a:bodyPr/>
          <a:lstStyle/>
          <a:p>
            <a:endParaRPr lang="en-US"/>
          </a:p>
        </p:txBody>
      </p:sp>
      <p:sp>
        <p:nvSpPr>
          <p:cNvPr id="23" name="Shape 21"/>
          <p:cNvSpPr/>
          <p:nvPr/>
        </p:nvSpPr>
        <p:spPr>
          <a:xfrm>
            <a:off x="9107424" y="2057400"/>
            <a:ext cx="2487168" cy="1828800"/>
          </a:xfrm>
          <a:prstGeom prst="roundRect">
            <a:avLst>
              <a:gd name="adj" fmla="val 4000"/>
            </a:avLst>
          </a:prstGeom>
          <a:solidFill>
            <a:srgbClr val="17304B"/>
          </a:solidFill>
          <a:ln w="13970">
            <a:solidFill>
              <a:srgbClr val="35516A"/>
            </a:solidFill>
            <a:prstDash val="solid"/>
          </a:ln>
        </p:spPr>
        <p:txBody>
          <a:bodyPr/>
          <a:lstStyle/>
          <a:p>
            <a:endParaRPr lang="en-US"/>
          </a:p>
        </p:txBody>
      </p:sp>
      <p:sp>
        <p:nvSpPr>
          <p:cNvPr id="24" name="Shape 22"/>
          <p:cNvSpPr/>
          <p:nvPr/>
        </p:nvSpPr>
        <p:spPr>
          <a:xfrm>
            <a:off x="9272016" y="2221992"/>
            <a:ext cx="164592" cy="1499616"/>
          </a:xfrm>
          <a:prstGeom prst="roundRect">
            <a:avLst>
              <a:gd name="adj" fmla="val 44444"/>
            </a:avLst>
          </a:prstGeom>
          <a:solidFill>
            <a:srgbClr val="E8825E"/>
          </a:solidFill>
          <a:ln w="12700">
            <a:solidFill>
              <a:srgbClr val="E8825E"/>
            </a:solidFill>
            <a:prstDash val="solid"/>
          </a:ln>
        </p:spPr>
        <p:txBody>
          <a:bodyPr/>
          <a:lstStyle/>
          <a:p>
            <a:endParaRPr lang="en-US"/>
          </a:p>
        </p:txBody>
      </p:sp>
      <p:sp>
        <p:nvSpPr>
          <p:cNvPr id="25" name="Text 23"/>
          <p:cNvSpPr/>
          <p:nvPr/>
        </p:nvSpPr>
        <p:spPr>
          <a:xfrm>
            <a:off x="9546336" y="2221992"/>
            <a:ext cx="1883664" cy="274320"/>
          </a:xfrm>
          <a:prstGeom prst="rect">
            <a:avLst/>
          </a:prstGeom>
          <a:noFill/>
          <a:ln/>
        </p:spPr>
        <p:txBody>
          <a:bodyPr wrap="square" lIns="0" tIns="0" rIns="0" bIns="0" rtlCol="0" anchor="ctr"/>
          <a:lstStyle/>
          <a:p>
            <a:pPr marL="0" indent="0">
              <a:buNone/>
            </a:pPr>
            <a:r>
              <a:rPr lang="en-US" sz="1500" b="1" dirty="0">
                <a:solidFill>
                  <a:srgbClr val="FFFFFF"/>
                </a:solidFill>
                <a:latin typeface="Aptos Display" pitchFamily="34" charset="0"/>
                <a:ea typeface="Aptos Display" pitchFamily="34" charset="-122"/>
                <a:cs typeface="Aptos Display" pitchFamily="34" charset="-120"/>
              </a:rPr>
              <a:t>Actionable workflow</a:t>
            </a:r>
            <a:endParaRPr lang="en-US" sz="1500" dirty="0"/>
          </a:p>
        </p:txBody>
      </p:sp>
      <p:sp>
        <p:nvSpPr>
          <p:cNvPr id="26" name="Text 24"/>
          <p:cNvSpPr/>
          <p:nvPr/>
        </p:nvSpPr>
        <p:spPr>
          <a:xfrm>
            <a:off x="9546336" y="2569464"/>
            <a:ext cx="1883664" cy="1133856"/>
          </a:xfrm>
          <a:prstGeom prst="rect">
            <a:avLst/>
          </a:prstGeom>
          <a:noFill/>
          <a:ln/>
        </p:spPr>
        <p:txBody>
          <a:bodyPr wrap="square" lIns="0" tIns="0" rIns="0" bIns="0" rtlCol="0" anchor="t"/>
          <a:lstStyle/>
          <a:p>
            <a:pPr marL="0" indent="0">
              <a:buNone/>
            </a:pPr>
            <a:r>
              <a:rPr lang="en-US" sz="980" dirty="0">
                <a:solidFill>
                  <a:srgbClr val="D9E5F0"/>
                </a:solidFill>
                <a:latin typeface="Aptos" pitchFamily="34" charset="0"/>
                <a:ea typeface="Aptos" pitchFamily="34" charset="-122"/>
                <a:cs typeface="Aptos" pitchFamily="34" charset="-120"/>
              </a:rPr>
              <a:t>Outputs drive applications, notifications, staff review, appeal drafting, and next-step guidance.</a:t>
            </a:r>
            <a:endParaRPr lang="en-US" sz="980" dirty="0"/>
          </a:p>
        </p:txBody>
      </p:sp>
      <p:sp>
        <p:nvSpPr>
          <p:cNvPr id="27" name="Shape 25"/>
          <p:cNvSpPr/>
          <p:nvPr/>
        </p:nvSpPr>
        <p:spPr>
          <a:xfrm>
            <a:off x="658368" y="4251960"/>
            <a:ext cx="5394960" cy="1325880"/>
          </a:xfrm>
          <a:prstGeom prst="roundRect">
            <a:avLst>
              <a:gd name="adj" fmla="val 5517"/>
            </a:avLst>
          </a:prstGeom>
          <a:solidFill>
            <a:srgbClr val="17304B"/>
          </a:solidFill>
          <a:ln w="13970">
            <a:solidFill>
              <a:srgbClr val="35516A"/>
            </a:solidFill>
            <a:prstDash val="solid"/>
          </a:ln>
        </p:spPr>
        <p:txBody>
          <a:bodyPr/>
          <a:lstStyle/>
          <a:p>
            <a:endParaRPr lang="en-US"/>
          </a:p>
        </p:txBody>
      </p:sp>
      <p:sp>
        <p:nvSpPr>
          <p:cNvPr id="28" name="Shape 26"/>
          <p:cNvSpPr/>
          <p:nvPr/>
        </p:nvSpPr>
        <p:spPr>
          <a:xfrm>
            <a:off x="822960" y="4416552"/>
            <a:ext cx="164592" cy="996696"/>
          </a:xfrm>
          <a:prstGeom prst="roundRect">
            <a:avLst>
              <a:gd name="adj" fmla="val 44444"/>
            </a:avLst>
          </a:prstGeom>
          <a:solidFill>
            <a:srgbClr val="137C71"/>
          </a:solidFill>
          <a:ln w="12700">
            <a:solidFill>
              <a:srgbClr val="137C71"/>
            </a:solidFill>
            <a:prstDash val="solid"/>
          </a:ln>
        </p:spPr>
        <p:txBody>
          <a:bodyPr/>
          <a:lstStyle/>
          <a:p>
            <a:endParaRPr lang="en-US"/>
          </a:p>
        </p:txBody>
      </p:sp>
      <p:sp>
        <p:nvSpPr>
          <p:cNvPr id="29" name="Text 27"/>
          <p:cNvSpPr/>
          <p:nvPr/>
        </p:nvSpPr>
        <p:spPr>
          <a:xfrm>
            <a:off x="1097280" y="4416552"/>
            <a:ext cx="4791456" cy="274320"/>
          </a:xfrm>
          <a:prstGeom prst="rect">
            <a:avLst/>
          </a:prstGeom>
          <a:noFill/>
          <a:ln/>
        </p:spPr>
        <p:txBody>
          <a:bodyPr wrap="square" lIns="0" tIns="0" rIns="0" bIns="0" rtlCol="0" anchor="ctr"/>
          <a:lstStyle/>
          <a:p>
            <a:pPr marL="0" indent="0">
              <a:buNone/>
            </a:pPr>
            <a:r>
              <a:rPr lang="en-US" sz="1500" b="1" dirty="0">
                <a:solidFill>
                  <a:srgbClr val="FFFFFF"/>
                </a:solidFill>
                <a:latin typeface="Aptos Display" pitchFamily="34" charset="0"/>
                <a:ea typeface="Aptos Display" pitchFamily="34" charset="-122"/>
                <a:cs typeface="Aptos Display" pitchFamily="34" charset="-120"/>
              </a:rPr>
              <a:t>Why this architecture matters</a:t>
            </a:r>
            <a:endParaRPr lang="en-US" sz="1500" dirty="0"/>
          </a:p>
        </p:txBody>
      </p:sp>
      <p:sp>
        <p:nvSpPr>
          <p:cNvPr id="30" name="Text 28"/>
          <p:cNvSpPr/>
          <p:nvPr/>
        </p:nvSpPr>
        <p:spPr>
          <a:xfrm>
            <a:off x="1097280" y="4764024"/>
            <a:ext cx="4791456" cy="630936"/>
          </a:xfrm>
          <a:prstGeom prst="rect">
            <a:avLst/>
          </a:prstGeom>
          <a:noFill/>
          <a:ln/>
        </p:spPr>
        <p:txBody>
          <a:bodyPr wrap="square" lIns="0" tIns="0" rIns="0" bIns="0" rtlCol="0" anchor="t"/>
          <a:lstStyle/>
          <a:p>
            <a:pPr marL="0" indent="0">
              <a:buNone/>
            </a:pPr>
            <a:r>
              <a:rPr lang="en-US" sz="1040" dirty="0">
                <a:solidFill>
                  <a:srgbClr val="D9E5F0"/>
                </a:solidFill>
                <a:latin typeface="Aptos" pitchFamily="34" charset="0"/>
                <a:ea typeface="Aptos" pitchFamily="34" charset="-122"/>
                <a:cs typeface="Aptos" pitchFamily="34" charset="-120"/>
              </a:rPr>
              <a:t>Competitors can copy a chatbot. They cannot easily copy the combined asset: policy-specific rules, benefit-orchestration logic, structured extraction, workflow triggers, and staff tooling all operating on the same user graph.</a:t>
            </a:r>
            <a:endParaRPr lang="en-US" sz="1040" dirty="0"/>
          </a:p>
        </p:txBody>
      </p:sp>
      <p:sp>
        <p:nvSpPr>
          <p:cNvPr id="31" name="Shape 29"/>
          <p:cNvSpPr/>
          <p:nvPr/>
        </p:nvSpPr>
        <p:spPr>
          <a:xfrm>
            <a:off x="6327648" y="4251960"/>
            <a:ext cx="4956048" cy="1325880"/>
          </a:xfrm>
          <a:prstGeom prst="roundRect">
            <a:avLst>
              <a:gd name="adj" fmla="val 5517"/>
            </a:avLst>
          </a:prstGeom>
          <a:solidFill>
            <a:srgbClr val="17304B"/>
          </a:solidFill>
          <a:ln w="13970">
            <a:solidFill>
              <a:srgbClr val="35516A"/>
            </a:solidFill>
            <a:prstDash val="solid"/>
          </a:ln>
        </p:spPr>
        <p:txBody>
          <a:bodyPr/>
          <a:lstStyle/>
          <a:p>
            <a:endParaRPr lang="en-US"/>
          </a:p>
        </p:txBody>
      </p:sp>
      <p:sp>
        <p:nvSpPr>
          <p:cNvPr id="32" name="Shape 30"/>
          <p:cNvSpPr/>
          <p:nvPr/>
        </p:nvSpPr>
        <p:spPr>
          <a:xfrm>
            <a:off x="6492240" y="4416552"/>
            <a:ext cx="164592" cy="996696"/>
          </a:xfrm>
          <a:prstGeom prst="roundRect">
            <a:avLst>
              <a:gd name="adj" fmla="val 44444"/>
            </a:avLst>
          </a:prstGeom>
          <a:solidFill>
            <a:srgbClr val="F2C14E"/>
          </a:solidFill>
          <a:ln w="12700">
            <a:solidFill>
              <a:srgbClr val="F2C14E"/>
            </a:solidFill>
            <a:prstDash val="solid"/>
          </a:ln>
        </p:spPr>
        <p:txBody>
          <a:bodyPr/>
          <a:lstStyle/>
          <a:p>
            <a:endParaRPr lang="en-US"/>
          </a:p>
        </p:txBody>
      </p:sp>
      <p:sp>
        <p:nvSpPr>
          <p:cNvPr id="33" name="Text 31"/>
          <p:cNvSpPr/>
          <p:nvPr/>
        </p:nvSpPr>
        <p:spPr>
          <a:xfrm>
            <a:off x="6766560" y="4416552"/>
            <a:ext cx="4352544" cy="274320"/>
          </a:xfrm>
          <a:prstGeom prst="rect">
            <a:avLst/>
          </a:prstGeom>
          <a:noFill/>
          <a:ln/>
        </p:spPr>
        <p:txBody>
          <a:bodyPr wrap="square" lIns="0" tIns="0" rIns="0" bIns="0" rtlCol="0" anchor="ctr"/>
          <a:lstStyle/>
          <a:p>
            <a:pPr marL="0" indent="0">
              <a:buNone/>
            </a:pPr>
            <a:r>
              <a:rPr lang="en-US" sz="1500" b="1" dirty="0">
                <a:solidFill>
                  <a:srgbClr val="FFFFFF"/>
                </a:solidFill>
                <a:latin typeface="Aptos Display" pitchFamily="34" charset="0"/>
                <a:ea typeface="Aptos Display" pitchFamily="34" charset="-122"/>
                <a:cs typeface="Aptos Display" pitchFamily="34" charset="-120"/>
              </a:rPr>
              <a:t>System boundary</a:t>
            </a:r>
            <a:endParaRPr lang="en-US" sz="1500" dirty="0"/>
          </a:p>
        </p:txBody>
      </p:sp>
      <p:sp>
        <p:nvSpPr>
          <p:cNvPr id="34" name="Text 32"/>
          <p:cNvSpPr/>
          <p:nvPr/>
        </p:nvSpPr>
        <p:spPr>
          <a:xfrm>
            <a:off x="6766560" y="4764024"/>
            <a:ext cx="4352544" cy="630936"/>
          </a:xfrm>
          <a:prstGeom prst="rect">
            <a:avLst/>
          </a:prstGeom>
          <a:noFill/>
          <a:ln/>
        </p:spPr>
        <p:txBody>
          <a:bodyPr wrap="square" lIns="0" tIns="0" rIns="0" bIns="0" rtlCol="0" anchor="t"/>
          <a:lstStyle/>
          <a:p>
            <a:pPr marL="0" indent="0">
              <a:buNone/>
            </a:pPr>
            <a:r>
              <a:rPr lang="en-US" sz="1040" dirty="0">
                <a:solidFill>
                  <a:srgbClr val="D9E5F0"/>
                </a:solidFill>
                <a:latin typeface="Aptos" pitchFamily="34" charset="0"/>
                <a:ea typeface="Aptos" pitchFamily="34" charset="-122"/>
                <a:cs typeface="Aptos" pitchFamily="34" charset="-120"/>
              </a:rPr>
              <a:t>LLMs explain, extract, summarize, translate, and draft. Deterministic code decides eligibility, document requirements, routing, and final workflow state.</a:t>
            </a:r>
            <a:endParaRPr lang="en-US" sz="1040" dirty="0"/>
          </a:p>
        </p:txBody>
      </p:sp>
      <p:sp>
        <p:nvSpPr>
          <p:cNvPr id="35" name="Text 33"/>
          <p:cNvSpPr/>
          <p:nvPr/>
        </p:nvSpPr>
        <p:spPr>
          <a:xfrm>
            <a:off x="548640" y="6455664"/>
            <a:ext cx="4937760" cy="164592"/>
          </a:xfrm>
          <a:prstGeom prst="rect">
            <a:avLst/>
          </a:prstGeom>
          <a:noFill/>
          <a:ln/>
        </p:spPr>
        <p:txBody>
          <a:bodyPr wrap="square" lIns="0" tIns="0" rIns="0" bIns="0" rtlCol="0" anchor="ctr"/>
          <a:lstStyle/>
          <a:p>
            <a:pPr marL="0" indent="0">
              <a:buNone/>
            </a:pPr>
            <a:r>
              <a:rPr lang="en-US" sz="950" dirty="0">
                <a:solidFill>
                  <a:srgbClr val="C7D6E5"/>
                </a:solidFill>
                <a:latin typeface="Aptos" pitchFamily="34" charset="0"/>
                <a:ea typeface="Aptos" pitchFamily="34" charset="-122"/>
                <a:cs typeface="Aptos" pitchFamily="34" charset="-120"/>
              </a:rPr>
              <a:t>HealthCompass MA  |  Executive Summary  |  April 2026</a:t>
            </a:r>
            <a:endParaRPr lang="en-US" sz="950" dirty="0"/>
          </a:p>
        </p:txBody>
      </p:sp>
      <p:sp>
        <p:nvSpPr>
          <p:cNvPr id="36" name="Text 34"/>
          <p:cNvSpPr/>
          <p:nvPr/>
        </p:nvSpPr>
        <p:spPr>
          <a:xfrm>
            <a:off x="10469880" y="6455664"/>
            <a:ext cx="1097280" cy="164592"/>
          </a:xfrm>
          <a:prstGeom prst="rect">
            <a:avLst/>
          </a:prstGeom>
          <a:noFill/>
          <a:ln/>
        </p:spPr>
        <p:txBody>
          <a:bodyPr wrap="square" lIns="0" tIns="0" rIns="0" bIns="0" rtlCol="0" anchor="ctr"/>
          <a:lstStyle/>
          <a:p>
            <a:pPr marL="0" indent="0" algn="r">
              <a:buNone/>
            </a:pPr>
            <a:r>
              <a:rPr lang="en-US" sz="950" dirty="0">
                <a:solidFill>
                  <a:srgbClr val="C7D6E5"/>
                </a:solidFill>
                <a:latin typeface="Aptos" pitchFamily="34" charset="0"/>
                <a:ea typeface="Aptos" pitchFamily="34" charset="-122"/>
                <a:cs typeface="Aptos" pitchFamily="34" charset="-120"/>
              </a:rPr>
              <a:t>Confidential</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137C71"/>
          </a:solidFill>
          <a:ln w="12700">
            <a:solidFill>
              <a:srgbClr val="137C71"/>
            </a:solidFill>
            <a:prstDash val="solid"/>
          </a:ln>
        </p:spPr>
        <p:txBody>
          <a:bodyPr/>
          <a:lstStyle/>
          <a:p>
            <a:endParaRPr lang="en-US"/>
          </a:p>
        </p:txBody>
      </p:sp>
      <p:sp>
        <p:nvSpPr>
          <p:cNvPr id="3" name="Shape 1"/>
          <p:cNvSpPr/>
          <p:nvPr/>
        </p:nvSpPr>
        <p:spPr>
          <a:xfrm>
            <a:off x="9509760" y="-640080"/>
            <a:ext cx="2926080" cy="2011680"/>
          </a:xfrm>
          <a:prstGeom prst="ellipse">
            <a:avLst/>
          </a:prstGeom>
          <a:solidFill>
            <a:srgbClr val="E9F5FB">
              <a:alpha val="65000"/>
            </a:srgbClr>
          </a:solidFill>
          <a:ln w="12700">
            <a:solidFill>
              <a:srgbClr val="E9F5FB">
                <a:alpha val="0"/>
              </a:srgbClr>
            </a:solidFill>
            <a:prstDash val="solid"/>
          </a:ln>
        </p:spPr>
        <p:txBody>
          <a:bodyPr/>
          <a:lstStyle/>
          <a:p>
            <a:endParaRPr lang="en-US"/>
          </a:p>
        </p:txBody>
      </p:sp>
      <p:sp>
        <p:nvSpPr>
          <p:cNvPr id="4" name="Shape 2"/>
          <p:cNvSpPr/>
          <p:nvPr/>
        </p:nvSpPr>
        <p:spPr>
          <a:xfrm>
            <a:off x="-731520" y="5212080"/>
            <a:ext cx="2377440" cy="1737360"/>
          </a:xfrm>
          <a:prstGeom prst="ellipse">
            <a:avLst/>
          </a:prstGeom>
          <a:solidFill>
            <a:srgbClr val="DFF5F1">
              <a:alpha val="70000"/>
            </a:srgbClr>
          </a:solidFill>
          <a:ln w="12700">
            <a:solidFill>
              <a:srgbClr val="DFF5F1">
                <a:alpha val="0"/>
              </a:srgbClr>
            </a:solidFill>
            <a:prstDash val="solid"/>
          </a:ln>
        </p:spPr>
        <p:txBody>
          <a:bodyPr/>
          <a:lstStyle/>
          <a:p>
            <a:endParaRPr lang="en-US"/>
          </a:p>
        </p:txBody>
      </p:sp>
      <p:sp>
        <p:nvSpPr>
          <p:cNvPr id="5" name="Text 3"/>
          <p:cNvSpPr/>
          <p:nvPr/>
        </p:nvSpPr>
        <p:spPr>
          <a:xfrm>
            <a:off x="640080" y="438912"/>
            <a:ext cx="3474720" cy="201168"/>
          </a:xfrm>
          <a:prstGeom prst="rect">
            <a:avLst/>
          </a:prstGeom>
          <a:noFill/>
          <a:ln/>
        </p:spPr>
        <p:txBody>
          <a:bodyPr wrap="square" lIns="0" tIns="0" rIns="0" bIns="0" rtlCol="0" anchor="ctr"/>
          <a:lstStyle/>
          <a:p>
            <a:pPr marL="0" indent="0">
              <a:buNone/>
            </a:pPr>
            <a:r>
              <a:rPr lang="en-US" sz="1050" b="1" dirty="0">
                <a:solidFill>
                  <a:srgbClr val="137C71"/>
                </a:solidFill>
                <a:latin typeface="Aptos" pitchFamily="34" charset="0"/>
                <a:ea typeface="Aptos" pitchFamily="34" charset="-122"/>
                <a:cs typeface="Aptos" pitchFamily="34" charset="-120"/>
              </a:rPr>
              <a:t>TECHNICAL BARRIERS, TRAINING, AND AI SUPPORT</a:t>
            </a:r>
            <a:endParaRPr lang="en-US" sz="1050" dirty="0"/>
          </a:p>
        </p:txBody>
      </p:sp>
      <p:sp>
        <p:nvSpPr>
          <p:cNvPr id="6" name="Text 4"/>
          <p:cNvSpPr/>
          <p:nvPr/>
        </p:nvSpPr>
        <p:spPr>
          <a:xfrm>
            <a:off x="640080" y="749808"/>
            <a:ext cx="8046720" cy="713232"/>
          </a:xfrm>
          <a:prstGeom prst="rect">
            <a:avLst/>
          </a:prstGeom>
          <a:noFill/>
          <a:ln/>
        </p:spPr>
        <p:txBody>
          <a:bodyPr wrap="square" lIns="0" tIns="0" rIns="0" bIns="0" rtlCol="0" anchor="ctr"/>
          <a:lstStyle/>
          <a:p>
            <a:pPr marL="0" indent="0">
              <a:buNone/>
            </a:pPr>
            <a:r>
              <a:rPr lang="en-US" sz="2400" b="1" dirty="0">
                <a:solidFill>
                  <a:srgbClr val="1D3557"/>
                </a:solidFill>
                <a:latin typeface="Aptos Display" pitchFamily="34" charset="0"/>
                <a:ea typeface="Aptos Display" pitchFamily="34" charset="-122"/>
                <a:cs typeface="Aptos Display" pitchFamily="34" charset="-120"/>
              </a:rPr>
              <a:t>The moat is not one model. It is a domain-tuned support system with a learning flywheel.</a:t>
            </a:r>
            <a:endParaRPr lang="en-US" sz="2400" dirty="0"/>
          </a:p>
        </p:txBody>
      </p:sp>
      <p:sp>
        <p:nvSpPr>
          <p:cNvPr id="7" name="Text 5"/>
          <p:cNvSpPr/>
          <p:nvPr/>
        </p:nvSpPr>
        <p:spPr>
          <a:xfrm>
            <a:off x="658368" y="1481328"/>
            <a:ext cx="7498080" cy="512064"/>
          </a:xfrm>
          <a:prstGeom prst="rect">
            <a:avLst/>
          </a:prstGeom>
          <a:noFill/>
          <a:ln/>
        </p:spPr>
        <p:txBody>
          <a:bodyPr wrap="square" lIns="0" tIns="0" rIns="0" bIns="0" rtlCol="0" anchor="ctr"/>
          <a:lstStyle/>
          <a:p>
            <a:pPr marL="0" indent="0">
              <a:buNone/>
            </a:pPr>
            <a:r>
              <a:rPr lang="en-US" sz="1150" dirty="0">
                <a:solidFill>
                  <a:srgbClr val="556677"/>
                </a:solidFill>
                <a:latin typeface="Aptos" pitchFamily="34" charset="0"/>
                <a:ea typeface="Aptos" pitchFamily="34" charset="-122"/>
                <a:cs typeface="Aptos" pitchFamily="34" charset="-120"/>
              </a:rPr>
              <a:t>This is the executive view of prompt design, retrieval strategy, reliability, and future training expansion.</a:t>
            </a:r>
            <a:endParaRPr lang="en-US" sz="1150" dirty="0"/>
          </a:p>
        </p:txBody>
      </p:sp>
      <p:sp>
        <p:nvSpPr>
          <p:cNvPr id="8" name="Shape 6"/>
          <p:cNvSpPr/>
          <p:nvPr/>
        </p:nvSpPr>
        <p:spPr>
          <a:xfrm>
            <a:off x="658368" y="1993392"/>
            <a:ext cx="3246120" cy="3584448"/>
          </a:xfrm>
          <a:prstGeom prst="roundRect">
            <a:avLst>
              <a:gd name="adj" fmla="val 2254"/>
            </a:avLst>
          </a:prstGeom>
          <a:solidFill>
            <a:srgbClr val="FFFDFC"/>
          </a:solidFill>
          <a:ln w="13970">
            <a:solidFill>
              <a:srgbClr val="D9E3EA"/>
            </a:solidFill>
            <a:prstDash val="solid"/>
          </a:ln>
          <a:effectLst>
            <a:outerShdw blurRad="12700" dist="50800" dir="2700000" algn="bl" rotWithShape="0">
              <a:srgbClr val="B7C8D5">
                <a:alpha val="12000"/>
              </a:srgbClr>
            </a:outerShdw>
          </a:effectLst>
        </p:spPr>
        <p:txBody>
          <a:bodyPr/>
          <a:lstStyle/>
          <a:p>
            <a:endParaRPr lang="en-US"/>
          </a:p>
        </p:txBody>
      </p:sp>
      <p:sp>
        <p:nvSpPr>
          <p:cNvPr id="9" name="Shape 7"/>
          <p:cNvSpPr/>
          <p:nvPr/>
        </p:nvSpPr>
        <p:spPr>
          <a:xfrm>
            <a:off x="822960" y="2157984"/>
            <a:ext cx="164592" cy="3255264"/>
          </a:xfrm>
          <a:prstGeom prst="roundRect">
            <a:avLst>
              <a:gd name="adj" fmla="val 44444"/>
            </a:avLst>
          </a:prstGeom>
          <a:solidFill>
            <a:srgbClr val="137C71"/>
          </a:solidFill>
          <a:ln w="12700">
            <a:solidFill>
              <a:srgbClr val="137C71"/>
            </a:solidFill>
            <a:prstDash val="solid"/>
          </a:ln>
        </p:spPr>
        <p:txBody>
          <a:bodyPr/>
          <a:lstStyle/>
          <a:p>
            <a:endParaRPr lang="en-US"/>
          </a:p>
        </p:txBody>
      </p:sp>
      <p:sp>
        <p:nvSpPr>
          <p:cNvPr id="10" name="Text 8"/>
          <p:cNvSpPr/>
          <p:nvPr/>
        </p:nvSpPr>
        <p:spPr>
          <a:xfrm>
            <a:off x="1097280" y="2157984"/>
            <a:ext cx="2642616" cy="274320"/>
          </a:xfrm>
          <a:prstGeom prst="rect">
            <a:avLst/>
          </a:prstGeom>
          <a:noFill/>
          <a:ln/>
        </p:spPr>
        <p:txBody>
          <a:bodyPr wrap="square" lIns="0" tIns="0" rIns="0" bIns="0" rtlCol="0" anchor="ctr"/>
          <a:lstStyle/>
          <a:p>
            <a:pPr marL="0" indent="0">
              <a:buNone/>
            </a:pPr>
            <a:r>
              <a:rPr lang="en-US" sz="1500" b="1" dirty="0">
                <a:solidFill>
                  <a:srgbClr val="1D3557"/>
                </a:solidFill>
                <a:latin typeface="Aptos Display" pitchFamily="34" charset="0"/>
                <a:ea typeface="Aptos Display" pitchFamily="34" charset="-122"/>
                <a:cs typeface="Aptos Display" pitchFamily="34" charset="-120"/>
              </a:rPr>
              <a:t>Current technical barriers</a:t>
            </a:r>
            <a:endParaRPr lang="en-US" sz="1500" dirty="0"/>
          </a:p>
        </p:txBody>
      </p:sp>
      <p:sp>
        <p:nvSpPr>
          <p:cNvPr id="11" name="Text 9"/>
          <p:cNvSpPr/>
          <p:nvPr/>
        </p:nvSpPr>
        <p:spPr>
          <a:xfrm>
            <a:off x="1097280" y="2505456"/>
            <a:ext cx="2642616" cy="2889504"/>
          </a:xfrm>
          <a:prstGeom prst="rect">
            <a:avLst/>
          </a:prstGeom>
          <a:noFill/>
          <a:ln/>
        </p:spPr>
        <p:txBody>
          <a:bodyPr wrap="square" lIns="0" tIns="0" rIns="0" bIns="0" rtlCol="0" anchor="t"/>
          <a:lstStyle/>
          <a:p>
            <a:pPr marL="0" indent="0">
              <a:buNone/>
            </a:pPr>
            <a:r>
              <a:rPr lang="en-US" sz="1030" dirty="0">
                <a:solidFill>
                  <a:srgbClr val="556677"/>
                </a:solidFill>
                <a:latin typeface="Aptos" pitchFamily="34" charset="0"/>
                <a:ea typeface="Aptos" pitchFamily="34" charset="-122"/>
                <a:cs typeface="Aptos" pitchFamily="34" charset="-120"/>
              </a:rPr>
              <a:t>• Massachusetts-specific rule code for screening, household logic, FPL calculations, and document requirements</a:t>
            </a:r>
            <a:endParaRPr lang="en-US" sz="1030" dirty="0"/>
          </a:p>
          <a:p>
            <a:pPr marL="0" indent="0">
              <a:buNone/>
            </a:pPr>
            <a:r>
              <a:rPr lang="en-US" sz="1030" dirty="0">
                <a:solidFill>
                  <a:srgbClr val="556677"/>
                </a:solidFill>
                <a:latin typeface="Aptos" pitchFamily="34" charset="0"/>
                <a:ea typeface="Aptos" pitchFamily="34" charset="-122"/>
                <a:cs typeface="Aptos" pitchFamily="34" charset="-120"/>
              </a:rPr>
              <a:t>• Multiple AI modes with narrow prompts instead of a single generic assistant</a:t>
            </a:r>
            <a:endParaRPr lang="en-US" sz="1030" dirty="0"/>
          </a:p>
          <a:p>
            <a:pPr marL="0" indent="0">
              <a:buNone/>
            </a:pPr>
            <a:r>
              <a:rPr lang="en-US" sz="1030" dirty="0">
                <a:solidFill>
                  <a:srgbClr val="556677"/>
                </a:solidFill>
                <a:latin typeface="Aptos" pitchFamily="34" charset="0"/>
                <a:ea typeface="Aptos" pitchFamily="34" charset="-122"/>
                <a:cs typeface="Aptos" pitchFamily="34" charset="-120"/>
              </a:rPr>
              <a:t>• Staff workflow surfaces that create durable operational switching costs</a:t>
            </a:r>
            <a:endParaRPr lang="en-US" sz="1030" dirty="0"/>
          </a:p>
          <a:p>
            <a:pPr marL="0" indent="0">
              <a:buNone/>
            </a:pPr>
            <a:r>
              <a:rPr lang="en-US" sz="1030" dirty="0">
                <a:solidFill>
                  <a:srgbClr val="556677"/>
                </a:solidFill>
                <a:latin typeface="Aptos" pitchFamily="34" charset="0"/>
                <a:ea typeface="Aptos" pitchFamily="34" charset="-122"/>
                <a:cs typeface="Aptos" pitchFamily="34" charset="-120"/>
              </a:rPr>
              <a:t>• Local/private inference posture for sensitive health and benefits data</a:t>
            </a:r>
            <a:endParaRPr lang="en-US" sz="1030" dirty="0"/>
          </a:p>
        </p:txBody>
      </p:sp>
      <p:sp>
        <p:nvSpPr>
          <p:cNvPr id="12" name="Shape 10"/>
          <p:cNvSpPr/>
          <p:nvPr/>
        </p:nvSpPr>
        <p:spPr>
          <a:xfrm>
            <a:off x="4114800" y="1993392"/>
            <a:ext cx="2331720" cy="1444752"/>
          </a:xfrm>
          <a:prstGeom prst="roundRect">
            <a:avLst>
              <a:gd name="adj" fmla="val 5063"/>
            </a:avLst>
          </a:prstGeom>
          <a:solidFill>
            <a:srgbClr val="FFFDFC"/>
          </a:solidFill>
          <a:ln w="13970">
            <a:solidFill>
              <a:srgbClr val="D9E3EA"/>
            </a:solidFill>
            <a:prstDash val="solid"/>
          </a:ln>
          <a:effectLst>
            <a:outerShdw blurRad="12700" dist="50800" dir="2700000" algn="bl" rotWithShape="0">
              <a:srgbClr val="B7C8D5">
                <a:alpha val="12000"/>
              </a:srgbClr>
            </a:outerShdw>
          </a:effectLst>
        </p:spPr>
        <p:txBody>
          <a:bodyPr/>
          <a:lstStyle/>
          <a:p>
            <a:endParaRPr lang="en-US"/>
          </a:p>
        </p:txBody>
      </p:sp>
      <p:sp>
        <p:nvSpPr>
          <p:cNvPr id="13" name="Shape 11"/>
          <p:cNvSpPr/>
          <p:nvPr/>
        </p:nvSpPr>
        <p:spPr>
          <a:xfrm>
            <a:off x="4279392" y="2157984"/>
            <a:ext cx="164592" cy="1115568"/>
          </a:xfrm>
          <a:prstGeom prst="roundRect">
            <a:avLst>
              <a:gd name="adj" fmla="val 44444"/>
            </a:avLst>
          </a:prstGeom>
          <a:solidFill>
            <a:srgbClr val="5DB7DE"/>
          </a:solidFill>
          <a:ln w="12700">
            <a:solidFill>
              <a:srgbClr val="5DB7DE"/>
            </a:solidFill>
            <a:prstDash val="solid"/>
          </a:ln>
        </p:spPr>
        <p:txBody>
          <a:bodyPr/>
          <a:lstStyle/>
          <a:p>
            <a:endParaRPr lang="en-US"/>
          </a:p>
        </p:txBody>
      </p:sp>
      <p:sp>
        <p:nvSpPr>
          <p:cNvPr id="14" name="Text 12"/>
          <p:cNvSpPr/>
          <p:nvPr/>
        </p:nvSpPr>
        <p:spPr>
          <a:xfrm>
            <a:off x="4553712" y="2157984"/>
            <a:ext cx="1728216" cy="274320"/>
          </a:xfrm>
          <a:prstGeom prst="rect">
            <a:avLst/>
          </a:prstGeom>
          <a:noFill/>
          <a:ln/>
        </p:spPr>
        <p:txBody>
          <a:bodyPr wrap="square" lIns="0" tIns="0" rIns="0" bIns="0" rtlCol="0" anchor="ctr"/>
          <a:lstStyle/>
          <a:p>
            <a:pPr marL="0" indent="0">
              <a:buNone/>
            </a:pPr>
            <a:r>
              <a:rPr lang="en-US" sz="1500" b="1" dirty="0">
                <a:solidFill>
                  <a:srgbClr val="1D3557"/>
                </a:solidFill>
                <a:latin typeface="Aptos Display" pitchFamily="34" charset="0"/>
                <a:ea typeface="Aptos Display" pitchFamily="34" charset="-122"/>
                <a:cs typeface="Aptos Display" pitchFamily="34" charset="-120"/>
              </a:rPr>
              <a:t>Prompt design</a:t>
            </a:r>
            <a:endParaRPr lang="en-US" sz="1500" dirty="0"/>
          </a:p>
        </p:txBody>
      </p:sp>
      <p:sp>
        <p:nvSpPr>
          <p:cNvPr id="15" name="Text 13"/>
          <p:cNvSpPr/>
          <p:nvPr/>
        </p:nvSpPr>
        <p:spPr>
          <a:xfrm>
            <a:off x="4553712" y="2505456"/>
            <a:ext cx="1728216" cy="749808"/>
          </a:xfrm>
          <a:prstGeom prst="rect">
            <a:avLst/>
          </a:prstGeom>
          <a:noFill/>
          <a:ln/>
        </p:spPr>
        <p:txBody>
          <a:bodyPr wrap="square" lIns="0" tIns="0" rIns="0" bIns="0" rtlCol="0" anchor="t"/>
          <a:lstStyle/>
          <a:p>
            <a:pPr marL="0" indent="0">
              <a:buNone/>
            </a:pPr>
            <a:r>
              <a:rPr lang="en-US" sz="940" dirty="0">
                <a:solidFill>
                  <a:srgbClr val="556677"/>
                </a:solidFill>
                <a:latin typeface="Aptos" pitchFamily="34" charset="0"/>
                <a:ea typeface="Aptos" pitchFamily="34" charset="-122"/>
                <a:cs typeface="Aptos" pitchFamily="34" charset="-120"/>
              </a:rPr>
              <a:t>Mode-specific prompts for intake, benefit advising, form assistance, and appeals. Structured outputs are validated before the product acts on them.</a:t>
            </a:r>
            <a:endParaRPr lang="en-US" sz="940" dirty="0"/>
          </a:p>
        </p:txBody>
      </p:sp>
      <p:sp>
        <p:nvSpPr>
          <p:cNvPr id="16" name="Shape 14"/>
          <p:cNvSpPr/>
          <p:nvPr/>
        </p:nvSpPr>
        <p:spPr>
          <a:xfrm>
            <a:off x="6565392" y="1993392"/>
            <a:ext cx="2331720" cy="1444752"/>
          </a:xfrm>
          <a:prstGeom prst="roundRect">
            <a:avLst>
              <a:gd name="adj" fmla="val 5063"/>
            </a:avLst>
          </a:prstGeom>
          <a:solidFill>
            <a:srgbClr val="FFFDFC"/>
          </a:solidFill>
          <a:ln w="13970">
            <a:solidFill>
              <a:srgbClr val="D9E3EA"/>
            </a:solidFill>
            <a:prstDash val="solid"/>
          </a:ln>
          <a:effectLst>
            <a:outerShdw blurRad="12700" dist="50800" dir="2700000" algn="bl" rotWithShape="0">
              <a:srgbClr val="B7C8D5">
                <a:alpha val="12000"/>
              </a:srgbClr>
            </a:outerShdw>
          </a:effectLst>
        </p:spPr>
        <p:txBody>
          <a:bodyPr/>
          <a:lstStyle/>
          <a:p>
            <a:endParaRPr lang="en-US"/>
          </a:p>
        </p:txBody>
      </p:sp>
      <p:sp>
        <p:nvSpPr>
          <p:cNvPr id="17" name="Shape 15"/>
          <p:cNvSpPr/>
          <p:nvPr/>
        </p:nvSpPr>
        <p:spPr>
          <a:xfrm>
            <a:off x="6729984" y="2157984"/>
            <a:ext cx="164592" cy="1115568"/>
          </a:xfrm>
          <a:prstGeom prst="roundRect">
            <a:avLst>
              <a:gd name="adj" fmla="val 44444"/>
            </a:avLst>
          </a:prstGeom>
          <a:solidFill>
            <a:srgbClr val="F2C14E"/>
          </a:solidFill>
          <a:ln w="12700">
            <a:solidFill>
              <a:srgbClr val="F2C14E"/>
            </a:solidFill>
            <a:prstDash val="solid"/>
          </a:ln>
        </p:spPr>
        <p:txBody>
          <a:bodyPr/>
          <a:lstStyle/>
          <a:p>
            <a:endParaRPr lang="en-US"/>
          </a:p>
        </p:txBody>
      </p:sp>
      <p:sp>
        <p:nvSpPr>
          <p:cNvPr id="18" name="Text 16"/>
          <p:cNvSpPr/>
          <p:nvPr/>
        </p:nvSpPr>
        <p:spPr>
          <a:xfrm>
            <a:off x="7004304" y="2157984"/>
            <a:ext cx="1728216" cy="274320"/>
          </a:xfrm>
          <a:prstGeom prst="rect">
            <a:avLst/>
          </a:prstGeom>
          <a:noFill/>
          <a:ln/>
        </p:spPr>
        <p:txBody>
          <a:bodyPr wrap="square" lIns="0" tIns="0" rIns="0" bIns="0" rtlCol="0" anchor="ctr"/>
          <a:lstStyle/>
          <a:p>
            <a:pPr marL="0" indent="0">
              <a:buNone/>
            </a:pPr>
            <a:r>
              <a:rPr lang="en-US" sz="1500" b="1" dirty="0">
                <a:solidFill>
                  <a:srgbClr val="1D3557"/>
                </a:solidFill>
                <a:latin typeface="Aptos Display" pitchFamily="34" charset="0"/>
                <a:ea typeface="Aptos Display" pitchFamily="34" charset="-122"/>
                <a:cs typeface="Aptos Display" pitchFamily="34" charset="-120"/>
              </a:rPr>
              <a:t>Retrieval strategy</a:t>
            </a:r>
            <a:endParaRPr lang="en-US" sz="1500" dirty="0"/>
          </a:p>
        </p:txBody>
      </p:sp>
      <p:sp>
        <p:nvSpPr>
          <p:cNvPr id="19" name="Text 17"/>
          <p:cNvSpPr/>
          <p:nvPr/>
        </p:nvSpPr>
        <p:spPr>
          <a:xfrm>
            <a:off x="7004304" y="2505456"/>
            <a:ext cx="1728216" cy="749808"/>
          </a:xfrm>
          <a:prstGeom prst="rect">
            <a:avLst/>
          </a:prstGeom>
          <a:noFill/>
          <a:ln/>
        </p:spPr>
        <p:txBody>
          <a:bodyPr wrap="square" lIns="0" tIns="0" rIns="0" bIns="0" rtlCol="0" anchor="t"/>
          <a:lstStyle/>
          <a:p>
            <a:pPr marL="0" indent="0">
              <a:buNone/>
            </a:pPr>
            <a:r>
              <a:rPr lang="en-US" sz="940" dirty="0">
                <a:solidFill>
                  <a:srgbClr val="556677"/>
                </a:solidFill>
                <a:latin typeface="Aptos" pitchFamily="34" charset="0"/>
                <a:ea typeface="Aptos" pitchFamily="34" charset="-122"/>
                <a:cs typeface="Aptos" pitchFamily="34" charset="-120"/>
              </a:rPr>
              <a:t>Task-specific pgvector retrieval from policy chunks. Queries are derived from denial reason, top program, or current form step, not full chat history.</a:t>
            </a:r>
            <a:endParaRPr lang="en-US" sz="940" dirty="0"/>
          </a:p>
        </p:txBody>
      </p:sp>
      <p:sp>
        <p:nvSpPr>
          <p:cNvPr id="20" name="Shape 18"/>
          <p:cNvSpPr/>
          <p:nvPr/>
        </p:nvSpPr>
        <p:spPr>
          <a:xfrm>
            <a:off x="9015984" y="1993392"/>
            <a:ext cx="2286000" cy="1444752"/>
          </a:xfrm>
          <a:prstGeom prst="roundRect">
            <a:avLst>
              <a:gd name="adj" fmla="val 5063"/>
            </a:avLst>
          </a:prstGeom>
          <a:solidFill>
            <a:srgbClr val="FFFDFC"/>
          </a:solidFill>
          <a:ln w="13970">
            <a:solidFill>
              <a:srgbClr val="D9E3EA"/>
            </a:solidFill>
            <a:prstDash val="solid"/>
          </a:ln>
          <a:effectLst>
            <a:outerShdw blurRad="12700" dist="50800" dir="2700000" algn="bl" rotWithShape="0">
              <a:srgbClr val="B7C8D5">
                <a:alpha val="12000"/>
              </a:srgbClr>
            </a:outerShdw>
          </a:effectLst>
        </p:spPr>
        <p:txBody>
          <a:bodyPr/>
          <a:lstStyle/>
          <a:p>
            <a:endParaRPr lang="en-US"/>
          </a:p>
        </p:txBody>
      </p:sp>
      <p:sp>
        <p:nvSpPr>
          <p:cNvPr id="21" name="Shape 19"/>
          <p:cNvSpPr/>
          <p:nvPr/>
        </p:nvSpPr>
        <p:spPr>
          <a:xfrm>
            <a:off x="9180576" y="2157984"/>
            <a:ext cx="164592" cy="1115568"/>
          </a:xfrm>
          <a:prstGeom prst="roundRect">
            <a:avLst>
              <a:gd name="adj" fmla="val 44444"/>
            </a:avLst>
          </a:prstGeom>
          <a:solidFill>
            <a:srgbClr val="E8825E"/>
          </a:solidFill>
          <a:ln w="12700">
            <a:solidFill>
              <a:srgbClr val="E8825E"/>
            </a:solidFill>
            <a:prstDash val="solid"/>
          </a:ln>
        </p:spPr>
        <p:txBody>
          <a:bodyPr/>
          <a:lstStyle/>
          <a:p>
            <a:endParaRPr lang="en-US"/>
          </a:p>
        </p:txBody>
      </p:sp>
      <p:sp>
        <p:nvSpPr>
          <p:cNvPr id="22" name="Text 20"/>
          <p:cNvSpPr/>
          <p:nvPr/>
        </p:nvSpPr>
        <p:spPr>
          <a:xfrm>
            <a:off x="9454896" y="2157984"/>
            <a:ext cx="1682496" cy="274320"/>
          </a:xfrm>
          <a:prstGeom prst="rect">
            <a:avLst/>
          </a:prstGeom>
          <a:noFill/>
          <a:ln/>
        </p:spPr>
        <p:txBody>
          <a:bodyPr wrap="square" lIns="0" tIns="0" rIns="0" bIns="0" rtlCol="0" anchor="ctr"/>
          <a:lstStyle/>
          <a:p>
            <a:pPr marL="0" indent="0">
              <a:buNone/>
            </a:pPr>
            <a:r>
              <a:rPr lang="en-US" sz="1500" b="1" dirty="0">
                <a:solidFill>
                  <a:srgbClr val="1D3557"/>
                </a:solidFill>
                <a:latin typeface="Aptos Display" pitchFamily="34" charset="0"/>
                <a:ea typeface="Aptos Display" pitchFamily="34" charset="-122"/>
                <a:cs typeface="Aptos Display" pitchFamily="34" charset="-120"/>
              </a:rPr>
              <a:t>Eval signals</a:t>
            </a:r>
            <a:endParaRPr lang="en-US" sz="1500" dirty="0"/>
          </a:p>
        </p:txBody>
      </p:sp>
      <p:sp>
        <p:nvSpPr>
          <p:cNvPr id="23" name="Text 21"/>
          <p:cNvSpPr/>
          <p:nvPr/>
        </p:nvSpPr>
        <p:spPr>
          <a:xfrm>
            <a:off x="9454896" y="2505456"/>
            <a:ext cx="1682496" cy="749808"/>
          </a:xfrm>
          <a:prstGeom prst="rect">
            <a:avLst/>
          </a:prstGeom>
          <a:noFill/>
          <a:ln/>
        </p:spPr>
        <p:txBody>
          <a:bodyPr wrap="square" lIns="0" tIns="0" rIns="0" bIns="0" rtlCol="0" anchor="t"/>
          <a:lstStyle/>
          <a:p>
            <a:pPr marL="0" indent="0">
              <a:buNone/>
            </a:pPr>
            <a:r>
              <a:rPr lang="en-US" sz="940" dirty="0">
                <a:solidFill>
                  <a:srgbClr val="556677"/>
                </a:solidFill>
                <a:latin typeface="Aptos" pitchFamily="34" charset="0"/>
                <a:ea typeface="Aptos" pitchFamily="34" charset="-122"/>
                <a:cs typeface="Aptos" pitchFamily="34" charset="-120"/>
              </a:rPr>
              <a:t>Parse success, factual grounding, multilingual consistency, extraction precision, reviewer override rate, completion time, and appeal readiness.</a:t>
            </a:r>
            <a:endParaRPr lang="en-US" sz="940" dirty="0"/>
          </a:p>
        </p:txBody>
      </p:sp>
      <p:sp>
        <p:nvSpPr>
          <p:cNvPr id="24" name="Shape 22"/>
          <p:cNvSpPr/>
          <p:nvPr/>
        </p:nvSpPr>
        <p:spPr>
          <a:xfrm>
            <a:off x="4114800" y="3703320"/>
            <a:ext cx="7187184" cy="1874520"/>
          </a:xfrm>
          <a:prstGeom prst="roundRect">
            <a:avLst>
              <a:gd name="adj" fmla="val 3902"/>
            </a:avLst>
          </a:prstGeom>
          <a:solidFill>
            <a:srgbClr val="FFFDFC"/>
          </a:solidFill>
          <a:ln w="13970">
            <a:solidFill>
              <a:srgbClr val="D9E3EA"/>
            </a:solidFill>
            <a:prstDash val="solid"/>
          </a:ln>
          <a:effectLst>
            <a:outerShdw blurRad="12700" dist="50800" dir="2700000" algn="bl" rotWithShape="0">
              <a:srgbClr val="B7C8D5">
                <a:alpha val="12000"/>
              </a:srgbClr>
            </a:outerShdw>
          </a:effectLst>
        </p:spPr>
        <p:txBody>
          <a:bodyPr/>
          <a:lstStyle/>
          <a:p>
            <a:endParaRPr lang="en-US"/>
          </a:p>
        </p:txBody>
      </p:sp>
      <p:sp>
        <p:nvSpPr>
          <p:cNvPr id="25" name="Shape 23"/>
          <p:cNvSpPr/>
          <p:nvPr/>
        </p:nvSpPr>
        <p:spPr>
          <a:xfrm>
            <a:off x="4279392" y="3867912"/>
            <a:ext cx="164592" cy="1545336"/>
          </a:xfrm>
          <a:prstGeom prst="roundRect">
            <a:avLst>
              <a:gd name="adj" fmla="val 44444"/>
            </a:avLst>
          </a:prstGeom>
          <a:solidFill>
            <a:srgbClr val="137C71"/>
          </a:solidFill>
          <a:ln w="12700">
            <a:solidFill>
              <a:srgbClr val="137C71"/>
            </a:solidFill>
            <a:prstDash val="solid"/>
          </a:ln>
        </p:spPr>
        <p:txBody>
          <a:bodyPr/>
          <a:lstStyle/>
          <a:p>
            <a:endParaRPr lang="en-US"/>
          </a:p>
        </p:txBody>
      </p:sp>
      <p:sp>
        <p:nvSpPr>
          <p:cNvPr id="26" name="Text 24"/>
          <p:cNvSpPr/>
          <p:nvPr/>
        </p:nvSpPr>
        <p:spPr>
          <a:xfrm>
            <a:off x="4553712" y="3867912"/>
            <a:ext cx="6583680" cy="274320"/>
          </a:xfrm>
          <a:prstGeom prst="rect">
            <a:avLst/>
          </a:prstGeom>
          <a:noFill/>
          <a:ln/>
        </p:spPr>
        <p:txBody>
          <a:bodyPr wrap="square" lIns="0" tIns="0" rIns="0" bIns="0" rtlCol="0" anchor="ctr"/>
          <a:lstStyle/>
          <a:p>
            <a:pPr marL="0" indent="0">
              <a:buNone/>
            </a:pPr>
            <a:r>
              <a:rPr lang="en-US" sz="1500" b="1" dirty="0">
                <a:solidFill>
                  <a:srgbClr val="1D3557"/>
                </a:solidFill>
                <a:latin typeface="Aptos Display" pitchFamily="34" charset="0"/>
                <a:ea typeface="Aptos Display" pitchFamily="34" charset="-122"/>
                <a:cs typeface="Aptos Display" pitchFamily="34" charset="-120"/>
              </a:rPr>
              <a:t>Training and learning flywheel</a:t>
            </a:r>
            <a:endParaRPr lang="en-US" sz="1500" dirty="0"/>
          </a:p>
        </p:txBody>
      </p:sp>
      <p:sp>
        <p:nvSpPr>
          <p:cNvPr id="27" name="Text 25"/>
          <p:cNvSpPr/>
          <p:nvPr/>
        </p:nvSpPr>
        <p:spPr>
          <a:xfrm>
            <a:off x="4553712" y="4215384"/>
            <a:ext cx="6583680" cy="1179576"/>
          </a:xfrm>
          <a:prstGeom prst="rect">
            <a:avLst/>
          </a:prstGeom>
          <a:noFill/>
          <a:ln/>
        </p:spPr>
        <p:txBody>
          <a:bodyPr wrap="square" lIns="0" tIns="0" rIns="0" bIns="0" rtlCol="0" anchor="t"/>
          <a:lstStyle/>
          <a:p>
            <a:pPr marL="0" indent="0">
              <a:buNone/>
            </a:pPr>
            <a:r>
              <a:rPr lang="en-US" sz="1010" dirty="0">
                <a:solidFill>
                  <a:srgbClr val="556677"/>
                </a:solidFill>
                <a:latin typeface="Aptos" pitchFamily="34" charset="0"/>
                <a:ea typeface="Aptos" pitchFamily="34" charset="-122"/>
                <a:cs typeface="Aptos" pitchFamily="34" charset="-120"/>
              </a:rPr>
              <a:t>Current: curated policy corpus, denial categories, domain prompts, reviewer-facing workflow data, and real multilingual interactions.</a:t>
            </a:r>
            <a:endParaRPr lang="en-US" sz="1010" dirty="0"/>
          </a:p>
          <a:p>
            <a:pPr marL="0" indent="0">
              <a:buNone/>
            </a:pPr>
            <a:r>
              <a:rPr lang="en-US" sz="1010" dirty="0">
                <a:solidFill>
                  <a:srgbClr val="556677"/>
                </a:solidFill>
                <a:latin typeface="Aptos" pitchFamily="34" charset="0"/>
                <a:ea typeface="Aptos" pitchFamily="34" charset="-122"/>
                <a:cs typeface="Aptos" pitchFamily="34" charset="-120"/>
              </a:rPr>
              <a:t>Next: benchmark suites for benefits Q&amp;A and extraction, denial-outcome datasets, reviewer feedback loops, document-AI labeling, and fine-tuned or adapter-based models for high-value tasks like appeal generation and document normalization.</a:t>
            </a:r>
            <a:endParaRPr lang="en-US" sz="1010" dirty="0"/>
          </a:p>
        </p:txBody>
      </p:sp>
      <p:sp>
        <p:nvSpPr>
          <p:cNvPr id="28" name="Text 26"/>
          <p:cNvSpPr/>
          <p:nvPr/>
        </p:nvSpPr>
        <p:spPr>
          <a:xfrm>
            <a:off x="548640" y="6455664"/>
            <a:ext cx="4937760" cy="164592"/>
          </a:xfrm>
          <a:prstGeom prst="rect">
            <a:avLst/>
          </a:prstGeom>
          <a:noFill/>
          <a:ln/>
        </p:spPr>
        <p:txBody>
          <a:bodyPr wrap="square" lIns="0" tIns="0" rIns="0" bIns="0" rtlCol="0" anchor="ctr"/>
          <a:lstStyle/>
          <a:p>
            <a:pPr marL="0" indent="0">
              <a:buNone/>
            </a:pPr>
            <a:r>
              <a:rPr lang="en-US" sz="950" dirty="0">
                <a:solidFill>
                  <a:srgbClr val="556677"/>
                </a:solidFill>
                <a:latin typeface="Aptos" pitchFamily="34" charset="0"/>
                <a:ea typeface="Aptos" pitchFamily="34" charset="-122"/>
                <a:cs typeface="Aptos" pitchFamily="34" charset="-120"/>
              </a:rPr>
              <a:t>HealthCompass MA  |  Executive Summary  |  April 2026</a:t>
            </a:r>
            <a:endParaRPr lang="en-US" sz="950" dirty="0"/>
          </a:p>
        </p:txBody>
      </p:sp>
      <p:sp>
        <p:nvSpPr>
          <p:cNvPr id="29" name="Text 27"/>
          <p:cNvSpPr/>
          <p:nvPr/>
        </p:nvSpPr>
        <p:spPr>
          <a:xfrm>
            <a:off x="10469880" y="6455664"/>
            <a:ext cx="1097280" cy="164592"/>
          </a:xfrm>
          <a:prstGeom prst="rect">
            <a:avLst/>
          </a:prstGeom>
          <a:noFill/>
          <a:ln/>
        </p:spPr>
        <p:txBody>
          <a:bodyPr wrap="square" lIns="0" tIns="0" rIns="0" bIns="0" rtlCol="0" anchor="ctr"/>
          <a:lstStyle/>
          <a:p>
            <a:pPr marL="0" indent="0" algn="r">
              <a:buNone/>
            </a:pPr>
            <a:r>
              <a:rPr lang="en-US" sz="950" dirty="0">
                <a:solidFill>
                  <a:srgbClr val="556677"/>
                </a:solidFill>
                <a:latin typeface="Aptos" pitchFamily="34" charset="0"/>
                <a:ea typeface="Aptos" pitchFamily="34" charset="-122"/>
                <a:cs typeface="Aptos" pitchFamily="34" charset="-120"/>
              </a:rPr>
              <a:t>Confidential</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137C71"/>
          </a:solidFill>
          <a:ln w="12700">
            <a:solidFill>
              <a:srgbClr val="137C71"/>
            </a:solidFill>
            <a:prstDash val="solid"/>
          </a:ln>
        </p:spPr>
        <p:txBody>
          <a:bodyPr/>
          <a:lstStyle/>
          <a:p>
            <a:endParaRPr lang="en-US"/>
          </a:p>
        </p:txBody>
      </p:sp>
      <p:sp>
        <p:nvSpPr>
          <p:cNvPr id="3" name="Shape 1"/>
          <p:cNvSpPr/>
          <p:nvPr/>
        </p:nvSpPr>
        <p:spPr>
          <a:xfrm>
            <a:off x="9509760" y="-640080"/>
            <a:ext cx="2926080" cy="2011680"/>
          </a:xfrm>
          <a:prstGeom prst="ellipse">
            <a:avLst/>
          </a:prstGeom>
          <a:solidFill>
            <a:srgbClr val="E9F5FB">
              <a:alpha val="65000"/>
            </a:srgbClr>
          </a:solidFill>
          <a:ln w="12700">
            <a:solidFill>
              <a:srgbClr val="E9F5FB">
                <a:alpha val="0"/>
              </a:srgbClr>
            </a:solidFill>
            <a:prstDash val="solid"/>
          </a:ln>
        </p:spPr>
        <p:txBody>
          <a:bodyPr/>
          <a:lstStyle/>
          <a:p>
            <a:endParaRPr lang="en-US"/>
          </a:p>
        </p:txBody>
      </p:sp>
      <p:sp>
        <p:nvSpPr>
          <p:cNvPr id="4" name="Shape 2"/>
          <p:cNvSpPr/>
          <p:nvPr/>
        </p:nvSpPr>
        <p:spPr>
          <a:xfrm>
            <a:off x="-731520" y="5212080"/>
            <a:ext cx="2377440" cy="1737360"/>
          </a:xfrm>
          <a:prstGeom prst="ellipse">
            <a:avLst/>
          </a:prstGeom>
          <a:solidFill>
            <a:srgbClr val="DFF5F1">
              <a:alpha val="70000"/>
            </a:srgbClr>
          </a:solidFill>
          <a:ln w="12700">
            <a:solidFill>
              <a:srgbClr val="DFF5F1">
                <a:alpha val="0"/>
              </a:srgbClr>
            </a:solidFill>
            <a:prstDash val="solid"/>
          </a:ln>
        </p:spPr>
        <p:txBody>
          <a:bodyPr/>
          <a:lstStyle/>
          <a:p>
            <a:endParaRPr lang="en-US"/>
          </a:p>
        </p:txBody>
      </p:sp>
      <p:sp>
        <p:nvSpPr>
          <p:cNvPr id="5" name="Text 3"/>
          <p:cNvSpPr/>
          <p:nvPr/>
        </p:nvSpPr>
        <p:spPr>
          <a:xfrm>
            <a:off x="640080" y="438912"/>
            <a:ext cx="3474720" cy="201168"/>
          </a:xfrm>
          <a:prstGeom prst="rect">
            <a:avLst/>
          </a:prstGeom>
          <a:noFill/>
          <a:ln/>
        </p:spPr>
        <p:txBody>
          <a:bodyPr wrap="square" lIns="0" tIns="0" rIns="0" bIns="0" rtlCol="0" anchor="ctr"/>
          <a:lstStyle/>
          <a:p>
            <a:pPr marL="0" indent="0">
              <a:buNone/>
            </a:pPr>
            <a:r>
              <a:rPr lang="en-US" sz="1050" b="1" dirty="0">
                <a:solidFill>
                  <a:srgbClr val="137C71"/>
                </a:solidFill>
                <a:latin typeface="Aptos" pitchFamily="34" charset="0"/>
                <a:ea typeface="Aptos" pitchFamily="34" charset="-122"/>
                <a:cs typeface="Aptos" pitchFamily="34" charset="-120"/>
              </a:rPr>
              <a:t>HOW THE TECHNOLOGY HELPS PATIENTS</a:t>
            </a:r>
            <a:endParaRPr lang="en-US" sz="1050" dirty="0"/>
          </a:p>
        </p:txBody>
      </p:sp>
      <p:sp>
        <p:nvSpPr>
          <p:cNvPr id="6" name="Text 4"/>
          <p:cNvSpPr/>
          <p:nvPr/>
        </p:nvSpPr>
        <p:spPr>
          <a:xfrm>
            <a:off x="640080" y="749808"/>
            <a:ext cx="7498080" cy="713232"/>
          </a:xfrm>
          <a:prstGeom prst="rect">
            <a:avLst/>
          </a:prstGeom>
          <a:noFill/>
          <a:ln/>
        </p:spPr>
        <p:txBody>
          <a:bodyPr wrap="square" lIns="0" tIns="0" rIns="0" bIns="0" rtlCol="0" anchor="ctr"/>
          <a:lstStyle/>
          <a:p>
            <a:pPr marL="0" indent="0">
              <a:buNone/>
            </a:pPr>
            <a:r>
              <a:rPr lang="en-US" sz="2400" b="1" dirty="0">
                <a:solidFill>
                  <a:srgbClr val="1D3557"/>
                </a:solidFill>
                <a:latin typeface="Aptos Display" pitchFamily="34" charset="0"/>
                <a:ea typeface="Aptos Display" pitchFamily="34" charset="-122"/>
                <a:cs typeface="Aptos Display" pitchFamily="34" charset="-120"/>
              </a:rPr>
              <a:t>The patient value is practical: discover more benefits, finish more applications, and recover faster after denials.</a:t>
            </a:r>
            <a:endParaRPr lang="en-US" sz="2400" dirty="0"/>
          </a:p>
        </p:txBody>
      </p:sp>
      <p:sp>
        <p:nvSpPr>
          <p:cNvPr id="7" name="Text 5"/>
          <p:cNvSpPr/>
          <p:nvPr/>
        </p:nvSpPr>
        <p:spPr>
          <a:xfrm>
            <a:off x="658368" y="1481328"/>
            <a:ext cx="6675120" cy="512064"/>
          </a:xfrm>
          <a:prstGeom prst="rect">
            <a:avLst/>
          </a:prstGeom>
          <a:noFill/>
          <a:ln/>
        </p:spPr>
        <p:txBody>
          <a:bodyPr wrap="square" lIns="0" tIns="0" rIns="0" bIns="0" rtlCol="0" anchor="ctr"/>
          <a:lstStyle/>
          <a:p>
            <a:pPr marL="0" indent="0">
              <a:buNone/>
            </a:pPr>
            <a:r>
              <a:rPr lang="en-US" sz="1150" dirty="0">
                <a:solidFill>
                  <a:srgbClr val="556677"/>
                </a:solidFill>
                <a:latin typeface="Aptos" pitchFamily="34" charset="0"/>
                <a:ea typeface="Aptos" pitchFamily="34" charset="-122"/>
                <a:cs typeface="Aptos" pitchFamily="34" charset="-120"/>
              </a:rPr>
              <a:t>Every workflow is designed to lower literacy, language, and process friction.</a:t>
            </a:r>
            <a:endParaRPr lang="en-US" sz="1150" dirty="0"/>
          </a:p>
        </p:txBody>
      </p:sp>
      <p:sp>
        <p:nvSpPr>
          <p:cNvPr id="8" name="Shape 6"/>
          <p:cNvSpPr/>
          <p:nvPr/>
        </p:nvSpPr>
        <p:spPr>
          <a:xfrm>
            <a:off x="658368" y="2084832"/>
            <a:ext cx="3547872" cy="3054096"/>
          </a:xfrm>
          <a:prstGeom prst="roundRect">
            <a:avLst>
              <a:gd name="adj" fmla="val 2395"/>
            </a:avLst>
          </a:prstGeom>
          <a:solidFill>
            <a:srgbClr val="FFFDFC"/>
          </a:solidFill>
          <a:ln w="13970">
            <a:solidFill>
              <a:srgbClr val="D9E3EA"/>
            </a:solidFill>
            <a:prstDash val="solid"/>
          </a:ln>
          <a:effectLst>
            <a:outerShdw blurRad="12700" dist="50800" dir="2700000" algn="bl" rotWithShape="0">
              <a:srgbClr val="B7C8D5">
                <a:alpha val="12000"/>
              </a:srgbClr>
            </a:outerShdw>
          </a:effectLst>
        </p:spPr>
        <p:txBody>
          <a:bodyPr/>
          <a:lstStyle/>
          <a:p>
            <a:endParaRPr lang="en-US"/>
          </a:p>
        </p:txBody>
      </p:sp>
      <p:sp>
        <p:nvSpPr>
          <p:cNvPr id="9" name="Shape 7"/>
          <p:cNvSpPr/>
          <p:nvPr/>
        </p:nvSpPr>
        <p:spPr>
          <a:xfrm>
            <a:off x="822960" y="2249424"/>
            <a:ext cx="164592" cy="2724912"/>
          </a:xfrm>
          <a:prstGeom prst="roundRect">
            <a:avLst>
              <a:gd name="adj" fmla="val 44444"/>
            </a:avLst>
          </a:prstGeom>
          <a:solidFill>
            <a:srgbClr val="137C71"/>
          </a:solidFill>
          <a:ln w="12700">
            <a:solidFill>
              <a:srgbClr val="137C71"/>
            </a:solidFill>
            <a:prstDash val="solid"/>
          </a:ln>
        </p:spPr>
        <p:txBody>
          <a:bodyPr/>
          <a:lstStyle/>
          <a:p>
            <a:endParaRPr lang="en-US"/>
          </a:p>
        </p:txBody>
      </p:sp>
      <p:sp>
        <p:nvSpPr>
          <p:cNvPr id="10" name="Text 8"/>
          <p:cNvSpPr/>
          <p:nvPr/>
        </p:nvSpPr>
        <p:spPr>
          <a:xfrm>
            <a:off x="1097280" y="2249424"/>
            <a:ext cx="2944368" cy="274320"/>
          </a:xfrm>
          <a:prstGeom prst="rect">
            <a:avLst/>
          </a:prstGeom>
          <a:noFill/>
          <a:ln/>
        </p:spPr>
        <p:txBody>
          <a:bodyPr wrap="square" lIns="0" tIns="0" rIns="0" bIns="0" rtlCol="0" anchor="ctr"/>
          <a:lstStyle/>
          <a:p>
            <a:pPr marL="0" indent="0">
              <a:buNone/>
            </a:pPr>
            <a:r>
              <a:rPr lang="en-US" sz="1500" b="1" dirty="0">
                <a:solidFill>
                  <a:srgbClr val="1D3557"/>
                </a:solidFill>
                <a:latin typeface="Aptos Display" pitchFamily="34" charset="0"/>
                <a:ea typeface="Aptos Display" pitchFamily="34" charset="-122"/>
                <a:cs typeface="Aptos Display" pitchFamily="34" charset="-120"/>
              </a:rPr>
              <a:t>Find more support</a:t>
            </a:r>
            <a:endParaRPr lang="en-US" sz="1500" dirty="0"/>
          </a:p>
        </p:txBody>
      </p:sp>
      <p:sp>
        <p:nvSpPr>
          <p:cNvPr id="11" name="Text 9"/>
          <p:cNvSpPr/>
          <p:nvPr/>
        </p:nvSpPr>
        <p:spPr>
          <a:xfrm>
            <a:off x="1097280" y="2596896"/>
            <a:ext cx="2944368" cy="2359152"/>
          </a:xfrm>
          <a:prstGeom prst="rect">
            <a:avLst/>
          </a:prstGeom>
          <a:noFill/>
          <a:ln/>
        </p:spPr>
        <p:txBody>
          <a:bodyPr wrap="square" lIns="0" tIns="0" rIns="0" bIns="0" rtlCol="0" anchor="t"/>
          <a:lstStyle/>
          <a:p>
            <a:pPr marL="0" indent="0">
              <a:buNone/>
            </a:pPr>
            <a:r>
              <a:rPr lang="en-US" sz="1080" dirty="0">
                <a:solidFill>
                  <a:srgbClr val="556677"/>
                </a:solidFill>
                <a:latin typeface="Aptos" pitchFamily="34" charset="0"/>
                <a:ea typeface="Aptos" pitchFamily="34" charset="-122"/>
                <a:cs typeface="Aptos" pitchFamily="34" charset="-120"/>
              </a:rPr>
              <a:t>• One intake can surface MassHealth plus other programs a household may qualify for</a:t>
            </a:r>
            <a:endParaRPr lang="en-US" sz="1080" dirty="0"/>
          </a:p>
          <a:p>
            <a:pPr marL="0" indent="0">
              <a:buNone/>
            </a:pPr>
            <a:r>
              <a:rPr lang="en-US" sz="1080" dirty="0">
                <a:solidFill>
                  <a:srgbClr val="556677"/>
                </a:solidFill>
                <a:latin typeface="Aptos" pitchFamily="34" charset="0"/>
                <a:ea typeface="Aptos" pitchFamily="34" charset="-122"/>
                <a:cs typeface="Aptos" pitchFamily="34" charset="-120"/>
              </a:rPr>
              <a:t>• Estimated value and next steps are explained in plain language</a:t>
            </a:r>
            <a:endParaRPr lang="en-US" sz="1080" dirty="0"/>
          </a:p>
          <a:p>
            <a:pPr marL="0" indent="0">
              <a:buNone/>
            </a:pPr>
            <a:r>
              <a:rPr lang="en-US" sz="1080" dirty="0">
                <a:solidFill>
                  <a:srgbClr val="556677"/>
                </a:solidFill>
                <a:latin typeface="Aptos" pitchFamily="34" charset="0"/>
                <a:ea typeface="Aptos" pitchFamily="34" charset="-122"/>
                <a:cs typeface="Aptos" pitchFamily="34" charset="-120"/>
              </a:rPr>
              <a:t>• Households see the full stack, not one program at a time</a:t>
            </a:r>
            <a:endParaRPr lang="en-US" sz="1080" dirty="0"/>
          </a:p>
        </p:txBody>
      </p:sp>
      <p:sp>
        <p:nvSpPr>
          <p:cNvPr id="12" name="Shape 10"/>
          <p:cNvSpPr/>
          <p:nvPr/>
        </p:nvSpPr>
        <p:spPr>
          <a:xfrm>
            <a:off x="4315968" y="2084832"/>
            <a:ext cx="3547872" cy="3054096"/>
          </a:xfrm>
          <a:prstGeom prst="roundRect">
            <a:avLst>
              <a:gd name="adj" fmla="val 2395"/>
            </a:avLst>
          </a:prstGeom>
          <a:solidFill>
            <a:srgbClr val="FFFDFC"/>
          </a:solidFill>
          <a:ln w="13970">
            <a:solidFill>
              <a:srgbClr val="D9E3EA"/>
            </a:solidFill>
            <a:prstDash val="solid"/>
          </a:ln>
          <a:effectLst>
            <a:outerShdw blurRad="12700" dist="50800" dir="2700000" algn="bl" rotWithShape="0">
              <a:srgbClr val="B7C8D5">
                <a:alpha val="12000"/>
              </a:srgbClr>
            </a:outerShdw>
          </a:effectLst>
        </p:spPr>
        <p:txBody>
          <a:bodyPr/>
          <a:lstStyle/>
          <a:p>
            <a:endParaRPr lang="en-US"/>
          </a:p>
        </p:txBody>
      </p:sp>
      <p:sp>
        <p:nvSpPr>
          <p:cNvPr id="13" name="Shape 11"/>
          <p:cNvSpPr/>
          <p:nvPr/>
        </p:nvSpPr>
        <p:spPr>
          <a:xfrm>
            <a:off x="4480560" y="2249424"/>
            <a:ext cx="164592" cy="2724912"/>
          </a:xfrm>
          <a:prstGeom prst="roundRect">
            <a:avLst>
              <a:gd name="adj" fmla="val 44444"/>
            </a:avLst>
          </a:prstGeom>
          <a:solidFill>
            <a:srgbClr val="F2C14E"/>
          </a:solidFill>
          <a:ln w="12700">
            <a:solidFill>
              <a:srgbClr val="F2C14E"/>
            </a:solidFill>
            <a:prstDash val="solid"/>
          </a:ln>
        </p:spPr>
        <p:txBody>
          <a:bodyPr/>
          <a:lstStyle/>
          <a:p>
            <a:endParaRPr lang="en-US"/>
          </a:p>
        </p:txBody>
      </p:sp>
      <p:sp>
        <p:nvSpPr>
          <p:cNvPr id="14" name="Text 12"/>
          <p:cNvSpPr/>
          <p:nvPr/>
        </p:nvSpPr>
        <p:spPr>
          <a:xfrm>
            <a:off x="4754880" y="2249424"/>
            <a:ext cx="2944368" cy="274320"/>
          </a:xfrm>
          <a:prstGeom prst="rect">
            <a:avLst/>
          </a:prstGeom>
          <a:noFill/>
          <a:ln/>
        </p:spPr>
        <p:txBody>
          <a:bodyPr wrap="square" lIns="0" tIns="0" rIns="0" bIns="0" rtlCol="0" anchor="ctr"/>
          <a:lstStyle/>
          <a:p>
            <a:pPr marL="0" indent="0">
              <a:buNone/>
            </a:pPr>
            <a:r>
              <a:rPr lang="en-US" sz="1500" b="1" dirty="0">
                <a:solidFill>
                  <a:srgbClr val="1D3557"/>
                </a:solidFill>
                <a:latin typeface="Aptos Display" pitchFamily="34" charset="0"/>
                <a:ea typeface="Aptos Display" pitchFamily="34" charset="-122"/>
                <a:cs typeface="Aptos Display" pitchFamily="34" charset="-120"/>
              </a:rPr>
              <a:t>Finish the application</a:t>
            </a:r>
            <a:endParaRPr lang="en-US" sz="1500" dirty="0"/>
          </a:p>
        </p:txBody>
      </p:sp>
      <p:sp>
        <p:nvSpPr>
          <p:cNvPr id="15" name="Text 13"/>
          <p:cNvSpPr/>
          <p:nvPr/>
        </p:nvSpPr>
        <p:spPr>
          <a:xfrm>
            <a:off x="4754880" y="2596896"/>
            <a:ext cx="2944368" cy="2359152"/>
          </a:xfrm>
          <a:prstGeom prst="rect">
            <a:avLst/>
          </a:prstGeom>
          <a:noFill/>
          <a:ln/>
        </p:spPr>
        <p:txBody>
          <a:bodyPr wrap="square" lIns="0" tIns="0" rIns="0" bIns="0" rtlCol="0" anchor="t"/>
          <a:lstStyle/>
          <a:p>
            <a:pPr marL="0" indent="0">
              <a:buNone/>
            </a:pPr>
            <a:r>
              <a:rPr lang="en-US" sz="1080" dirty="0">
                <a:solidFill>
                  <a:srgbClr val="556677"/>
                </a:solidFill>
                <a:latin typeface="Aptos" pitchFamily="34" charset="0"/>
                <a:ea typeface="Aptos" pitchFamily="34" charset="-122"/>
                <a:cs typeface="Aptos" pitchFamily="34" charset="-120"/>
              </a:rPr>
              <a:t>• Guided form assistance reduces blank-page paralysis</a:t>
            </a:r>
            <a:endParaRPr lang="en-US" sz="1080" dirty="0"/>
          </a:p>
          <a:p>
            <a:pPr marL="0" indent="0">
              <a:buNone/>
            </a:pPr>
            <a:r>
              <a:rPr lang="en-US" sz="1080" dirty="0">
                <a:solidFill>
                  <a:srgbClr val="556677"/>
                </a:solidFill>
                <a:latin typeface="Aptos" pitchFamily="34" charset="0"/>
                <a:ea typeface="Aptos" pitchFamily="34" charset="-122"/>
                <a:cs typeface="Aptos" pitchFamily="34" charset="-120"/>
              </a:rPr>
              <a:t>• Required documents are identified and tracked</a:t>
            </a:r>
            <a:endParaRPr lang="en-US" sz="1080" dirty="0"/>
          </a:p>
          <a:p>
            <a:pPr marL="0" indent="0">
              <a:buNone/>
            </a:pPr>
            <a:r>
              <a:rPr lang="en-US" sz="1080" dirty="0">
                <a:solidFill>
                  <a:srgbClr val="556677"/>
                </a:solidFill>
                <a:latin typeface="Aptos" pitchFamily="34" charset="0"/>
                <a:ea typeface="Aptos" pitchFamily="34" charset="-122"/>
                <a:cs typeface="Aptos" pitchFamily="34" charset="-120"/>
              </a:rPr>
              <a:t>• Voice, translation, and reading assistance help users who struggle with writing or typing</a:t>
            </a:r>
            <a:endParaRPr lang="en-US" sz="1080" dirty="0"/>
          </a:p>
        </p:txBody>
      </p:sp>
      <p:sp>
        <p:nvSpPr>
          <p:cNvPr id="16" name="Shape 14"/>
          <p:cNvSpPr/>
          <p:nvPr/>
        </p:nvSpPr>
        <p:spPr>
          <a:xfrm>
            <a:off x="7973568" y="2084832"/>
            <a:ext cx="3310128" cy="3054096"/>
          </a:xfrm>
          <a:prstGeom prst="roundRect">
            <a:avLst>
              <a:gd name="adj" fmla="val 2395"/>
            </a:avLst>
          </a:prstGeom>
          <a:solidFill>
            <a:srgbClr val="FFFDFC"/>
          </a:solidFill>
          <a:ln w="13970">
            <a:solidFill>
              <a:srgbClr val="D9E3EA"/>
            </a:solidFill>
            <a:prstDash val="solid"/>
          </a:ln>
          <a:effectLst>
            <a:outerShdw blurRad="12700" dist="50800" dir="2700000" algn="bl" rotWithShape="0">
              <a:srgbClr val="B7C8D5">
                <a:alpha val="12000"/>
              </a:srgbClr>
            </a:outerShdw>
          </a:effectLst>
        </p:spPr>
        <p:txBody>
          <a:bodyPr/>
          <a:lstStyle/>
          <a:p>
            <a:endParaRPr lang="en-US"/>
          </a:p>
        </p:txBody>
      </p:sp>
      <p:sp>
        <p:nvSpPr>
          <p:cNvPr id="17" name="Shape 15"/>
          <p:cNvSpPr/>
          <p:nvPr/>
        </p:nvSpPr>
        <p:spPr>
          <a:xfrm>
            <a:off x="8138160" y="2249424"/>
            <a:ext cx="164592" cy="2724912"/>
          </a:xfrm>
          <a:prstGeom prst="roundRect">
            <a:avLst>
              <a:gd name="adj" fmla="val 44444"/>
            </a:avLst>
          </a:prstGeom>
          <a:solidFill>
            <a:srgbClr val="E8825E"/>
          </a:solidFill>
          <a:ln w="12700">
            <a:solidFill>
              <a:srgbClr val="E8825E"/>
            </a:solidFill>
            <a:prstDash val="solid"/>
          </a:ln>
        </p:spPr>
        <p:txBody>
          <a:bodyPr/>
          <a:lstStyle/>
          <a:p>
            <a:endParaRPr lang="en-US"/>
          </a:p>
        </p:txBody>
      </p:sp>
      <p:sp>
        <p:nvSpPr>
          <p:cNvPr id="18" name="Text 16"/>
          <p:cNvSpPr/>
          <p:nvPr/>
        </p:nvSpPr>
        <p:spPr>
          <a:xfrm>
            <a:off x="8412480" y="2249424"/>
            <a:ext cx="2706624" cy="274320"/>
          </a:xfrm>
          <a:prstGeom prst="rect">
            <a:avLst/>
          </a:prstGeom>
          <a:noFill/>
          <a:ln/>
        </p:spPr>
        <p:txBody>
          <a:bodyPr wrap="square" lIns="0" tIns="0" rIns="0" bIns="0" rtlCol="0" anchor="ctr"/>
          <a:lstStyle/>
          <a:p>
            <a:pPr marL="0" indent="0">
              <a:buNone/>
            </a:pPr>
            <a:r>
              <a:rPr lang="en-US" sz="1500" b="1" dirty="0">
                <a:solidFill>
                  <a:srgbClr val="1D3557"/>
                </a:solidFill>
                <a:latin typeface="Aptos Display" pitchFamily="34" charset="0"/>
                <a:ea typeface="Aptos Display" pitchFamily="34" charset="-122"/>
                <a:cs typeface="Aptos Display" pitchFamily="34" charset="-120"/>
              </a:rPr>
              <a:t>Recover when things go wrong</a:t>
            </a:r>
            <a:endParaRPr lang="en-US" sz="1500" dirty="0"/>
          </a:p>
        </p:txBody>
      </p:sp>
      <p:sp>
        <p:nvSpPr>
          <p:cNvPr id="19" name="Text 17"/>
          <p:cNvSpPr/>
          <p:nvPr/>
        </p:nvSpPr>
        <p:spPr>
          <a:xfrm>
            <a:off x="8412480" y="2596896"/>
            <a:ext cx="2706624" cy="2359152"/>
          </a:xfrm>
          <a:prstGeom prst="rect">
            <a:avLst/>
          </a:prstGeom>
          <a:noFill/>
          <a:ln/>
        </p:spPr>
        <p:txBody>
          <a:bodyPr wrap="square" lIns="0" tIns="0" rIns="0" bIns="0" rtlCol="0" anchor="t"/>
          <a:lstStyle/>
          <a:p>
            <a:pPr marL="0" indent="0">
              <a:buNone/>
            </a:pPr>
            <a:r>
              <a:rPr lang="en-US" sz="1080" dirty="0">
                <a:solidFill>
                  <a:srgbClr val="556677"/>
                </a:solidFill>
                <a:latin typeface="Aptos" pitchFamily="34" charset="0"/>
                <a:ea typeface="Aptos" pitchFamily="34" charset="-122"/>
                <a:cs typeface="Aptos" pitchFamily="34" charset="-120"/>
              </a:rPr>
              <a:t>• Appeal support drafts arguments and evidence checklists</a:t>
            </a:r>
            <a:endParaRPr lang="en-US" sz="1080" dirty="0"/>
          </a:p>
          <a:p>
            <a:pPr marL="0" indent="0">
              <a:buNone/>
            </a:pPr>
            <a:r>
              <a:rPr lang="en-US" sz="1080" dirty="0">
                <a:solidFill>
                  <a:srgbClr val="556677"/>
                </a:solidFill>
                <a:latin typeface="Aptos" pitchFamily="34" charset="0"/>
                <a:ea typeface="Aptos" pitchFamily="34" charset="-122"/>
                <a:cs typeface="Aptos" pitchFamily="34" charset="-120"/>
              </a:rPr>
              <a:t>• Notifications reduce missed deadlines and renewal lapses</a:t>
            </a:r>
            <a:endParaRPr lang="en-US" sz="1080" dirty="0"/>
          </a:p>
          <a:p>
            <a:pPr marL="0" indent="0">
              <a:buNone/>
            </a:pPr>
            <a:r>
              <a:rPr lang="en-US" sz="1080" dirty="0">
                <a:solidFill>
                  <a:srgbClr val="556677"/>
                </a:solidFill>
                <a:latin typeface="Aptos" pitchFamily="34" charset="0"/>
                <a:ea typeface="Aptos" pitchFamily="34" charset="-122"/>
                <a:cs typeface="Aptos" pitchFamily="34" charset="-120"/>
              </a:rPr>
              <a:t>• Social-worker collaboration gives patients live help without leaving the platform</a:t>
            </a:r>
            <a:endParaRPr lang="en-US" sz="1080" dirty="0"/>
          </a:p>
        </p:txBody>
      </p:sp>
      <p:sp>
        <p:nvSpPr>
          <p:cNvPr id="20" name="Shape 18"/>
          <p:cNvSpPr/>
          <p:nvPr/>
        </p:nvSpPr>
        <p:spPr>
          <a:xfrm>
            <a:off x="658368" y="5440680"/>
            <a:ext cx="10625328" cy="603504"/>
          </a:xfrm>
          <a:prstGeom prst="roundRect">
            <a:avLst>
              <a:gd name="adj" fmla="val 12121"/>
            </a:avLst>
          </a:prstGeom>
          <a:solidFill>
            <a:srgbClr val="1D3557"/>
          </a:solidFill>
          <a:ln w="12700">
            <a:solidFill>
              <a:srgbClr val="1D3557"/>
            </a:solidFill>
            <a:prstDash val="solid"/>
          </a:ln>
        </p:spPr>
        <p:txBody>
          <a:bodyPr/>
          <a:lstStyle/>
          <a:p>
            <a:endParaRPr lang="en-US"/>
          </a:p>
        </p:txBody>
      </p:sp>
      <p:sp>
        <p:nvSpPr>
          <p:cNvPr id="21" name="Text 19"/>
          <p:cNvSpPr/>
          <p:nvPr/>
        </p:nvSpPr>
        <p:spPr>
          <a:xfrm>
            <a:off x="932688" y="5614416"/>
            <a:ext cx="10076688" cy="182880"/>
          </a:xfrm>
          <a:prstGeom prst="rect">
            <a:avLst/>
          </a:prstGeom>
          <a:noFill/>
          <a:ln/>
        </p:spPr>
        <p:txBody>
          <a:bodyPr wrap="square" lIns="0" tIns="0" rIns="0" bIns="0" rtlCol="0" anchor="ctr"/>
          <a:lstStyle/>
          <a:p>
            <a:pPr marL="0" indent="0" algn="ctr">
              <a:buNone/>
            </a:pPr>
            <a:r>
              <a:rPr lang="en-US" sz="1200" b="1" dirty="0">
                <a:solidFill>
                  <a:srgbClr val="FFFFFF"/>
                </a:solidFill>
                <a:latin typeface="Aptos" pitchFamily="34" charset="0"/>
                <a:ea typeface="Aptos" pitchFamily="34" charset="-122"/>
                <a:cs typeface="Aptos" pitchFamily="34" charset="-120"/>
              </a:rPr>
              <a:t>Designed for patients with low time, limited English proficiency, low digital confidence, or difficulty writing complex forms on their own.</a:t>
            </a:r>
            <a:endParaRPr lang="en-US" sz="1200" dirty="0"/>
          </a:p>
        </p:txBody>
      </p:sp>
      <p:sp>
        <p:nvSpPr>
          <p:cNvPr id="22" name="Text 20"/>
          <p:cNvSpPr/>
          <p:nvPr/>
        </p:nvSpPr>
        <p:spPr>
          <a:xfrm>
            <a:off x="548640" y="6455664"/>
            <a:ext cx="4937760" cy="164592"/>
          </a:xfrm>
          <a:prstGeom prst="rect">
            <a:avLst/>
          </a:prstGeom>
          <a:noFill/>
          <a:ln/>
        </p:spPr>
        <p:txBody>
          <a:bodyPr wrap="square" lIns="0" tIns="0" rIns="0" bIns="0" rtlCol="0" anchor="ctr"/>
          <a:lstStyle/>
          <a:p>
            <a:pPr marL="0" indent="0">
              <a:buNone/>
            </a:pPr>
            <a:r>
              <a:rPr lang="en-US" sz="950" dirty="0">
                <a:solidFill>
                  <a:srgbClr val="556677"/>
                </a:solidFill>
                <a:latin typeface="Aptos" pitchFamily="34" charset="0"/>
                <a:ea typeface="Aptos" pitchFamily="34" charset="-122"/>
                <a:cs typeface="Aptos" pitchFamily="34" charset="-120"/>
              </a:rPr>
              <a:t>HealthCompass MA  |  Executive Summary  |  April 2026</a:t>
            </a:r>
            <a:endParaRPr lang="en-US" sz="950" dirty="0"/>
          </a:p>
        </p:txBody>
      </p:sp>
      <p:sp>
        <p:nvSpPr>
          <p:cNvPr id="23" name="Text 21"/>
          <p:cNvSpPr/>
          <p:nvPr/>
        </p:nvSpPr>
        <p:spPr>
          <a:xfrm>
            <a:off x="10469880" y="6455664"/>
            <a:ext cx="1097280" cy="164592"/>
          </a:xfrm>
          <a:prstGeom prst="rect">
            <a:avLst/>
          </a:prstGeom>
          <a:noFill/>
          <a:ln/>
        </p:spPr>
        <p:txBody>
          <a:bodyPr wrap="square" lIns="0" tIns="0" rIns="0" bIns="0" rtlCol="0" anchor="ctr"/>
          <a:lstStyle/>
          <a:p>
            <a:pPr marL="0" indent="0" algn="r">
              <a:buNone/>
            </a:pPr>
            <a:r>
              <a:rPr lang="en-US" sz="950" dirty="0">
                <a:solidFill>
                  <a:srgbClr val="556677"/>
                </a:solidFill>
                <a:latin typeface="Aptos" pitchFamily="34" charset="0"/>
                <a:ea typeface="Aptos" pitchFamily="34" charset="-122"/>
                <a:cs typeface="Aptos" pitchFamily="34" charset="-120"/>
              </a:rPr>
              <a:t>Confidential</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137C71"/>
          </a:solidFill>
          <a:ln w="12700">
            <a:solidFill>
              <a:srgbClr val="137C71"/>
            </a:solidFill>
            <a:prstDash val="solid"/>
          </a:ln>
        </p:spPr>
        <p:txBody>
          <a:bodyPr/>
          <a:lstStyle/>
          <a:p>
            <a:endParaRPr lang="en-US"/>
          </a:p>
        </p:txBody>
      </p:sp>
      <p:sp>
        <p:nvSpPr>
          <p:cNvPr id="3" name="Shape 1"/>
          <p:cNvSpPr/>
          <p:nvPr/>
        </p:nvSpPr>
        <p:spPr>
          <a:xfrm>
            <a:off x="9509760" y="-640080"/>
            <a:ext cx="2926080" cy="2011680"/>
          </a:xfrm>
          <a:prstGeom prst="ellipse">
            <a:avLst/>
          </a:prstGeom>
          <a:solidFill>
            <a:srgbClr val="E9F5FB">
              <a:alpha val="65000"/>
            </a:srgbClr>
          </a:solidFill>
          <a:ln w="12700">
            <a:solidFill>
              <a:srgbClr val="E9F5FB">
                <a:alpha val="0"/>
              </a:srgbClr>
            </a:solidFill>
            <a:prstDash val="solid"/>
          </a:ln>
        </p:spPr>
        <p:txBody>
          <a:bodyPr/>
          <a:lstStyle/>
          <a:p>
            <a:endParaRPr lang="en-US"/>
          </a:p>
        </p:txBody>
      </p:sp>
      <p:sp>
        <p:nvSpPr>
          <p:cNvPr id="4" name="Shape 2"/>
          <p:cNvSpPr/>
          <p:nvPr/>
        </p:nvSpPr>
        <p:spPr>
          <a:xfrm>
            <a:off x="-731520" y="5212080"/>
            <a:ext cx="2377440" cy="1737360"/>
          </a:xfrm>
          <a:prstGeom prst="ellipse">
            <a:avLst/>
          </a:prstGeom>
          <a:solidFill>
            <a:srgbClr val="DFF5F1">
              <a:alpha val="70000"/>
            </a:srgbClr>
          </a:solidFill>
          <a:ln w="12700">
            <a:solidFill>
              <a:srgbClr val="DFF5F1">
                <a:alpha val="0"/>
              </a:srgbClr>
            </a:solidFill>
            <a:prstDash val="solid"/>
          </a:ln>
        </p:spPr>
        <p:txBody>
          <a:bodyPr/>
          <a:lstStyle/>
          <a:p>
            <a:endParaRPr lang="en-US"/>
          </a:p>
        </p:txBody>
      </p:sp>
      <p:sp>
        <p:nvSpPr>
          <p:cNvPr id="5" name="Text 3"/>
          <p:cNvSpPr/>
          <p:nvPr/>
        </p:nvSpPr>
        <p:spPr>
          <a:xfrm>
            <a:off x="640080" y="438912"/>
            <a:ext cx="3474720" cy="201168"/>
          </a:xfrm>
          <a:prstGeom prst="rect">
            <a:avLst/>
          </a:prstGeom>
          <a:noFill/>
          <a:ln/>
        </p:spPr>
        <p:txBody>
          <a:bodyPr wrap="square" lIns="0" tIns="0" rIns="0" bIns="0" rtlCol="0" anchor="ctr"/>
          <a:lstStyle/>
          <a:p>
            <a:pPr marL="0" indent="0">
              <a:buNone/>
            </a:pPr>
            <a:r>
              <a:rPr lang="en-US" sz="1050" b="1" dirty="0">
                <a:solidFill>
                  <a:srgbClr val="137C71"/>
                </a:solidFill>
                <a:latin typeface="Aptos" pitchFamily="34" charset="0"/>
                <a:ea typeface="Aptos" pitchFamily="34" charset="-122"/>
                <a:cs typeface="Aptos" pitchFamily="34" charset="-120"/>
              </a:rPr>
              <a:t>HOW THE TECHNOLOGY HELPS FACILITIES AND CARE TEAMS</a:t>
            </a:r>
            <a:endParaRPr lang="en-US" sz="1050" dirty="0"/>
          </a:p>
        </p:txBody>
      </p:sp>
      <p:sp>
        <p:nvSpPr>
          <p:cNvPr id="6" name="Text 4"/>
          <p:cNvSpPr/>
          <p:nvPr/>
        </p:nvSpPr>
        <p:spPr>
          <a:xfrm>
            <a:off x="640080" y="749808"/>
            <a:ext cx="7863840" cy="713232"/>
          </a:xfrm>
          <a:prstGeom prst="rect">
            <a:avLst/>
          </a:prstGeom>
          <a:noFill/>
          <a:ln/>
        </p:spPr>
        <p:txBody>
          <a:bodyPr wrap="square" lIns="0" tIns="0" rIns="0" bIns="0" rtlCol="0" anchor="ctr"/>
          <a:lstStyle/>
          <a:p>
            <a:pPr marL="0" indent="0">
              <a:buNone/>
            </a:pPr>
            <a:r>
              <a:rPr lang="en-US" sz="2400" b="1" dirty="0">
                <a:solidFill>
                  <a:srgbClr val="1D3557"/>
                </a:solidFill>
                <a:latin typeface="Aptos Display" pitchFamily="34" charset="0"/>
                <a:ea typeface="Aptos Display" pitchFamily="34" charset="-122"/>
                <a:cs typeface="Aptos Display" pitchFamily="34" charset="-120"/>
              </a:rPr>
              <a:t>The platform is also a care-operations product for social workers, reviewers, and partner organizations.</a:t>
            </a:r>
            <a:endParaRPr lang="en-US" sz="2400" dirty="0"/>
          </a:p>
        </p:txBody>
      </p:sp>
      <p:sp>
        <p:nvSpPr>
          <p:cNvPr id="7" name="Text 5"/>
          <p:cNvSpPr/>
          <p:nvPr/>
        </p:nvSpPr>
        <p:spPr>
          <a:xfrm>
            <a:off x="658368" y="1481328"/>
            <a:ext cx="7223760" cy="512064"/>
          </a:xfrm>
          <a:prstGeom prst="rect">
            <a:avLst/>
          </a:prstGeom>
          <a:noFill/>
          <a:ln/>
        </p:spPr>
        <p:txBody>
          <a:bodyPr wrap="square" lIns="0" tIns="0" rIns="0" bIns="0" rtlCol="0" anchor="ctr"/>
          <a:lstStyle/>
          <a:p>
            <a:pPr marL="0" indent="0">
              <a:buNone/>
            </a:pPr>
            <a:r>
              <a:rPr lang="en-US" sz="1150" dirty="0">
                <a:solidFill>
                  <a:srgbClr val="556677"/>
                </a:solidFill>
                <a:latin typeface="Aptos" pitchFamily="34" charset="0"/>
                <a:ea typeface="Aptos" pitchFamily="34" charset="-122"/>
                <a:cs typeface="Aptos" pitchFamily="34" charset="-120"/>
              </a:rPr>
              <a:t>Patient value and facility value are linked: fewer dropped cases, faster clarification, and better visibility.</a:t>
            </a:r>
            <a:endParaRPr lang="en-US" sz="1150" dirty="0"/>
          </a:p>
        </p:txBody>
      </p:sp>
      <p:sp>
        <p:nvSpPr>
          <p:cNvPr id="8" name="Shape 6"/>
          <p:cNvSpPr/>
          <p:nvPr/>
        </p:nvSpPr>
        <p:spPr>
          <a:xfrm>
            <a:off x="658368" y="2029968"/>
            <a:ext cx="3493008" cy="3401568"/>
          </a:xfrm>
          <a:prstGeom prst="roundRect">
            <a:avLst>
              <a:gd name="adj" fmla="val 2151"/>
            </a:avLst>
          </a:prstGeom>
          <a:solidFill>
            <a:srgbClr val="FFFDFC"/>
          </a:solidFill>
          <a:ln w="13970">
            <a:solidFill>
              <a:srgbClr val="D9E3EA"/>
            </a:solidFill>
            <a:prstDash val="solid"/>
          </a:ln>
          <a:effectLst>
            <a:outerShdw blurRad="12700" dist="50800" dir="2700000" algn="bl" rotWithShape="0">
              <a:srgbClr val="B7C8D5">
                <a:alpha val="12000"/>
              </a:srgbClr>
            </a:outerShdw>
          </a:effectLst>
        </p:spPr>
        <p:txBody>
          <a:bodyPr/>
          <a:lstStyle/>
          <a:p>
            <a:endParaRPr lang="en-US"/>
          </a:p>
        </p:txBody>
      </p:sp>
      <p:sp>
        <p:nvSpPr>
          <p:cNvPr id="9" name="Shape 7"/>
          <p:cNvSpPr/>
          <p:nvPr/>
        </p:nvSpPr>
        <p:spPr>
          <a:xfrm>
            <a:off x="822960" y="2194560"/>
            <a:ext cx="164592" cy="3072384"/>
          </a:xfrm>
          <a:prstGeom prst="roundRect">
            <a:avLst>
              <a:gd name="adj" fmla="val 44444"/>
            </a:avLst>
          </a:prstGeom>
          <a:solidFill>
            <a:srgbClr val="137C71"/>
          </a:solidFill>
          <a:ln w="12700">
            <a:solidFill>
              <a:srgbClr val="137C71"/>
            </a:solidFill>
            <a:prstDash val="solid"/>
          </a:ln>
        </p:spPr>
        <p:txBody>
          <a:bodyPr/>
          <a:lstStyle/>
          <a:p>
            <a:endParaRPr lang="en-US"/>
          </a:p>
        </p:txBody>
      </p:sp>
      <p:sp>
        <p:nvSpPr>
          <p:cNvPr id="10" name="Text 8"/>
          <p:cNvSpPr/>
          <p:nvPr/>
        </p:nvSpPr>
        <p:spPr>
          <a:xfrm>
            <a:off x="1097280" y="2194560"/>
            <a:ext cx="2889504" cy="274320"/>
          </a:xfrm>
          <a:prstGeom prst="rect">
            <a:avLst/>
          </a:prstGeom>
          <a:noFill/>
          <a:ln/>
        </p:spPr>
        <p:txBody>
          <a:bodyPr wrap="square" lIns="0" tIns="0" rIns="0" bIns="0" rtlCol="0" anchor="ctr"/>
          <a:lstStyle/>
          <a:p>
            <a:pPr marL="0" indent="0">
              <a:buNone/>
            </a:pPr>
            <a:r>
              <a:rPr lang="en-US" sz="1500" b="1" dirty="0">
                <a:solidFill>
                  <a:srgbClr val="1D3557"/>
                </a:solidFill>
                <a:latin typeface="Aptos Display" pitchFamily="34" charset="0"/>
                <a:ea typeface="Aptos Display" pitchFamily="34" charset="-122"/>
                <a:cs typeface="Aptos Display" pitchFamily="34" charset="-120"/>
              </a:rPr>
              <a:t>Care-team coordination</a:t>
            </a:r>
            <a:endParaRPr lang="en-US" sz="1500" dirty="0"/>
          </a:p>
        </p:txBody>
      </p:sp>
      <p:sp>
        <p:nvSpPr>
          <p:cNvPr id="11" name="Text 9"/>
          <p:cNvSpPr/>
          <p:nvPr/>
        </p:nvSpPr>
        <p:spPr>
          <a:xfrm>
            <a:off x="1097280" y="2542032"/>
            <a:ext cx="2889504" cy="2706624"/>
          </a:xfrm>
          <a:prstGeom prst="rect">
            <a:avLst/>
          </a:prstGeom>
          <a:noFill/>
          <a:ln/>
        </p:spPr>
        <p:txBody>
          <a:bodyPr wrap="square" lIns="0" tIns="0" rIns="0" bIns="0" rtlCol="0" anchor="t"/>
          <a:lstStyle/>
          <a:p>
            <a:pPr marL="0" indent="0">
              <a:buNone/>
            </a:pPr>
            <a:r>
              <a:rPr lang="en-US" sz="1060" dirty="0">
                <a:solidFill>
                  <a:srgbClr val="556677"/>
                </a:solidFill>
                <a:latin typeface="Aptos" pitchFamily="34" charset="0"/>
                <a:ea typeface="Aptos" pitchFamily="34" charset="-122"/>
                <a:cs typeface="Aptos" pitchFamily="34" charset="-120"/>
              </a:rPr>
              <a:t>• Secure direct messaging between patient and social worker</a:t>
            </a:r>
            <a:endParaRPr lang="en-US" sz="1060" dirty="0"/>
          </a:p>
          <a:p>
            <a:pPr marL="0" indent="0">
              <a:buNone/>
            </a:pPr>
            <a:r>
              <a:rPr lang="en-US" sz="1060" dirty="0">
                <a:solidFill>
                  <a:srgbClr val="556677"/>
                </a:solidFill>
                <a:latin typeface="Aptos" pitchFamily="34" charset="0"/>
                <a:ea typeface="Aptos" pitchFamily="34" charset="-122"/>
                <a:cs typeface="Aptos" pitchFamily="34" charset="-120"/>
              </a:rPr>
              <a:t>• Voice notes with automatic transcription</a:t>
            </a:r>
            <a:endParaRPr lang="en-US" sz="1060" dirty="0"/>
          </a:p>
          <a:p>
            <a:pPr marL="0" indent="0">
              <a:buNone/>
            </a:pPr>
            <a:r>
              <a:rPr lang="en-US" sz="1060" dirty="0">
                <a:solidFill>
                  <a:srgbClr val="556677"/>
                </a:solidFill>
                <a:latin typeface="Aptos" pitchFamily="34" charset="0"/>
                <a:ea typeface="Aptos" pitchFamily="34" charset="-122"/>
                <a:cs typeface="Aptos" pitchFamily="34" charset="-120"/>
              </a:rPr>
              <a:t>• Instant translation to reduce interpreter friction</a:t>
            </a:r>
            <a:endParaRPr lang="en-US" sz="1060" dirty="0"/>
          </a:p>
          <a:p>
            <a:pPr marL="0" indent="0">
              <a:buNone/>
            </a:pPr>
            <a:r>
              <a:rPr lang="en-US" sz="1060" dirty="0">
                <a:solidFill>
                  <a:srgbClr val="556677"/>
                </a:solidFill>
                <a:latin typeface="Aptos" pitchFamily="34" charset="0"/>
                <a:ea typeface="Aptos" pitchFamily="34" charset="-122"/>
                <a:cs typeface="Aptos" pitchFamily="34" charset="-120"/>
              </a:rPr>
              <a:t>• Screen-share sessions for guided application walkthroughs</a:t>
            </a:r>
            <a:endParaRPr lang="en-US" sz="1060" dirty="0"/>
          </a:p>
        </p:txBody>
      </p:sp>
      <p:sp>
        <p:nvSpPr>
          <p:cNvPr id="12" name="Shape 10"/>
          <p:cNvSpPr/>
          <p:nvPr/>
        </p:nvSpPr>
        <p:spPr>
          <a:xfrm>
            <a:off x="4334256" y="2029968"/>
            <a:ext cx="3493008" cy="3401568"/>
          </a:xfrm>
          <a:prstGeom prst="roundRect">
            <a:avLst>
              <a:gd name="adj" fmla="val 2151"/>
            </a:avLst>
          </a:prstGeom>
          <a:solidFill>
            <a:srgbClr val="FFFDFC"/>
          </a:solidFill>
          <a:ln w="13970">
            <a:solidFill>
              <a:srgbClr val="D9E3EA"/>
            </a:solidFill>
            <a:prstDash val="solid"/>
          </a:ln>
          <a:effectLst>
            <a:outerShdw blurRad="12700" dist="50800" dir="2700000" algn="bl" rotWithShape="0">
              <a:srgbClr val="B7C8D5">
                <a:alpha val="12000"/>
              </a:srgbClr>
            </a:outerShdw>
          </a:effectLst>
        </p:spPr>
        <p:txBody>
          <a:bodyPr/>
          <a:lstStyle/>
          <a:p>
            <a:endParaRPr lang="en-US"/>
          </a:p>
        </p:txBody>
      </p:sp>
      <p:sp>
        <p:nvSpPr>
          <p:cNvPr id="13" name="Shape 11"/>
          <p:cNvSpPr/>
          <p:nvPr/>
        </p:nvSpPr>
        <p:spPr>
          <a:xfrm>
            <a:off x="4498848" y="2194560"/>
            <a:ext cx="164592" cy="3072384"/>
          </a:xfrm>
          <a:prstGeom prst="roundRect">
            <a:avLst>
              <a:gd name="adj" fmla="val 44444"/>
            </a:avLst>
          </a:prstGeom>
          <a:solidFill>
            <a:srgbClr val="5DB7DE"/>
          </a:solidFill>
          <a:ln w="12700">
            <a:solidFill>
              <a:srgbClr val="5DB7DE"/>
            </a:solidFill>
            <a:prstDash val="solid"/>
          </a:ln>
        </p:spPr>
        <p:txBody>
          <a:bodyPr/>
          <a:lstStyle/>
          <a:p>
            <a:endParaRPr lang="en-US"/>
          </a:p>
        </p:txBody>
      </p:sp>
      <p:sp>
        <p:nvSpPr>
          <p:cNvPr id="14" name="Text 12"/>
          <p:cNvSpPr/>
          <p:nvPr/>
        </p:nvSpPr>
        <p:spPr>
          <a:xfrm>
            <a:off x="4773168" y="2194560"/>
            <a:ext cx="2889504" cy="274320"/>
          </a:xfrm>
          <a:prstGeom prst="rect">
            <a:avLst/>
          </a:prstGeom>
          <a:noFill/>
          <a:ln/>
        </p:spPr>
        <p:txBody>
          <a:bodyPr wrap="square" lIns="0" tIns="0" rIns="0" bIns="0" rtlCol="0" anchor="ctr"/>
          <a:lstStyle/>
          <a:p>
            <a:pPr marL="0" indent="0">
              <a:buNone/>
            </a:pPr>
            <a:r>
              <a:rPr lang="en-US" sz="1500" b="1" dirty="0">
                <a:solidFill>
                  <a:srgbClr val="1D3557"/>
                </a:solidFill>
                <a:latin typeface="Aptos Display" pitchFamily="34" charset="0"/>
                <a:ea typeface="Aptos Display" pitchFamily="34" charset="-122"/>
                <a:cs typeface="Aptos Display" pitchFamily="34" charset="-120"/>
              </a:rPr>
              <a:t>Operational visibility</a:t>
            </a:r>
            <a:endParaRPr lang="en-US" sz="1500" dirty="0"/>
          </a:p>
        </p:txBody>
      </p:sp>
      <p:sp>
        <p:nvSpPr>
          <p:cNvPr id="15" name="Text 13"/>
          <p:cNvSpPr/>
          <p:nvPr/>
        </p:nvSpPr>
        <p:spPr>
          <a:xfrm>
            <a:off x="4773168" y="2542032"/>
            <a:ext cx="2889504" cy="2706624"/>
          </a:xfrm>
          <a:prstGeom prst="rect">
            <a:avLst/>
          </a:prstGeom>
          <a:noFill/>
          <a:ln/>
        </p:spPr>
        <p:txBody>
          <a:bodyPr wrap="square" lIns="0" tIns="0" rIns="0" bIns="0" rtlCol="0" anchor="t"/>
          <a:lstStyle/>
          <a:p>
            <a:pPr marL="0" indent="0">
              <a:buNone/>
            </a:pPr>
            <a:r>
              <a:rPr lang="en-US" sz="1060" dirty="0">
                <a:solidFill>
                  <a:srgbClr val="556677"/>
                </a:solidFill>
                <a:latin typeface="Aptos" pitchFamily="34" charset="0"/>
                <a:ea typeface="Aptos" pitchFamily="34" charset="-122"/>
                <a:cs typeface="Aptos" pitchFamily="34" charset="-120"/>
              </a:rPr>
              <a:t>• Reviewer dashboard with pending, RFI, auto-approved, and flagged queues</a:t>
            </a:r>
            <a:endParaRPr lang="en-US" sz="1060" dirty="0"/>
          </a:p>
          <a:p>
            <a:pPr marL="0" indent="0">
              <a:buNone/>
            </a:pPr>
            <a:r>
              <a:rPr lang="en-US" sz="1060" dirty="0">
                <a:solidFill>
                  <a:srgbClr val="556677"/>
                </a:solidFill>
                <a:latin typeface="Aptos" pitchFamily="34" charset="0"/>
                <a:ea typeface="Aptos" pitchFamily="34" charset="-122"/>
                <a:cs typeface="Aptos" pitchFamily="34" charset="-120"/>
              </a:rPr>
              <a:t>• Case lists, audit views, reports, and status tracking</a:t>
            </a:r>
            <a:endParaRPr lang="en-US" sz="1060" dirty="0"/>
          </a:p>
          <a:p>
            <a:pPr marL="0" indent="0">
              <a:buNone/>
            </a:pPr>
            <a:r>
              <a:rPr lang="en-US" sz="1060" dirty="0">
                <a:solidFill>
                  <a:srgbClr val="556677"/>
                </a:solidFill>
                <a:latin typeface="Aptos" pitchFamily="34" charset="0"/>
                <a:ea typeface="Aptos" pitchFamily="34" charset="-122"/>
                <a:cs typeface="Aptos" pitchFamily="34" charset="-120"/>
              </a:rPr>
              <a:t>• Notifications and workflow triggers across application state changes</a:t>
            </a:r>
            <a:endParaRPr lang="en-US" sz="1060" dirty="0"/>
          </a:p>
        </p:txBody>
      </p:sp>
      <p:sp>
        <p:nvSpPr>
          <p:cNvPr id="16" name="Shape 14"/>
          <p:cNvSpPr/>
          <p:nvPr/>
        </p:nvSpPr>
        <p:spPr>
          <a:xfrm>
            <a:off x="8010144" y="2029968"/>
            <a:ext cx="3273552" cy="3401568"/>
          </a:xfrm>
          <a:prstGeom prst="roundRect">
            <a:avLst>
              <a:gd name="adj" fmla="val 2235"/>
            </a:avLst>
          </a:prstGeom>
          <a:solidFill>
            <a:srgbClr val="FFFDFC"/>
          </a:solidFill>
          <a:ln w="13970">
            <a:solidFill>
              <a:srgbClr val="D9E3EA"/>
            </a:solidFill>
            <a:prstDash val="solid"/>
          </a:ln>
          <a:effectLst>
            <a:outerShdw blurRad="12700" dist="50800" dir="2700000" algn="bl" rotWithShape="0">
              <a:srgbClr val="B7C8D5">
                <a:alpha val="12000"/>
              </a:srgbClr>
            </a:outerShdw>
          </a:effectLst>
        </p:spPr>
        <p:txBody>
          <a:bodyPr/>
          <a:lstStyle/>
          <a:p>
            <a:endParaRPr lang="en-US"/>
          </a:p>
        </p:txBody>
      </p:sp>
      <p:sp>
        <p:nvSpPr>
          <p:cNvPr id="17" name="Shape 15"/>
          <p:cNvSpPr/>
          <p:nvPr/>
        </p:nvSpPr>
        <p:spPr>
          <a:xfrm>
            <a:off x="8174736" y="2194560"/>
            <a:ext cx="164592" cy="3072384"/>
          </a:xfrm>
          <a:prstGeom prst="roundRect">
            <a:avLst>
              <a:gd name="adj" fmla="val 44444"/>
            </a:avLst>
          </a:prstGeom>
          <a:solidFill>
            <a:srgbClr val="E8825E"/>
          </a:solidFill>
          <a:ln w="12700">
            <a:solidFill>
              <a:srgbClr val="E8825E"/>
            </a:solidFill>
            <a:prstDash val="solid"/>
          </a:ln>
        </p:spPr>
        <p:txBody>
          <a:bodyPr/>
          <a:lstStyle/>
          <a:p>
            <a:endParaRPr lang="en-US"/>
          </a:p>
        </p:txBody>
      </p:sp>
      <p:sp>
        <p:nvSpPr>
          <p:cNvPr id="18" name="Text 16"/>
          <p:cNvSpPr/>
          <p:nvPr/>
        </p:nvSpPr>
        <p:spPr>
          <a:xfrm>
            <a:off x="8449056" y="2194560"/>
            <a:ext cx="2670048" cy="274320"/>
          </a:xfrm>
          <a:prstGeom prst="rect">
            <a:avLst/>
          </a:prstGeom>
          <a:noFill/>
          <a:ln/>
        </p:spPr>
        <p:txBody>
          <a:bodyPr wrap="square" lIns="0" tIns="0" rIns="0" bIns="0" rtlCol="0" anchor="ctr"/>
          <a:lstStyle/>
          <a:p>
            <a:pPr marL="0" indent="0">
              <a:buNone/>
            </a:pPr>
            <a:r>
              <a:rPr lang="en-US" sz="1500" b="1" dirty="0">
                <a:solidFill>
                  <a:srgbClr val="1D3557"/>
                </a:solidFill>
                <a:latin typeface="Aptos Display" pitchFamily="34" charset="0"/>
                <a:ea typeface="Aptos Display" pitchFamily="34" charset="-122"/>
                <a:cs typeface="Aptos Display" pitchFamily="34" charset="-120"/>
              </a:rPr>
              <a:t>Facility-level ROI</a:t>
            </a:r>
            <a:endParaRPr lang="en-US" sz="1500" dirty="0"/>
          </a:p>
        </p:txBody>
      </p:sp>
      <p:sp>
        <p:nvSpPr>
          <p:cNvPr id="19" name="Text 17"/>
          <p:cNvSpPr/>
          <p:nvPr/>
        </p:nvSpPr>
        <p:spPr>
          <a:xfrm>
            <a:off x="8449056" y="2542032"/>
            <a:ext cx="2670048" cy="2706624"/>
          </a:xfrm>
          <a:prstGeom prst="rect">
            <a:avLst/>
          </a:prstGeom>
          <a:noFill/>
          <a:ln/>
        </p:spPr>
        <p:txBody>
          <a:bodyPr wrap="square" lIns="0" tIns="0" rIns="0" bIns="0" rtlCol="0" anchor="t"/>
          <a:lstStyle/>
          <a:p>
            <a:pPr marL="0" indent="0">
              <a:buNone/>
            </a:pPr>
            <a:r>
              <a:rPr lang="en-US" sz="1060" dirty="0">
                <a:solidFill>
                  <a:srgbClr val="556677"/>
                </a:solidFill>
                <a:latin typeface="Aptos" pitchFamily="34" charset="0"/>
                <a:ea typeface="Aptos" pitchFamily="34" charset="-122"/>
                <a:cs typeface="Aptos" pitchFamily="34" charset="-120"/>
              </a:rPr>
              <a:t>• Less repeated intake work</a:t>
            </a:r>
            <a:endParaRPr lang="en-US" sz="1060" dirty="0"/>
          </a:p>
          <a:p>
            <a:pPr marL="0" indent="0">
              <a:buNone/>
            </a:pPr>
            <a:r>
              <a:rPr lang="en-US" sz="1060" dirty="0">
                <a:solidFill>
                  <a:srgbClr val="556677"/>
                </a:solidFill>
                <a:latin typeface="Aptos" pitchFamily="34" charset="0"/>
                <a:ea typeface="Aptos" pitchFamily="34" charset="-122"/>
                <a:cs typeface="Aptos" pitchFamily="34" charset="-120"/>
              </a:rPr>
              <a:t>• Faster document follow-up and deadline management</a:t>
            </a:r>
            <a:endParaRPr lang="en-US" sz="1060" dirty="0"/>
          </a:p>
          <a:p>
            <a:pPr marL="0" indent="0">
              <a:buNone/>
            </a:pPr>
            <a:r>
              <a:rPr lang="en-US" sz="1060" dirty="0">
                <a:solidFill>
                  <a:srgbClr val="556677"/>
                </a:solidFill>
                <a:latin typeface="Aptos" pitchFamily="34" charset="0"/>
                <a:ea typeface="Aptos" pitchFamily="34" charset="-122"/>
                <a:cs typeface="Aptos" pitchFamily="34" charset="-120"/>
              </a:rPr>
              <a:t>• Better patient engagement outside business hours</a:t>
            </a:r>
            <a:endParaRPr lang="en-US" sz="1060" dirty="0"/>
          </a:p>
          <a:p>
            <a:pPr marL="0" indent="0">
              <a:buNone/>
            </a:pPr>
            <a:r>
              <a:rPr lang="en-US" sz="1060" dirty="0">
                <a:solidFill>
                  <a:srgbClr val="556677"/>
                </a:solidFill>
                <a:latin typeface="Aptos" pitchFamily="34" charset="0"/>
                <a:ea typeface="Aptos" pitchFamily="34" charset="-122"/>
                <a:cs typeface="Aptos" pitchFamily="34" charset="-120"/>
              </a:rPr>
              <a:t>• A foundation for provider portals, analytics, and white-label deployments</a:t>
            </a:r>
            <a:endParaRPr lang="en-US" sz="1060" dirty="0"/>
          </a:p>
        </p:txBody>
      </p:sp>
      <p:sp>
        <p:nvSpPr>
          <p:cNvPr id="20" name="Text 18"/>
          <p:cNvSpPr/>
          <p:nvPr/>
        </p:nvSpPr>
        <p:spPr>
          <a:xfrm>
            <a:off x="548640" y="6455664"/>
            <a:ext cx="4937760" cy="164592"/>
          </a:xfrm>
          <a:prstGeom prst="rect">
            <a:avLst/>
          </a:prstGeom>
          <a:noFill/>
          <a:ln/>
        </p:spPr>
        <p:txBody>
          <a:bodyPr wrap="square" lIns="0" tIns="0" rIns="0" bIns="0" rtlCol="0" anchor="ctr"/>
          <a:lstStyle/>
          <a:p>
            <a:pPr marL="0" indent="0">
              <a:buNone/>
            </a:pPr>
            <a:r>
              <a:rPr lang="en-US" sz="950" dirty="0">
                <a:solidFill>
                  <a:srgbClr val="556677"/>
                </a:solidFill>
                <a:latin typeface="Aptos" pitchFamily="34" charset="0"/>
                <a:ea typeface="Aptos" pitchFamily="34" charset="-122"/>
                <a:cs typeface="Aptos" pitchFamily="34" charset="-120"/>
              </a:rPr>
              <a:t>HealthCompass MA  |  Executive Summary  |  April 2026</a:t>
            </a:r>
            <a:endParaRPr lang="en-US" sz="950" dirty="0"/>
          </a:p>
        </p:txBody>
      </p:sp>
      <p:sp>
        <p:nvSpPr>
          <p:cNvPr id="21" name="Text 19"/>
          <p:cNvSpPr/>
          <p:nvPr/>
        </p:nvSpPr>
        <p:spPr>
          <a:xfrm>
            <a:off x="10469880" y="6455664"/>
            <a:ext cx="1097280" cy="164592"/>
          </a:xfrm>
          <a:prstGeom prst="rect">
            <a:avLst/>
          </a:prstGeom>
          <a:noFill/>
          <a:ln/>
        </p:spPr>
        <p:txBody>
          <a:bodyPr wrap="square" lIns="0" tIns="0" rIns="0" bIns="0" rtlCol="0" anchor="ctr"/>
          <a:lstStyle/>
          <a:p>
            <a:pPr marL="0" indent="0" algn="r">
              <a:buNone/>
            </a:pPr>
            <a:r>
              <a:rPr lang="en-US" sz="950" dirty="0">
                <a:solidFill>
                  <a:srgbClr val="556677"/>
                </a:solidFill>
                <a:latin typeface="Aptos" pitchFamily="34" charset="0"/>
                <a:ea typeface="Aptos" pitchFamily="34" charset="-122"/>
                <a:cs typeface="Aptos" pitchFamily="34" charset="-120"/>
              </a:rPr>
              <a:t>Confidential</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263F"/>
        </a:solidFill>
        <a:effectLst/>
      </p:bgPr>
    </p:bg>
    <p:spTree>
      <p:nvGrpSpPr>
        <p:cNvPr id="1" name=""/>
        <p:cNvGrpSpPr/>
        <p:nvPr/>
      </p:nvGrpSpPr>
      <p:grpSpPr>
        <a:xfrm>
          <a:off x="0" y="0"/>
          <a:ext cx="0" cy="0"/>
          <a:chOff x="0" y="0"/>
          <a:chExt cx="0" cy="0"/>
        </a:xfrm>
      </p:grpSpPr>
      <p:sp>
        <p:nvSpPr>
          <p:cNvPr id="2" name="Shape 0"/>
          <p:cNvSpPr/>
          <p:nvPr/>
        </p:nvSpPr>
        <p:spPr>
          <a:xfrm rot="960000">
            <a:off x="9052560" y="-548640"/>
            <a:ext cx="3840480" cy="3474720"/>
          </a:xfrm>
          <a:prstGeom prst="rect">
            <a:avLst/>
          </a:prstGeom>
          <a:solidFill>
            <a:srgbClr val="137C71">
              <a:alpha val="18000"/>
            </a:srgbClr>
          </a:solidFill>
          <a:ln w="12700">
            <a:solidFill>
              <a:srgbClr val="137C71">
                <a:alpha val="0"/>
              </a:srgbClr>
            </a:solidFill>
            <a:prstDash val="solid"/>
          </a:ln>
        </p:spPr>
        <p:txBody>
          <a:bodyPr/>
          <a:lstStyle/>
          <a:p>
            <a:endParaRPr lang="en-US"/>
          </a:p>
        </p:txBody>
      </p:sp>
      <p:sp>
        <p:nvSpPr>
          <p:cNvPr id="3" name="Shape 1"/>
          <p:cNvSpPr/>
          <p:nvPr/>
        </p:nvSpPr>
        <p:spPr>
          <a:xfrm>
            <a:off x="-731520" y="5212080"/>
            <a:ext cx="3108960" cy="2194560"/>
          </a:xfrm>
          <a:prstGeom prst="ellipse">
            <a:avLst/>
          </a:prstGeom>
          <a:solidFill>
            <a:srgbClr val="E8825E">
              <a:alpha val="20000"/>
            </a:srgbClr>
          </a:solidFill>
          <a:ln w="12700">
            <a:solidFill>
              <a:srgbClr val="E8825E">
                <a:alpha val="0"/>
              </a:srgbClr>
            </a:solidFill>
            <a:prstDash val="solid"/>
          </a:ln>
        </p:spPr>
        <p:txBody>
          <a:bodyPr/>
          <a:lstStyle/>
          <a:p>
            <a:endParaRPr lang="en-US"/>
          </a:p>
        </p:txBody>
      </p:sp>
      <p:sp>
        <p:nvSpPr>
          <p:cNvPr id="4" name="Shape 2"/>
          <p:cNvSpPr/>
          <p:nvPr/>
        </p:nvSpPr>
        <p:spPr>
          <a:xfrm>
            <a:off x="548640" y="1005840"/>
            <a:ext cx="11064240" cy="0"/>
          </a:xfrm>
          <a:prstGeom prst="line">
            <a:avLst/>
          </a:prstGeom>
          <a:noFill/>
          <a:ln w="17780">
            <a:solidFill>
              <a:srgbClr val="5DB7DE">
                <a:alpha val="40000"/>
              </a:srgbClr>
            </a:solidFill>
            <a:prstDash val="solid"/>
          </a:ln>
        </p:spPr>
        <p:txBody>
          <a:bodyPr/>
          <a:lstStyle/>
          <a:p>
            <a:endParaRPr lang="en-US"/>
          </a:p>
        </p:txBody>
      </p:sp>
      <p:sp>
        <p:nvSpPr>
          <p:cNvPr id="5" name="Text 3"/>
          <p:cNvSpPr/>
          <p:nvPr/>
        </p:nvSpPr>
        <p:spPr>
          <a:xfrm>
            <a:off x="640080" y="438912"/>
            <a:ext cx="3474720" cy="201168"/>
          </a:xfrm>
          <a:prstGeom prst="rect">
            <a:avLst/>
          </a:prstGeom>
          <a:noFill/>
          <a:ln/>
        </p:spPr>
        <p:txBody>
          <a:bodyPr wrap="square" lIns="0" tIns="0" rIns="0" bIns="0" rtlCol="0" anchor="ctr"/>
          <a:lstStyle/>
          <a:p>
            <a:pPr marL="0" indent="0">
              <a:buNone/>
            </a:pPr>
            <a:r>
              <a:rPr lang="en-US" sz="1050" b="1" dirty="0">
                <a:solidFill>
                  <a:srgbClr val="9FDDF1"/>
                </a:solidFill>
                <a:latin typeface="Aptos" pitchFamily="34" charset="0"/>
                <a:ea typeface="Aptos" pitchFamily="34" charset="-122"/>
                <a:cs typeface="Aptos" pitchFamily="34" charset="-120"/>
              </a:rPr>
              <a:t>LANGUAGE, ACCESSIBILITY, AND DISABILITY SUPPORT</a:t>
            </a:r>
            <a:endParaRPr lang="en-US" sz="1050" dirty="0"/>
          </a:p>
        </p:txBody>
      </p:sp>
      <p:sp>
        <p:nvSpPr>
          <p:cNvPr id="6" name="Text 4"/>
          <p:cNvSpPr/>
          <p:nvPr/>
        </p:nvSpPr>
        <p:spPr>
          <a:xfrm>
            <a:off x="640080" y="749808"/>
            <a:ext cx="7498080" cy="713232"/>
          </a:xfrm>
          <a:prstGeom prst="rect">
            <a:avLst/>
          </a:prstGeom>
          <a:noFill/>
          <a:ln/>
        </p:spPr>
        <p:txBody>
          <a:bodyPr wrap="square" lIns="0" tIns="0" rIns="0" bIns="0" rtlCol="0" anchor="ctr"/>
          <a:lstStyle/>
          <a:p>
            <a:pPr marL="0" indent="0">
              <a:buNone/>
            </a:pPr>
            <a:r>
              <a:rPr lang="en-US" sz="2150" b="1" dirty="0">
                <a:solidFill>
                  <a:srgbClr val="FFFFFF"/>
                </a:solidFill>
                <a:latin typeface="Aptos Display" pitchFamily="34" charset="0"/>
                <a:ea typeface="Aptos Display" pitchFamily="34" charset="-122"/>
                <a:cs typeface="Aptos Display" pitchFamily="34" charset="-120"/>
              </a:rPr>
              <a:t>Built for language, accessibility, and disability needs</a:t>
            </a:r>
            <a:endParaRPr lang="en-US" sz="2150" dirty="0"/>
          </a:p>
        </p:txBody>
      </p:sp>
      <p:sp>
        <p:nvSpPr>
          <p:cNvPr id="7" name="Text 5"/>
          <p:cNvSpPr/>
          <p:nvPr/>
        </p:nvSpPr>
        <p:spPr>
          <a:xfrm>
            <a:off x="658368" y="1481328"/>
            <a:ext cx="6858000" cy="512064"/>
          </a:xfrm>
          <a:prstGeom prst="rect">
            <a:avLst/>
          </a:prstGeom>
          <a:noFill/>
          <a:ln/>
        </p:spPr>
        <p:txBody>
          <a:bodyPr wrap="square" lIns="0" tIns="0" rIns="0" bIns="0" rtlCol="0" anchor="ctr"/>
          <a:lstStyle/>
          <a:p>
            <a:pPr marL="0" indent="0">
              <a:buNone/>
            </a:pPr>
            <a:r>
              <a:rPr lang="en-US" sz="1150" dirty="0">
                <a:solidFill>
                  <a:srgbClr val="D5E4F2"/>
                </a:solidFill>
                <a:latin typeface="Aptos" pitchFamily="34" charset="0"/>
                <a:ea typeface="Aptos" pitchFamily="34" charset="-122"/>
                <a:cs typeface="Aptos" pitchFamily="34" charset="-120"/>
              </a:rPr>
              <a:t>For users who do not fit the default assumption of strong English, high literacy, or easy form completion.</a:t>
            </a:r>
            <a:endParaRPr lang="en-US" sz="1150" dirty="0"/>
          </a:p>
        </p:txBody>
      </p:sp>
      <p:sp>
        <p:nvSpPr>
          <p:cNvPr id="8" name="Shape 6"/>
          <p:cNvSpPr/>
          <p:nvPr/>
        </p:nvSpPr>
        <p:spPr>
          <a:xfrm>
            <a:off x="658368" y="2066544"/>
            <a:ext cx="2980944" cy="3493008"/>
          </a:xfrm>
          <a:prstGeom prst="roundRect">
            <a:avLst>
              <a:gd name="adj" fmla="val 2454"/>
            </a:avLst>
          </a:prstGeom>
          <a:solidFill>
            <a:srgbClr val="17304B"/>
          </a:solidFill>
          <a:ln w="13970">
            <a:solidFill>
              <a:srgbClr val="35516A"/>
            </a:solidFill>
            <a:prstDash val="solid"/>
          </a:ln>
        </p:spPr>
        <p:txBody>
          <a:bodyPr/>
          <a:lstStyle/>
          <a:p>
            <a:endParaRPr lang="en-US"/>
          </a:p>
        </p:txBody>
      </p:sp>
      <p:sp>
        <p:nvSpPr>
          <p:cNvPr id="9" name="Shape 7"/>
          <p:cNvSpPr/>
          <p:nvPr/>
        </p:nvSpPr>
        <p:spPr>
          <a:xfrm>
            <a:off x="822960" y="2231136"/>
            <a:ext cx="164592" cy="3163824"/>
          </a:xfrm>
          <a:prstGeom prst="roundRect">
            <a:avLst>
              <a:gd name="adj" fmla="val 44444"/>
            </a:avLst>
          </a:prstGeom>
          <a:solidFill>
            <a:srgbClr val="137C71"/>
          </a:solidFill>
          <a:ln w="12700">
            <a:solidFill>
              <a:srgbClr val="137C71"/>
            </a:solidFill>
            <a:prstDash val="solid"/>
          </a:ln>
        </p:spPr>
        <p:txBody>
          <a:bodyPr/>
          <a:lstStyle/>
          <a:p>
            <a:endParaRPr lang="en-US"/>
          </a:p>
        </p:txBody>
      </p:sp>
      <p:sp>
        <p:nvSpPr>
          <p:cNvPr id="10" name="Text 8"/>
          <p:cNvSpPr/>
          <p:nvPr/>
        </p:nvSpPr>
        <p:spPr>
          <a:xfrm>
            <a:off x="1097280" y="2231136"/>
            <a:ext cx="2377440" cy="274320"/>
          </a:xfrm>
          <a:prstGeom prst="rect">
            <a:avLst/>
          </a:prstGeom>
          <a:noFill/>
          <a:ln/>
        </p:spPr>
        <p:txBody>
          <a:bodyPr wrap="square" lIns="0" tIns="0" rIns="0" bIns="0" rtlCol="0" anchor="ctr"/>
          <a:lstStyle/>
          <a:p>
            <a:pPr marL="0" indent="0">
              <a:buNone/>
            </a:pPr>
            <a:r>
              <a:rPr lang="en-US" sz="1600" b="1" dirty="0">
                <a:solidFill>
                  <a:srgbClr val="FFFFFF"/>
                </a:solidFill>
                <a:latin typeface="Aptos Display" pitchFamily="34" charset="0"/>
                <a:ea typeface="Aptos Display" pitchFamily="34" charset="-122"/>
                <a:cs typeface="Aptos Display" pitchFamily="34" charset="-120"/>
              </a:rPr>
              <a:t>Languages live today</a:t>
            </a:r>
            <a:endParaRPr lang="en-US" sz="1600" dirty="0"/>
          </a:p>
        </p:txBody>
      </p:sp>
      <p:sp>
        <p:nvSpPr>
          <p:cNvPr id="11" name="Text 9"/>
          <p:cNvSpPr/>
          <p:nvPr/>
        </p:nvSpPr>
        <p:spPr>
          <a:xfrm>
            <a:off x="1097280" y="2578608"/>
            <a:ext cx="2377440" cy="2798064"/>
          </a:xfrm>
          <a:prstGeom prst="rect">
            <a:avLst/>
          </a:prstGeom>
          <a:noFill/>
          <a:ln/>
        </p:spPr>
        <p:txBody>
          <a:bodyPr wrap="square" lIns="0" tIns="0" rIns="0" bIns="0" rtlCol="0" anchor="t"/>
          <a:lstStyle/>
          <a:p>
            <a:pPr marL="0" indent="0">
              <a:buNone/>
            </a:pPr>
            <a:r>
              <a:rPr lang="en-US" sz="1320" dirty="0">
                <a:solidFill>
                  <a:srgbClr val="D9E5F0"/>
                </a:solidFill>
                <a:latin typeface="Aptos" pitchFamily="34" charset="0"/>
                <a:ea typeface="Aptos" pitchFamily="34" charset="-122"/>
                <a:cs typeface="Aptos" pitchFamily="34" charset="-120"/>
              </a:rPr>
              <a:t>English</a:t>
            </a:r>
            <a:endParaRPr lang="en-US" sz="1320" dirty="0"/>
          </a:p>
          <a:p>
            <a:pPr marL="0" indent="0">
              <a:buNone/>
            </a:pPr>
            <a:r>
              <a:rPr lang="en-US" sz="1320" dirty="0">
                <a:solidFill>
                  <a:srgbClr val="D9E5F0"/>
                </a:solidFill>
                <a:latin typeface="Aptos" pitchFamily="34" charset="0"/>
                <a:ea typeface="Aptos" pitchFamily="34" charset="-122"/>
                <a:cs typeface="Aptos" pitchFamily="34" charset="-120"/>
              </a:rPr>
              <a:t>简体中文</a:t>
            </a:r>
            <a:endParaRPr lang="en-US" sz="1320" dirty="0"/>
          </a:p>
          <a:p>
            <a:pPr marL="0" indent="0">
              <a:buNone/>
            </a:pPr>
            <a:r>
              <a:rPr lang="en-US" sz="1320" dirty="0">
                <a:solidFill>
                  <a:srgbClr val="D9E5F0"/>
                </a:solidFill>
                <a:latin typeface="Aptos" pitchFamily="34" charset="0"/>
                <a:ea typeface="Aptos" pitchFamily="34" charset="-122"/>
                <a:cs typeface="Aptos" pitchFamily="34" charset="-120"/>
              </a:rPr>
              <a:t>Kreyòl ayisyen</a:t>
            </a:r>
            <a:endParaRPr lang="en-US" sz="1320" dirty="0"/>
          </a:p>
          <a:p>
            <a:pPr marL="0" indent="0">
              <a:buNone/>
            </a:pPr>
            <a:r>
              <a:rPr lang="en-US" sz="1320" dirty="0">
                <a:solidFill>
                  <a:srgbClr val="D9E5F0"/>
                </a:solidFill>
                <a:latin typeface="Aptos" pitchFamily="34" charset="0"/>
                <a:ea typeface="Aptos" pitchFamily="34" charset="-122"/>
                <a:cs typeface="Aptos" pitchFamily="34" charset="-120"/>
              </a:rPr>
              <a:t>Português, Brasil</a:t>
            </a:r>
            <a:endParaRPr lang="en-US" sz="1320" dirty="0"/>
          </a:p>
          <a:p>
            <a:pPr marL="0" indent="0">
              <a:buNone/>
            </a:pPr>
            <a:r>
              <a:rPr lang="en-US" sz="1320" dirty="0">
                <a:solidFill>
                  <a:srgbClr val="D9E5F0"/>
                </a:solidFill>
                <a:latin typeface="Aptos" pitchFamily="34" charset="0"/>
                <a:ea typeface="Aptos" pitchFamily="34" charset="-122"/>
                <a:cs typeface="Aptos" pitchFamily="34" charset="-120"/>
              </a:rPr>
              <a:t>Español</a:t>
            </a:r>
            <a:endParaRPr lang="en-US" sz="1320" dirty="0"/>
          </a:p>
          <a:p>
            <a:pPr marL="0" indent="0">
              <a:buNone/>
            </a:pPr>
            <a:r>
              <a:rPr lang="en-US" sz="1320" dirty="0">
                <a:solidFill>
                  <a:srgbClr val="D9E5F0"/>
                </a:solidFill>
                <a:latin typeface="Aptos" pitchFamily="34" charset="0"/>
                <a:ea typeface="Aptos" pitchFamily="34" charset="-122"/>
                <a:cs typeface="Aptos" pitchFamily="34" charset="-120"/>
              </a:rPr>
              <a:t>Tiếng Việt</a:t>
            </a:r>
            <a:endParaRPr lang="en-US" sz="1320" dirty="0"/>
          </a:p>
        </p:txBody>
      </p:sp>
      <p:sp>
        <p:nvSpPr>
          <p:cNvPr id="12" name="Shape 10"/>
          <p:cNvSpPr/>
          <p:nvPr/>
        </p:nvSpPr>
        <p:spPr>
          <a:xfrm>
            <a:off x="3877056" y="2066544"/>
            <a:ext cx="3529584" cy="1517904"/>
          </a:xfrm>
          <a:prstGeom prst="roundRect">
            <a:avLst>
              <a:gd name="adj" fmla="val 4819"/>
            </a:avLst>
          </a:prstGeom>
          <a:solidFill>
            <a:srgbClr val="17304B"/>
          </a:solidFill>
          <a:ln w="13970">
            <a:solidFill>
              <a:srgbClr val="35516A"/>
            </a:solidFill>
            <a:prstDash val="solid"/>
          </a:ln>
        </p:spPr>
        <p:txBody>
          <a:bodyPr/>
          <a:lstStyle/>
          <a:p>
            <a:endParaRPr lang="en-US"/>
          </a:p>
        </p:txBody>
      </p:sp>
      <p:sp>
        <p:nvSpPr>
          <p:cNvPr id="13" name="Shape 11"/>
          <p:cNvSpPr/>
          <p:nvPr/>
        </p:nvSpPr>
        <p:spPr>
          <a:xfrm>
            <a:off x="4041648" y="2231136"/>
            <a:ext cx="164592" cy="1188720"/>
          </a:xfrm>
          <a:prstGeom prst="roundRect">
            <a:avLst>
              <a:gd name="adj" fmla="val 44444"/>
            </a:avLst>
          </a:prstGeom>
          <a:solidFill>
            <a:srgbClr val="5DB7DE"/>
          </a:solidFill>
          <a:ln w="12700">
            <a:solidFill>
              <a:srgbClr val="5DB7DE"/>
            </a:solidFill>
            <a:prstDash val="solid"/>
          </a:ln>
        </p:spPr>
        <p:txBody>
          <a:bodyPr/>
          <a:lstStyle/>
          <a:p>
            <a:endParaRPr lang="en-US"/>
          </a:p>
        </p:txBody>
      </p:sp>
      <p:sp>
        <p:nvSpPr>
          <p:cNvPr id="14" name="Text 12"/>
          <p:cNvSpPr/>
          <p:nvPr/>
        </p:nvSpPr>
        <p:spPr>
          <a:xfrm>
            <a:off x="4315968" y="2231136"/>
            <a:ext cx="2926080" cy="274320"/>
          </a:xfrm>
          <a:prstGeom prst="rect">
            <a:avLst/>
          </a:prstGeom>
          <a:noFill/>
          <a:ln/>
        </p:spPr>
        <p:txBody>
          <a:bodyPr wrap="square" lIns="0" tIns="0" rIns="0" bIns="0" rtlCol="0" anchor="ctr"/>
          <a:lstStyle/>
          <a:p>
            <a:pPr marL="0" indent="0">
              <a:buNone/>
            </a:pPr>
            <a:r>
              <a:rPr lang="en-US" sz="1500" b="1" dirty="0">
                <a:solidFill>
                  <a:srgbClr val="FFFFFF"/>
                </a:solidFill>
                <a:latin typeface="Aptos Display" pitchFamily="34" charset="0"/>
                <a:ea typeface="Aptos Display" pitchFamily="34" charset="-122"/>
                <a:cs typeface="Aptos Display" pitchFamily="34" charset="-120"/>
              </a:rPr>
              <a:t>Accessibility preferences already modeled</a:t>
            </a:r>
            <a:endParaRPr lang="en-US" sz="1500" dirty="0"/>
          </a:p>
        </p:txBody>
      </p:sp>
      <p:sp>
        <p:nvSpPr>
          <p:cNvPr id="15" name="Text 13"/>
          <p:cNvSpPr/>
          <p:nvPr/>
        </p:nvSpPr>
        <p:spPr>
          <a:xfrm>
            <a:off x="4315968" y="2578608"/>
            <a:ext cx="2926080" cy="822960"/>
          </a:xfrm>
          <a:prstGeom prst="rect">
            <a:avLst/>
          </a:prstGeom>
          <a:noFill/>
          <a:ln/>
        </p:spPr>
        <p:txBody>
          <a:bodyPr wrap="square" lIns="0" tIns="0" rIns="0" bIns="0" rtlCol="0" anchor="t"/>
          <a:lstStyle/>
          <a:p>
            <a:pPr marL="0" indent="0">
              <a:buNone/>
            </a:pPr>
            <a:r>
              <a:rPr lang="en-US" sz="1000" dirty="0">
                <a:solidFill>
                  <a:srgbClr val="D9E5F0"/>
                </a:solidFill>
                <a:latin typeface="Aptos" pitchFamily="34" charset="0"/>
                <a:ea typeface="Aptos" pitchFamily="34" charset="-122"/>
                <a:cs typeface="Aptos" pitchFamily="34" charset="-120"/>
              </a:rPr>
              <a:t>Reading assistance, translation support, and voice assistant preferences can be saved at the profile level and applied across the app experience.</a:t>
            </a:r>
            <a:endParaRPr lang="en-US" sz="1000" dirty="0"/>
          </a:p>
        </p:txBody>
      </p:sp>
      <p:sp>
        <p:nvSpPr>
          <p:cNvPr id="16" name="Shape 14"/>
          <p:cNvSpPr/>
          <p:nvPr/>
        </p:nvSpPr>
        <p:spPr>
          <a:xfrm>
            <a:off x="3877056" y="3767328"/>
            <a:ext cx="3529584" cy="1792224"/>
          </a:xfrm>
          <a:prstGeom prst="roundRect">
            <a:avLst>
              <a:gd name="adj" fmla="val 4082"/>
            </a:avLst>
          </a:prstGeom>
          <a:solidFill>
            <a:srgbClr val="17304B"/>
          </a:solidFill>
          <a:ln w="13970">
            <a:solidFill>
              <a:srgbClr val="35516A"/>
            </a:solidFill>
            <a:prstDash val="solid"/>
          </a:ln>
        </p:spPr>
        <p:txBody>
          <a:bodyPr/>
          <a:lstStyle/>
          <a:p>
            <a:endParaRPr lang="en-US"/>
          </a:p>
        </p:txBody>
      </p:sp>
      <p:sp>
        <p:nvSpPr>
          <p:cNvPr id="17" name="Shape 15"/>
          <p:cNvSpPr/>
          <p:nvPr/>
        </p:nvSpPr>
        <p:spPr>
          <a:xfrm>
            <a:off x="4041648" y="3931920"/>
            <a:ext cx="164592" cy="1463040"/>
          </a:xfrm>
          <a:prstGeom prst="roundRect">
            <a:avLst>
              <a:gd name="adj" fmla="val 44444"/>
            </a:avLst>
          </a:prstGeom>
          <a:solidFill>
            <a:srgbClr val="F2C14E"/>
          </a:solidFill>
          <a:ln w="12700">
            <a:solidFill>
              <a:srgbClr val="F2C14E"/>
            </a:solidFill>
            <a:prstDash val="solid"/>
          </a:ln>
        </p:spPr>
        <p:txBody>
          <a:bodyPr/>
          <a:lstStyle/>
          <a:p>
            <a:endParaRPr lang="en-US"/>
          </a:p>
        </p:txBody>
      </p:sp>
      <p:sp>
        <p:nvSpPr>
          <p:cNvPr id="18" name="Text 16"/>
          <p:cNvSpPr/>
          <p:nvPr/>
        </p:nvSpPr>
        <p:spPr>
          <a:xfrm>
            <a:off x="4315968" y="3931920"/>
            <a:ext cx="2926080" cy="274320"/>
          </a:xfrm>
          <a:prstGeom prst="rect">
            <a:avLst/>
          </a:prstGeom>
          <a:noFill/>
          <a:ln/>
        </p:spPr>
        <p:txBody>
          <a:bodyPr wrap="square" lIns="0" tIns="0" rIns="0" bIns="0" rtlCol="0" anchor="ctr"/>
          <a:lstStyle/>
          <a:p>
            <a:pPr marL="0" indent="0">
              <a:buNone/>
            </a:pPr>
            <a:r>
              <a:rPr lang="en-US" sz="1500" b="1" dirty="0">
                <a:solidFill>
                  <a:srgbClr val="FFFFFF"/>
                </a:solidFill>
                <a:latin typeface="Aptos Display" pitchFamily="34" charset="0"/>
                <a:ea typeface="Aptos Display" pitchFamily="34" charset="-122"/>
                <a:cs typeface="Aptos Display" pitchFamily="34" charset="-120"/>
              </a:rPr>
              <a:t>Support when writing is hard</a:t>
            </a:r>
            <a:endParaRPr lang="en-US" sz="1500" dirty="0"/>
          </a:p>
        </p:txBody>
      </p:sp>
      <p:sp>
        <p:nvSpPr>
          <p:cNvPr id="19" name="Text 17"/>
          <p:cNvSpPr/>
          <p:nvPr/>
        </p:nvSpPr>
        <p:spPr>
          <a:xfrm>
            <a:off x="4315968" y="4279392"/>
            <a:ext cx="2926080" cy="1097280"/>
          </a:xfrm>
          <a:prstGeom prst="rect">
            <a:avLst/>
          </a:prstGeom>
          <a:noFill/>
          <a:ln/>
        </p:spPr>
        <p:txBody>
          <a:bodyPr wrap="square" lIns="0" tIns="0" rIns="0" bIns="0" rtlCol="0" anchor="t"/>
          <a:lstStyle/>
          <a:p>
            <a:pPr marL="0" indent="0">
              <a:buNone/>
            </a:pPr>
            <a:r>
              <a:rPr lang="en-US" sz="1000" dirty="0">
                <a:solidFill>
                  <a:srgbClr val="D9E5F0"/>
                </a:solidFill>
                <a:latin typeface="Aptos" pitchFamily="34" charset="0"/>
                <a:ea typeface="Aptos" pitchFamily="34" charset="-122"/>
                <a:cs typeface="Aptos" pitchFamily="34" charset="-120"/>
              </a:rPr>
              <a:t>Users can work through guided chat, speak via voice notes, and receive plain-language assistance instead of being forced into dense form fields from the start.</a:t>
            </a:r>
            <a:endParaRPr lang="en-US" sz="1000" dirty="0"/>
          </a:p>
        </p:txBody>
      </p:sp>
      <p:sp>
        <p:nvSpPr>
          <p:cNvPr id="20" name="Shape 18"/>
          <p:cNvSpPr/>
          <p:nvPr/>
        </p:nvSpPr>
        <p:spPr>
          <a:xfrm>
            <a:off x="7626096" y="2066544"/>
            <a:ext cx="3657600" cy="3493008"/>
          </a:xfrm>
          <a:prstGeom prst="roundRect">
            <a:avLst>
              <a:gd name="adj" fmla="val 2094"/>
            </a:avLst>
          </a:prstGeom>
          <a:solidFill>
            <a:srgbClr val="17304B"/>
          </a:solidFill>
          <a:ln w="13970">
            <a:solidFill>
              <a:srgbClr val="35516A"/>
            </a:solidFill>
            <a:prstDash val="solid"/>
          </a:ln>
        </p:spPr>
        <p:txBody>
          <a:bodyPr/>
          <a:lstStyle/>
          <a:p>
            <a:endParaRPr lang="en-US"/>
          </a:p>
        </p:txBody>
      </p:sp>
      <p:sp>
        <p:nvSpPr>
          <p:cNvPr id="21" name="Shape 19"/>
          <p:cNvSpPr/>
          <p:nvPr/>
        </p:nvSpPr>
        <p:spPr>
          <a:xfrm>
            <a:off x="7790688" y="2231136"/>
            <a:ext cx="164592" cy="3163824"/>
          </a:xfrm>
          <a:prstGeom prst="roundRect">
            <a:avLst>
              <a:gd name="adj" fmla="val 44444"/>
            </a:avLst>
          </a:prstGeom>
          <a:solidFill>
            <a:srgbClr val="E8825E"/>
          </a:solidFill>
          <a:ln w="12700">
            <a:solidFill>
              <a:srgbClr val="E8825E"/>
            </a:solidFill>
            <a:prstDash val="solid"/>
          </a:ln>
        </p:spPr>
        <p:txBody>
          <a:bodyPr/>
          <a:lstStyle/>
          <a:p>
            <a:endParaRPr lang="en-US"/>
          </a:p>
        </p:txBody>
      </p:sp>
      <p:sp>
        <p:nvSpPr>
          <p:cNvPr id="22" name="Text 20"/>
          <p:cNvSpPr/>
          <p:nvPr/>
        </p:nvSpPr>
        <p:spPr>
          <a:xfrm>
            <a:off x="8065008" y="2231136"/>
            <a:ext cx="3054096" cy="274320"/>
          </a:xfrm>
          <a:prstGeom prst="rect">
            <a:avLst/>
          </a:prstGeom>
          <a:noFill/>
          <a:ln/>
        </p:spPr>
        <p:txBody>
          <a:bodyPr wrap="square" lIns="0" tIns="0" rIns="0" bIns="0" rtlCol="0" anchor="ctr"/>
          <a:lstStyle/>
          <a:p>
            <a:pPr marL="0" indent="0">
              <a:buNone/>
            </a:pPr>
            <a:r>
              <a:rPr lang="en-US" sz="1500" b="1" dirty="0">
                <a:solidFill>
                  <a:srgbClr val="FFFFFF"/>
                </a:solidFill>
                <a:latin typeface="Aptos Display" pitchFamily="34" charset="0"/>
                <a:ea typeface="Aptos Display" pitchFamily="34" charset="-122"/>
                <a:cs typeface="Aptos Display" pitchFamily="34" charset="-120"/>
              </a:rPr>
              <a:t>Disability-aware application logic</a:t>
            </a:r>
            <a:endParaRPr lang="en-US" sz="1500" dirty="0"/>
          </a:p>
        </p:txBody>
      </p:sp>
      <p:sp>
        <p:nvSpPr>
          <p:cNvPr id="23" name="Text 21"/>
          <p:cNvSpPr/>
          <p:nvPr/>
        </p:nvSpPr>
        <p:spPr>
          <a:xfrm>
            <a:off x="8065008" y="2578608"/>
            <a:ext cx="3054096" cy="2798064"/>
          </a:xfrm>
          <a:prstGeom prst="rect">
            <a:avLst/>
          </a:prstGeom>
          <a:noFill/>
          <a:ln/>
        </p:spPr>
        <p:txBody>
          <a:bodyPr wrap="square" lIns="0" tIns="0" rIns="0" bIns="0" rtlCol="0" anchor="t"/>
          <a:lstStyle/>
          <a:p>
            <a:pPr marL="0" indent="0">
              <a:buNone/>
            </a:pPr>
            <a:r>
              <a:rPr lang="en-US" sz="1030" dirty="0">
                <a:solidFill>
                  <a:srgbClr val="D9E5F0"/>
                </a:solidFill>
                <a:latin typeface="Aptos" pitchFamily="34" charset="0"/>
                <a:ea typeface="Aptos" pitchFamily="34" charset="-122"/>
                <a:cs typeface="Aptos" pitchFamily="34" charset="-120"/>
              </a:rPr>
              <a:t>The platform already captures disability / SSI / SSDI context, routes cases through disability-related rules, and identifies when medical verification or disability supplements are required. That is exactly where software can help people get an application ready instead of failing late in the process.</a:t>
            </a:r>
            <a:endParaRPr lang="en-US" sz="1030" dirty="0"/>
          </a:p>
        </p:txBody>
      </p:sp>
      <p:sp>
        <p:nvSpPr>
          <p:cNvPr id="24" name="Text 22"/>
          <p:cNvSpPr/>
          <p:nvPr/>
        </p:nvSpPr>
        <p:spPr>
          <a:xfrm>
            <a:off x="548640" y="6455664"/>
            <a:ext cx="4937760" cy="164592"/>
          </a:xfrm>
          <a:prstGeom prst="rect">
            <a:avLst/>
          </a:prstGeom>
          <a:noFill/>
          <a:ln/>
        </p:spPr>
        <p:txBody>
          <a:bodyPr wrap="square" lIns="0" tIns="0" rIns="0" bIns="0" rtlCol="0" anchor="ctr"/>
          <a:lstStyle/>
          <a:p>
            <a:pPr marL="0" indent="0">
              <a:buNone/>
            </a:pPr>
            <a:r>
              <a:rPr lang="en-US" sz="950" dirty="0">
                <a:solidFill>
                  <a:srgbClr val="C7D6E5"/>
                </a:solidFill>
                <a:latin typeface="Aptos" pitchFamily="34" charset="0"/>
                <a:ea typeface="Aptos" pitchFamily="34" charset="-122"/>
                <a:cs typeface="Aptos" pitchFamily="34" charset="-120"/>
              </a:rPr>
              <a:t>HealthCompass MA  |  Executive Summary  |  April 2026</a:t>
            </a:r>
            <a:endParaRPr lang="en-US" sz="950" dirty="0"/>
          </a:p>
        </p:txBody>
      </p:sp>
      <p:sp>
        <p:nvSpPr>
          <p:cNvPr id="25" name="Text 23"/>
          <p:cNvSpPr/>
          <p:nvPr/>
        </p:nvSpPr>
        <p:spPr>
          <a:xfrm>
            <a:off x="10469880" y="6455664"/>
            <a:ext cx="1097280" cy="164592"/>
          </a:xfrm>
          <a:prstGeom prst="rect">
            <a:avLst/>
          </a:prstGeom>
          <a:noFill/>
          <a:ln/>
        </p:spPr>
        <p:txBody>
          <a:bodyPr wrap="square" lIns="0" tIns="0" rIns="0" bIns="0" rtlCol="0" anchor="ctr"/>
          <a:lstStyle/>
          <a:p>
            <a:pPr marL="0" indent="0" algn="r">
              <a:buNone/>
            </a:pPr>
            <a:r>
              <a:rPr lang="en-US" sz="950" dirty="0">
                <a:solidFill>
                  <a:srgbClr val="C7D6E5"/>
                </a:solidFill>
                <a:latin typeface="Aptos" pitchFamily="34" charset="0"/>
                <a:ea typeface="Aptos" pitchFamily="34" charset="-122"/>
                <a:cs typeface="Aptos" pitchFamily="34" charset="-120"/>
              </a:rPr>
              <a:t>Confidential</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137C71"/>
          </a:solidFill>
          <a:ln w="12700">
            <a:solidFill>
              <a:srgbClr val="137C71"/>
            </a:solidFill>
            <a:prstDash val="solid"/>
          </a:ln>
        </p:spPr>
        <p:txBody>
          <a:bodyPr/>
          <a:lstStyle/>
          <a:p>
            <a:endParaRPr lang="en-US"/>
          </a:p>
        </p:txBody>
      </p:sp>
      <p:sp>
        <p:nvSpPr>
          <p:cNvPr id="3" name="Shape 1"/>
          <p:cNvSpPr/>
          <p:nvPr/>
        </p:nvSpPr>
        <p:spPr>
          <a:xfrm>
            <a:off x="9509760" y="-640080"/>
            <a:ext cx="2926080" cy="2011680"/>
          </a:xfrm>
          <a:prstGeom prst="ellipse">
            <a:avLst/>
          </a:prstGeom>
          <a:solidFill>
            <a:srgbClr val="E9F5FB">
              <a:alpha val="65000"/>
            </a:srgbClr>
          </a:solidFill>
          <a:ln w="12700">
            <a:solidFill>
              <a:srgbClr val="E9F5FB">
                <a:alpha val="0"/>
              </a:srgbClr>
            </a:solidFill>
            <a:prstDash val="solid"/>
          </a:ln>
        </p:spPr>
        <p:txBody>
          <a:bodyPr/>
          <a:lstStyle/>
          <a:p>
            <a:endParaRPr lang="en-US"/>
          </a:p>
        </p:txBody>
      </p:sp>
      <p:sp>
        <p:nvSpPr>
          <p:cNvPr id="4" name="Shape 2"/>
          <p:cNvSpPr/>
          <p:nvPr/>
        </p:nvSpPr>
        <p:spPr>
          <a:xfrm>
            <a:off x="-731520" y="5212080"/>
            <a:ext cx="2377440" cy="1737360"/>
          </a:xfrm>
          <a:prstGeom prst="ellipse">
            <a:avLst/>
          </a:prstGeom>
          <a:solidFill>
            <a:srgbClr val="DFF5F1">
              <a:alpha val="70000"/>
            </a:srgbClr>
          </a:solidFill>
          <a:ln w="12700">
            <a:solidFill>
              <a:srgbClr val="DFF5F1">
                <a:alpha val="0"/>
              </a:srgbClr>
            </a:solidFill>
            <a:prstDash val="solid"/>
          </a:ln>
        </p:spPr>
        <p:txBody>
          <a:bodyPr/>
          <a:lstStyle/>
          <a:p>
            <a:endParaRPr lang="en-US"/>
          </a:p>
        </p:txBody>
      </p:sp>
      <p:sp>
        <p:nvSpPr>
          <p:cNvPr id="5" name="Text 3"/>
          <p:cNvSpPr/>
          <p:nvPr/>
        </p:nvSpPr>
        <p:spPr>
          <a:xfrm>
            <a:off x="640080" y="438912"/>
            <a:ext cx="3474720" cy="201168"/>
          </a:xfrm>
          <a:prstGeom prst="rect">
            <a:avLst/>
          </a:prstGeom>
          <a:noFill/>
          <a:ln/>
        </p:spPr>
        <p:txBody>
          <a:bodyPr wrap="square" lIns="0" tIns="0" rIns="0" bIns="0" rtlCol="0" anchor="ctr"/>
          <a:lstStyle/>
          <a:p>
            <a:pPr marL="0" indent="0">
              <a:buNone/>
            </a:pPr>
            <a:r>
              <a:rPr lang="en-US" sz="1050" b="1" dirty="0">
                <a:solidFill>
                  <a:srgbClr val="137C71"/>
                </a:solidFill>
                <a:latin typeface="Aptos" pitchFamily="34" charset="0"/>
                <a:ea typeface="Aptos" pitchFamily="34" charset="-122"/>
                <a:cs typeface="Aptos" pitchFamily="34" charset="-120"/>
              </a:rPr>
              <a:t>FUTURE BLUEPRINT</a:t>
            </a:r>
            <a:endParaRPr lang="en-US" sz="1050" dirty="0"/>
          </a:p>
        </p:txBody>
      </p:sp>
      <p:sp>
        <p:nvSpPr>
          <p:cNvPr id="6" name="Text 4"/>
          <p:cNvSpPr/>
          <p:nvPr/>
        </p:nvSpPr>
        <p:spPr>
          <a:xfrm>
            <a:off x="640080" y="749808"/>
            <a:ext cx="7498080" cy="713232"/>
          </a:xfrm>
          <a:prstGeom prst="rect">
            <a:avLst/>
          </a:prstGeom>
          <a:noFill/>
          <a:ln/>
        </p:spPr>
        <p:txBody>
          <a:bodyPr wrap="square" lIns="0" tIns="0" rIns="0" bIns="0" rtlCol="0" anchor="ctr"/>
          <a:lstStyle/>
          <a:p>
            <a:pPr marL="0" indent="0">
              <a:buNone/>
            </a:pPr>
            <a:r>
              <a:rPr lang="en-US" sz="2400" b="1" dirty="0">
                <a:solidFill>
                  <a:srgbClr val="1D3557"/>
                </a:solidFill>
                <a:latin typeface="Aptos Display" pitchFamily="34" charset="0"/>
                <a:ea typeface="Aptos Display" pitchFamily="34" charset="-122"/>
                <a:cs typeface="Aptos Display" pitchFamily="34" charset="-120"/>
              </a:rPr>
              <a:t>The next phase is about compounding the rule engine with document AI, renewals, provider tooling, and a stronger learning loop.</a:t>
            </a:r>
            <a:endParaRPr lang="en-US" sz="2400" dirty="0"/>
          </a:p>
        </p:txBody>
      </p:sp>
      <p:sp>
        <p:nvSpPr>
          <p:cNvPr id="7" name="Text 5"/>
          <p:cNvSpPr/>
          <p:nvPr/>
        </p:nvSpPr>
        <p:spPr>
          <a:xfrm>
            <a:off x="658368" y="1481328"/>
            <a:ext cx="6949440" cy="512064"/>
          </a:xfrm>
          <a:prstGeom prst="rect">
            <a:avLst/>
          </a:prstGeom>
          <a:noFill/>
          <a:ln/>
        </p:spPr>
        <p:txBody>
          <a:bodyPr wrap="square" lIns="0" tIns="0" rIns="0" bIns="0" rtlCol="0" anchor="ctr"/>
          <a:lstStyle/>
          <a:p>
            <a:pPr marL="0" indent="0">
              <a:buNone/>
            </a:pPr>
            <a:r>
              <a:rPr lang="en-US" sz="1150" dirty="0">
                <a:solidFill>
                  <a:srgbClr val="556677"/>
                </a:solidFill>
                <a:latin typeface="Aptos" pitchFamily="34" charset="0"/>
                <a:ea typeface="Aptos" pitchFamily="34" charset="-122"/>
                <a:cs typeface="Aptos" pitchFamily="34" charset="-120"/>
              </a:rPr>
              <a:t>Each stage increases both user value and the difficulty of replication.</a:t>
            </a:r>
            <a:endParaRPr lang="en-US" sz="1150" dirty="0"/>
          </a:p>
        </p:txBody>
      </p:sp>
      <p:sp>
        <p:nvSpPr>
          <p:cNvPr id="8" name="Shape 6"/>
          <p:cNvSpPr/>
          <p:nvPr/>
        </p:nvSpPr>
        <p:spPr>
          <a:xfrm>
            <a:off x="658368" y="2148840"/>
            <a:ext cx="2523744" cy="1463040"/>
          </a:xfrm>
          <a:prstGeom prst="roundRect">
            <a:avLst>
              <a:gd name="adj" fmla="val 5000"/>
            </a:avLst>
          </a:prstGeom>
          <a:solidFill>
            <a:srgbClr val="1D3557"/>
          </a:solidFill>
          <a:ln w="12700">
            <a:solidFill>
              <a:srgbClr val="1D3557"/>
            </a:solidFill>
            <a:prstDash val="solid"/>
          </a:ln>
        </p:spPr>
        <p:txBody>
          <a:bodyPr/>
          <a:lstStyle/>
          <a:p>
            <a:endParaRPr lang="en-US"/>
          </a:p>
        </p:txBody>
      </p:sp>
      <p:sp>
        <p:nvSpPr>
          <p:cNvPr id="9" name="Text 7"/>
          <p:cNvSpPr/>
          <p:nvPr/>
        </p:nvSpPr>
        <p:spPr>
          <a:xfrm>
            <a:off x="804672" y="2276856"/>
            <a:ext cx="2231136" cy="164592"/>
          </a:xfrm>
          <a:prstGeom prst="rect">
            <a:avLst/>
          </a:prstGeom>
          <a:noFill/>
          <a:ln/>
        </p:spPr>
        <p:txBody>
          <a:bodyPr wrap="square" lIns="0" tIns="0" rIns="0" bIns="0" rtlCol="0" anchor="ctr"/>
          <a:lstStyle/>
          <a:p>
            <a:pPr marL="0" indent="0">
              <a:buNone/>
            </a:pPr>
            <a:r>
              <a:rPr lang="en-US" sz="950" b="1" dirty="0">
                <a:solidFill>
                  <a:srgbClr val="FFFFFF"/>
                </a:solidFill>
                <a:latin typeface="Aptos" pitchFamily="34" charset="0"/>
                <a:ea typeface="Aptos" pitchFamily="34" charset="-122"/>
                <a:cs typeface="Aptos" pitchFamily="34" charset="-120"/>
              </a:rPr>
              <a:t>NOW</a:t>
            </a:r>
            <a:endParaRPr lang="en-US" sz="950" dirty="0"/>
          </a:p>
        </p:txBody>
      </p:sp>
      <p:sp>
        <p:nvSpPr>
          <p:cNvPr id="10" name="Text 8"/>
          <p:cNvSpPr/>
          <p:nvPr/>
        </p:nvSpPr>
        <p:spPr>
          <a:xfrm>
            <a:off x="804672" y="2514600"/>
            <a:ext cx="2231136" cy="274320"/>
          </a:xfrm>
          <a:prstGeom prst="rect">
            <a:avLst/>
          </a:prstGeom>
          <a:noFill/>
          <a:ln/>
        </p:spPr>
        <p:txBody>
          <a:bodyPr wrap="square" lIns="0" tIns="0" rIns="0" bIns="0" rtlCol="0" anchor="ctr"/>
          <a:lstStyle/>
          <a:p>
            <a:pPr marL="0" indent="0">
              <a:buNone/>
            </a:pPr>
            <a:r>
              <a:rPr lang="en-US" sz="1600" b="1" dirty="0">
                <a:solidFill>
                  <a:srgbClr val="FFFFFF"/>
                </a:solidFill>
                <a:latin typeface="Aptos Display" pitchFamily="34" charset="0"/>
                <a:ea typeface="Aptos Display" pitchFamily="34" charset="-122"/>
                <a:cs typeface="Aptos Display" pitchFamily="34" charset="-120"/>
              </a:rPr>
              <a:t>Workflow platform</a:t>
            </a:r>
            <a:endParaRPr lang="en-US" sz="1600" dirty="0"/>
          </a:p>
        </p:txBody>
      </p:sp>
      <p:sp>
        <p:nvSpPr>
          <p:cNvPr id="11" name="Text 9"/>
          <p:cNvSpPr/>
          <p:nvPr/>
        </p:nvSpPr>
        <p:spPr>
          <a:xfrm>
            <a:off x="804672" y="2862072"/>
            <a:ext cx="2231136" cy="566928"/>
          </a:xfrm>
          <a:prstGeom prst="rect">
            <a:avLst/>
          </a:prstGeom>
          <a:noFill/>
          <a:ln/>
        </p:spPr>
        <p:txBody>
          <a:bodyPr wrap="square" lIns="0" tIns="0" rIns="0" bIns="0" rtlCol="0" anchor="ctr"/>
          <a:lstStyle/>
          <a:p>
            <a:pPr marL="0" indent="0">
              <a:buNone/>
            </a:pPr>
            <a:r>
              <a:rPr lang="en-US" sz="960" dirty="0">
                <a:solidFill>
                  <a:srgbClr val="DCE8F2"/>
                </a:solidFill>
                <a:latin typeface="Aptos" pitchFamily="34" charset="0"/>
                <a:ea typeface="Aptos" pitchFamily="34" charset="-122"/>
                <a:cs typeface="Aptos" pitchFamily="34" charset="-120"/>
              </a:rPr>
              <a:t>Screening, benefit stack, applications, appeals, messaging, notifications, reviewer operations.</a:t>
            </a:r>
            <a:endParaRPr lang="en-US" sz="960" dirty="0"/>
          </a:p>
        </p:txBody>
      </p:sp>
      <p:sp>
        <p:nvSpPr>
          <p:cNvPr id="12" name="Shape 10"/>
          <p:cNvSpPr/>
          <p:nvPr/>
        </p:nvSpPr>
        <p:spPr>
          <a:xfrm>
            <a:off x="3310128" y="2148840"/>
            <a:ext cx="2523744" cy="1463040"/>
          </a:xfrm>
          <a:prstGeom prst="roundRect">
            <a:avLst>
              <a:gd name="adj" fmla="val 5000"/>
            </a:avLst>
          </a:prstGeom>
          <a:solidFill>
            <a:srgbClr val="137C71"/>
          </a:solidFill>
          <a:ln w="12700">
            <a:solidFill>
              <a:srgbClr val="137C71"/>
            </a:solidFill>
            <a:prstDash val="solid"/>
          </a:ln>
        </p:spPr>
        <p:txBody>
          <a:bodyPr/>
          <a:lstStyle/>
          <a:p>
            <a:endParaRPr lang="en-US"/>
          </a:p>
        </p:txBody>
      </p:sp>
      <p:sp>
        <p:nvSpPr>
          <p:cNvPr id="13" name="Text 11"/>
          <p:cNvSpPr/>
          <p:nvPr/>
        </p:nvSpPr>
        <p:spPr>
          <a:xfrm>
            <a:off x="3456432" y="2276856"/>
            <a:ext cx="2231136" cy="164592"/>
          </a:xfrm>
          <a:prstGeom prst="rect">
            <a:avLst/>
          </a:prstGeom>
          <a:noFill/>
          <a:ln/>
        </p:spPr>
        <p:txBody>
          <a:bodyPr wrap="square" lIns="0" tIns="0" rIns="0" bIns="0" rtlCol="0" anchor="ctr"/>
          <a:lstStyle/>
          <a:p>
            <a:pPr marL="0" indent="0">
              <a:buNone/>
            </a:pPr>
            <a:r>
              <a:rPr lang="en-US" sz="950" b="1" dirty="0">
                <a:solidFill>
                  <a:srgbClr val="FFFFFF"/>
                </a:solidFill>
                <a:latin typeface="Aptos" pitchFamily="34" charset="0"/>
                <a:ea typeface="Aptos" pitchFamily="34" charset="-122"/>
                <a:cs typeface="Aptos" pitchFamily="34" charset="-120"/>
              </a:rPr>
              <a:t>NEXT</a:t>
            </a:r>
            <a:endParaRPr lang="en-US" sz="950" dirty="0"/>
          </a:p>
        </p:txBody>
      </p:sp>
      <p:sp>
        <p:nvSpPr>
          <p:cNvPr id="14" name="Text 12"/>
          <p:cNvSpPr/>
          <p:nvPr/>
        </p:nvSpPr>
        <p:spPr>
          <a:xfrm>
            <a:off x="3456432" y="2514600"/>
            <a:ext cx="2231136" cy="274320"/>
          </a:xfrm>
          <a:prstGeom prst="rect">
            <a:avLst/>
          </a:prstGeom>
          <a:noFill/>
          <a:ln/>
        </p:spPr>
        <p:txBody>
          <a:bodyPr wrap="square" lIns="0" tIns="0" rIns="0" bIns="0" rtlCol="0" anchor="ctr"/>
          <a:lstStyle/>
          <a:p>
            <a:pPr marL="0" indent="0">
              <a:buNone/>
            </a:pPr>
            <a:r>
              <a:rPr lang="en-US" sz="1600" b="1" dirty="0">
                <a:solidFill>
                  <a:srgbClr val="FFFFFF"/>
                </a:solidFill>
                <a:latin typeface="Aptos Display" pitchFamily="34" charset="0"/>
                <a:ea typeface="Aptos Display" pitchFamily="34" charset="-122"/>
                <a:cs typeface="Aptos Display" pitchFamily="34" charset="-120"/>
              </a:rPr>
              <a:t>Document AI</a:t>
            </a:r>
            <a:endParaRPr lang="en-US" sz="1600" dirty="0"/>
          </a:p>
        </p:txBody>
      </p:sp>
      <p:sp>
        <p:nvSpPr>
          <p:cNvPr id="15" name="Text 13"/>
          <p:cNvSpPr/>
          <p:nvPr/>
        </p:nvSpPr>
        <p:spPr>
          <a:xfrm>
            <a:off x="3456432" y="2862072"/>
            <a:ext cx="2231136" cy="566928"/>
          </a:xfrm>
          <a:prstGeom prst="rect">
            <a:avLst/>
          </a:prstGeom>
          <a:noFill/>
          <a:ln/>
        </p:spPr>
        <p:txBody>
          <a:bodyPr wrap="square" lIns="0" tIns="0" rIns="0" bIns="0" rtlCol="0" anchor="ctr"/>
          <a:lstStyle/>
          <a:p>
            <a:pPr marL="0" indent="0">
              <a:buNone/>
            </a:pPr>
            <a:r>
              <a:rPr lang="en-US" sz="960" dirty="0">
                <a:solidFill>
                  <a:srgbClr val="DCE8F2"/>
                </a:solidFill>
                <a:latin typeface="Aptos" pitchFamily="34" charset="0"/>
                <a:ea typeface="Aptos" pitchFamily="34" charset="-122"/>
                <a:cs typeface="Aptos" pitchFamily="34" charset="-120"/>
              </a:rPr>
              <a:t>Classify paystubs, IDs, and proofs; normalize extracted fields; flag mismatches before submission.</a:t>
            </a:r>
            <a:endParaRPr lang="en-US" sz="960" dirty="0"/>
          </a:p>
        </p:txBody>
      </p:sp>
      <p:sp>
        <p:nvSpPr>
          <p:cNvPr id="16" name="Shape 14"/>
          <p:cNvSpPr/>
          <p:nvPr/>
        </p:nvSpPr>
        <p:spPr>
          <a:xfrm>
            <a:off x="5961888" y="2148840"/>
            <a:ext cx="2523744" cy="1463040"/>
          </a:xfrm>
          <a:prstGeom prst="roundRect">
            <a:avLst>
              <a:gd name="adj" fmla="val 5000"/>
            </a:avLst>
          </a:prstGeom>
          <a:solidFill>
            <a:srgbClr val="5DB7DE"/>
          </a:solidFill>
          <a:ln w="12700">
            <a:solidFill>
              <a:srgbClr val="5DB7DE"/>
            </a:solidFill>
            <a:prstDash val="solid"/>
          </a:ln>
        </p:spPr>
        <p:txBody>
          <a:bodyPr/>
          <a:lstStyle/>
          <a:p>
            <a:endParaRPr lang="en-US"/>
          </a:p>
        </p:txBody>
      </p:sp>
      <p:sp>
        <p:nvSpPr>
          <p:cNvPr id="17" name="Text 15"/>
          <p:cNvSpPr/>
          <p:nvPr/>
        </p:nvSpPr>
        <p:spPr>
          <a:xfrm>
            <a:off x="6108192" y="2276856"/>
            <a:ext cx="2231136" cy="164592"/>
          </a:xfrm>
          <a:prstGeom prst="rect">
            <a:avLst/>
          </a:prstGeom>
          <a:noFill/>
          <a:ln/>
        </p:spPr>
        <p:txBody>
          <a:bodyPr wrap="square" lIns="0" tIns="0" rIns="0" bIns="0" rtlCol="0" anchor="ctr"/>
          <a:lstStyle/>
          <a:p>
            <a:pPr marL="0" indent="0">
              <a:buNone/>
            </a:pPr>
            <a:r>
              <a:rPr lang="en-US" sz="950" b="1" dirty="0">
                <a:solidFill>
                  <a:srgbClr val="137C71"/>
                </a:solidFill>
                <a:latin typeface="Aptos" pitchFamily="34" charset="0"/>
                <a:ea typeface="Aptos" pitchFamily="34" charset="-122"/>
                <a:cs typeface="Aptos" pitchFamily="34" charset="-120"/>
              </a:rPr>
              <a:t>NEXT</a:t>
            </a:r>
            <a:endParaRPr lang="en-US" sz="950" dirty="0"/>
          </a:p>
        </p:txBody>
      </p:sp>
      <p:sp>
        <p:nvSpPr>
          <p:cNvPr id="18" name="Text 16"/>
          <p:cNvSpPr/>
          <p:nvPr/>
        </p:nvSpPr>
        <p:spPr>
          <a:xfrm>
            <a:off x="6108192" y="2514600"/>
            <a:ext cx="2231136" cy="274320"/>
          </a:xfrm>
          <a:prstGeom prst="rect">
            <a:avLst/>
          </a:prstGeom>
          <a:noFill/>
          <a:ln/>
        </p:spPr>
        <p:txBody>
          <a:bodyPr wrap="square" lIns="0" tIns="0" rIns="0" bIns="0" rtlCol="0" anchor="ctr"/>
          <a:lstStyle/>
          <a:p>
            <a:pPr marL="0" indent="0">
              <a:buNone/>
            </a:pPr>
            <a:r>
              <a:rPr lang="en-US" sz="1600" b="1" dirty="0">
                <a:solidFill>
                  <a:srgbClr val="1D3557"/>
                </a:solidFill>
                <a:latin typeface="Aptos Display" pitchFamily="34" charset="0"/>
                <a:ea typeface="Aptos Display" pitchFamily="34" charset="-122"/>
                <a:cs typeface="Aptos Display" pitchFamily="34" charset="-120"/>
              </a:rPr>
              <a:t>Retention engine</a:t>
            </a:r>
            <a:endParaRPr lang="en-US" sz="1600" dirty="0"/>
          </a:p>
        </p:txBody>
      </p:sp>
      <p:sp>
        <p:nvSpPr>
          <p:cNvPr id="19" name="Text 17"/>
          <p:cNvSpPr/>
          <p:nvPr/>
        </p:nvSpPr>
        <p:spPr>
          <a:xfrm>
            <a:off x="6108192" y="2862072"/>
            <a:ext cx="2231136" cy="566928"/>
          </a:xfrm>
          <a:prstGeom prst="rect">
            <a:avLst/>
          </a:prstGeom>
          <a:noFill/>
          <a:ln/>
        </p:spPr>
        <p:txBody>
          <a:bodyPr wrap="square" lIns="0" tIns="0" rIns="0" bIns="0" rtlCol="0" anchor="ctr"/>
          <a:lstStyle/>
          <a:p>
            <a:pPr marL="0" indent="0">
              <a:buNone/>
            </a:pPr>
            <a:r>
              <a:rPr lang="en-US" sz="960" dirty="0">
                <a:solidFill>
                  <a:srgbClr val="556677"/>
                </a:solidFill>
                <a:latin typeface="Aptos" pitchFamily="34" charset="0"/>
                <a:ea typeface="Aptos" pitchFamily="34" charset="-122"/>
                <a:cs typeface="Aptos" pitchFamily="34" charset="-120"/>
              </a:rPr>
              <a:t>Renewal automation, proactive deadline reminders, and monitoring for coverage-risk changes.</a:t>
            </a:r>
            <a:endParaRPr lang="en-US" sz="960" dirty="0"/>
          </a:p>
        </p:txBody>
      </p:sp>
      <p:sp>
        <p:nvSpPr>
          <p:cNvPr id="20" name="Shape 18"/>
          <p:cNvSpPr/>
          <p:nvPr/>
        </p:nvSpPr>
        <p:spPr>
          <a:xfrm>
            <a:off x="8613648" y="2148840"/>
            <a:ext cx="2670048" cy="1463040"/>
          </a:xfrm>
          <a:prstGeom prst="roundRect">
            <a:avLst>
              <a:gd name="adj" fmla="val 5000"/>
            </a:avLst>
          </a:prstGeom>
          <a:solidFill>
            <a:srgbClr val="E8825E"/>
          </a:solidFill>
          <a:ln w="12700">
            <a:solidFill>
              <a:srgbClr val="E8825E"/>
            </a:solidFill>
            <a:prstDash val="solid"/>
          </a:ln>
        </p:spPr>
        <p:txBody>
          <a:bodyPr/>
          <a:lstStyle/>
          <a:p>
            <a:endParaRPr lang="en-US"/>
          </a:p>
        </p:txBody>
      </p:sp>
      <p:sp>
        <p:nvSpPr>
          <p:cNvPr id="21" name="Text 19"/>
          <p:cNvSpPr/>
          <p:nvPr/>
        </p:nvSpPr>
        <p:spPr>
          <a:xfrm>
            <a:off x="8759952" y="2276856"/>
            <a:ext cx="2377440" cy="164592"/>
          </a:xfrm>
          <a:prstGeom prst="rect">
            <a:avLst/>
          </a:prstGeom>
          <a:noFill/>
          <a:ln/>
        </p:spPr>
        <p:txBody>
          <a:bodyPr wrap="square" lIns="0" tIns="0" rIns="0" bIns="0" rtlCol="0" anchor="ctr"/>
          <a:lstStyle/>
          <a:p>
            <a:pPr marL="0" indent="0">
              <a:buNone/>
            </a:pPr>
            <a:r>
              <a:rPr lang="en-US" sz="950" b="1" dirty="0">
                <a:solidFill>
                  <a:srgbClr val="FFFFFF"/>
                </a:solidFill>
                <a:latin typeface="Aptos" pitchFamily="34" charset="0"/>
                <a:ea typeface="Aptos" pitchFamily="34" charset="-122"/>
                <a:cs typeface="Aptos" pitchFamily="34" charset="-120"/>
              </a:rPr>
              <a:t>LATER</a:t>
            </a:r>
            <a:endParaRPr lang="en-US" sz="950" dirty="0"/>
          </a:p>
        </p:txBody>
      </p:sp>
      <p:sp>
        <p:nvSpPr>
          <p:cNvPr id="22" name="Text 20"/>
          <p:cNvSpPr/>
          <p:nvPr/>
        </p:nvSpPr>
        <p:spPr>
          <a:xfrm>
            <a:off x="8759952" y="2514600"/>
            <a:ext cx="2377440" cy="274320"/>
          </a:xfrm>
          <a:prstGeom prst="rect">
            <a:avLst/>
          </a:prstGeom>
          <a:noFill/>
          <a:ln/>
        </p:spPr>
        <p:txBody>
          <a:bodyPr wrap="square" lIns="0" tIns="0" rIns="0" bIns="0" rtlCol="0" anchor="ctr"/>
          <a:lstStyle/>
          <a:p>
            <a:pPr marL="0" indent="0">
              <a:buNone/>
            </a:pPr>
            <a:r>
              <a:rPr lang="en-US" sz="1600" b="1" dirty="0">
                <a:solidFill>
                  <a:srgbClr val="FFFFFF"/>
                </a:solidFill>
                <a:latin typeface="Aptos Display" pitchFamily="34" charset="0"/>
                <a:ea typeface="Aptos Display" pitchFamily="34" charset="-122"/>
                <a:cs typeface="Aptos Display" pitchFamily="34" charset="-120"/>
              </a:rPr>
              <a:t>Provider operating system</a:t>
            </a:r>
            <a:endParaRPr lang="en-US" sz="1600" dirty="0"/>
          </a:p>
        </p:txBody>
      </p:sp>
      <p:sp>
        <p:nvSpPr>
          <p:cNvPr id="23" name="Text 21"/>
          <p:cNvSpPr/>
          <p:nvPr/>
        </p:nvSpPr>
        <p:spPr>
          <a:xfrm>
            <a:off x="8759952" y="2862072"/>
            <a:ext cx="2377440" cy="566928"/>
          </a:xfrm>
          <a:prstGeom prst="rect">
            <a:avLst/>
          </a:prstGeom>
          <a:noFill/>
          <a:ln/>
        </p:spPr>
        <p:txBody>
          <a:bodyPr wrap="square" lIns="0" tIns="0" rIns="0" bIns="0" rtlCol="0" anchor="ctr"/>
          <a:lstStyle/>
          <a:p>
            <a:pPr marL="0" indent="0">
              <a:buNone/>
            </a:pPr>
            <a:r>
              <a:rPr lang="en-US" sz="960" dirty="0">
                <a:solidFill>
                  <a:srgbClr val="DCE8F2"/>
                </a:solidFill>
                <a:latin typeface="Aptos" pitchFamily="34" charset="0"/>
                <a:ea typeface="Aptos" pitchFamily="34" charset="-122"/>
                <a:cs typeface="Aptos" pitchFamily="34" charset="-120"/>
              </a:rPr>
              <a:t>Provider portal, staff copilot, analytics, policy learning loops, and state-by-state rule packs.</a:t>
            </a:r>
            <a:endParaRPr lang="en-US" sz="960" dirty="0"/>
          </a:p>
        </p:txBody>
      </p:sp>
      <p:sp>
        <p:nvSpPr>
          <p:cNvPr id="24" name="Shape 22"/>
          <p:cNvSpPr/>
          <p:nvPr/>
        </p:nvSpPr>
        <p:spPr>
          <a:xfrm>
            <a:off x="1005840" y="4059936"/>
            <a:ext cx="9966960" cy="0"/>
          </a:xfrm>
          <a:prstGeom prst="line">
            <a:avLst/>
          </a:prstGeom>
          <a:noFill/>
          <a:ln w="15240">
            <a:solidFill>
              <a:srgbClr val="D9E3EA"/>
            </a:solidFill>
            <a:prstDash val="solid"/>
          </a:ln>
        </p:spPr>
        <p:txBody>
          <a:bodyPr/>
          <a:lstStyle/>
          <a:p>
            <a:endParaRPr lang="en-US"/>
          </a:p>
        </p:txBody>
      </p:sp>
      <p:sp>
        <p:nvSpPr>
          <p:cNvPr id="25" name="Shape 23"/>
          <p:cNvSpPr/>
          <p:nvPr/>
        </p:nvSpPr>
        <p:spPr>
          <a:xfrm>
            <a:off x="658368" y="4352544"/>
            <a:ext cx="3438144" cy="1115568"/>
          </a:xfrm>
          <a:prstGeom prst="roundRect">
            <a:avLst>
              <a:gd name="adj" fmla="val 6557"/>
            </a:avLst>
          </a:prstGeom>
          <a:solidFill>
            <a:srgbClr val="FFFDFC"/>
          </a:solidFill>
          <a:ln w="13970">
            <a:solidFill>
              <a:srgbClr val="D9E3EA"/>
            </a:solidFill>
            <a:prstDash val="solid"/>
          </a:ln>
          <a:effectLst>
            <a:outerShdw blurRad="12700" dist="50800" dir="2700000" algn="bl" rotWithShape="0">
              <a:srgbClr val="B7C8D5">
                <a:alpha val="12000"/>
              </a:srgbClr>
            </a:outerShdw>
          </a:effectLst>
        </p:spPr>
        <p:txBody>
          <a:bodyPr/>
          <a:lstStyle/>
          <a:p>
            <a:endParaRPr lang="en-US"/>
          </a:p>
        </p:txBody>
      </p:sp>
      <p:sp>
        <p:nvSpPr>
          <p:cNvPr id="26" name="Shape 24"/>
          <p:cNvSpPr/>
          <p:nvPr/>
        </p:nvSpPr>
        <p:spPr>
          <a:xfrm>
            <a:off x="822960" y="4517136"/>
            <a:ext cx="164592" cy="786384"/>
          </a:xfrm>
          <a:prstGeom prst="roundRect">
            <a:avLst>
              <a:gd name="adj" fmla="val 44444"/>
            </a:avLst>
          </a:prstGeom>
          <a:solidFill>
            <a:srgbClr val="137C71"/>
          </a:solidFill>
          <a:ln w="12700">
            <a:solidFill>
              <a:srgbClr val="137C71"/>
            </a:solidFill>
            <a:prstDash val="solid"/>
          </a:ln>
        </p:spPr>
        <p:txBody>
          <a:bodyPr/>
          <a:lstStyle/>
          <a:p>
            <a:endParaRPr lang="en-US"/>
          </a:p>
        </p:txBody>
      </p:sp>
      <p:sp>
        <p:nvSpPr>
          <p:cNvPr id="27" name="Text 25"/>
          <p:cNvSpPr/>
          <p:nvPr/>
        </p:nvSpPr>
        <p:spPr>
          <a:xfrm>
            <a:off x="1097280" y="4517136"/>
            <a:ext cx="2834640" cy="274320"/>
          </a:xfrm>
          <a:prstGeom prst="rect">
            <a:avLst/>
          </a:prstGeom>
          <a:noFill/>
          <a:ln/>
        </p:spPr>
        <p:txBody>
          <a:bodyPr wrap="square" lIns="0" tIns="0" rIns="0" bIns="0" rtlCol="0" anchor="ctr"/>
          <a:lstStyle/>
          <a:p>
            <a:pPr marL="0" indent="0">
              <a:buNone/>
            </a:pPr>
            <a:r>
              <a:rPr lang="en-US" sz="1500" b="1" dirty="0">
                <a:solidFill>
                  <a:srgbClr val="1D3557"/>
                </a:solidFill>
                <a:latin typeface="Aptos Display" pitchFamily="34" charset="0"/>
                <a:ea typeface="Aptos Display" pitchFamily="34" charset="-122"/>
                <a:cs typeface="Aptos Display" pitchFamily="34" charset="-120"/>
              </a:rPr>
              <a:t>Roadmap priority 1</a:t>
            </a:r>
            <a:endParaRPr lang="en-US" sz="1500" dirty="0"/>
          </a:p>
        </p:txBody>
      </p:sp>
      <p:sp>
        <p:nvSpPr>
          <p:cNvPr id="28" name="Text 26"/>
          <p:cNvSpPr/>
          <p:nvPr/>
        </p:nvSpPr>
        <p:spPr>
          <a:xfrm>
            <a:off x="1097280" y="4864608"/>
            <a:ext cx="2834640" cy="420624"/>
          </a:xfrm>
          <a:prstGeom prst="rect">
            <a:avLst/>
          </a:prstGeom>
          <a:noFill/>
          <a:ln/>
        </p:spPr>
        <p:txBody>
          <a:bodyPr wrap="square" lIns="0" tIns="0" rIns="0" bIns="0" rtlCol="0" anchor="t"/>
          <a:lstStyle/>
          <a:p>
            <a:pPr marL="0" indent="0">
              <a:buNone/>
            </a:pPr>
            <a:r>
              <a:rPr lang="en-US" sz="980" dirty="0">
                <a:solidFill>
                  <a:srgbClr val="556677"/>
                </a:solidFill>
                <a:latin typeface="Aptos" pitchFamily="34" charset="0"/>
                <a:ea typeface="Aptos" pitchFamily="34" charset="-122"/>
                <a:cs typeface="Aptos" pitchFamily="34" charset="-120"/>
              </a:rPr>
              <a:t>Automate more of the document and renewal burden without moving final eligibility decisions out of deterministic code.</a:t>
            </a:r>
            <a:endParaRPr lang="en-US" sz="980" dirty="0"/>
          </a:p>
        </p:txBody>
      </p:sp>
      <p:sp>
        <p:nvSpPr>
          <p:cNvPr id="29" name="Shape 27"/>
          <p:cNvSpPr/>
          <p:nvPr/>
        </p:nvSpPr>
        <p:spPr>
          <a:xfrm>
            <a:off x="4370832" y="4352544"/>
            <a:ext cx="3438144" cy="1115568"/>
          </a:xfrm>
          <a:prstGeom prst="roundRect">
            <a:avLst>
              <a:gd name="adj" fmla="val 6557"/>
            </a:avLst>
          </a:prstGeom>
          <a:solidFill>
            <a:srgbClr val="FFFDFC"/>
          </a:solidFill>
          <a:ln w="13970">
            <a:solidFill>
              <a:srgbClr val="D9E3EA"/>
            </a:solidFill>
            <a:prstDash val="solid"/>
          </a:ln>
          <a:effectLst>
            <a:outerShdw blurRad="12700" dist="50800" dir="2700000" algn="bl" rotWithShape="0">
              <a:srgbClr val="B7C8D5">
                <a:alpha val="12000"/>
              </a:srgbClr>
            </a:outerShdw>
          </a:effectLst>
        </p:spPr>
        <p:txBody>
          <a:bodyPr/>
          <a:lstStyle/>
          <a:p>
            <a:endParaRPr lang="en-US"/>
          </a:p>
        </p:txBody>
      </p:sp>
      <p:sp>
        <p:nvSpPr>
          <p:cNvPr id="30" name="Shape 28"/>
          <p:cNvSpPr/>
          <p:nvPr/>
        </p:nvSpPr>
        <p:spPr>
          <a:xfrm>
            <a:off x="4535424" y="4517136"/>
            <a:ext cx="164592" cy="786384"/>
          </a:xfrm>
          <a:prstGeom prst="roundRect">
            <a:avLst>
              <a:gd name="adj" fmla="val 44444"/>
            </a:avLst>
          </a:prstGeom>
          <a:solidFill>
            <a:srgbClr val="5DB7DE"/>
          </a:solidFill>
          <a:ln w="12700">
            <a:solidFill>
              <a:srgbClr val="5DB7DE"/>
            </a:solidFill>
            <a:prstDash val="solid"/>
          </a:ln>
        </p:spPr>
        <p:txBody>
          <a:bodyPr/>
          <a:lstStyle/>
          <a:p>
            <a:endParaRPr lang="en-US"/>
          </a:p>
        </p:txBody>
      </p:sp>
      <p:sp>
        <p:nvSpPr>
          <p:cNvPr id="31" name="Text 29"/>
          <p:cNvSpPr/>
          <p:nvPr/>
        </p:nvSpPr>
        <p:spPr>
          <a:xfrm>
            <a:off x="4809744" y="4517136"/>
            <a:ext cx="2834640" cy="274320"/>
          </a:xfrm>
          <a:prstGeom prst="rect">
            <a:avLst/>
          </a:prstGeom>
          <a:noFill/>
          <a:ln/>
        </p:spPr>
        <p:txBody>
          <a:bodyPr wrap="square" lIns="0" tIns="0" rIns="0" bIns="0" rtlCol="0" anchor="ctr"/>
          <a:lstStyle/>
          <a:p>
            <a:pPr marL="0" indent="0">
              <a:buNone/>
            </a:pPr>
            <a:r>
              <a:rPr lang="en-US" sz="1500" b="1" dirty="0">
                <a:solidFill>
                  <a:srgbClr val="1D3557"/>
                </a:solidFill>
                <a:latin typeface="Aptos Display" pitchFamily="34" charset="0"/>
                <a:ea typeface="Aptos Display" pitchFamily="34" charset="-122"/>
                <a:cs typeface="Aptos Display" pitchFamily="34" charset="-120"/>
              </a:rPr>
              <a:t>Roadmap priority 2</a:t>
            </a:r>
            <a:endParaRPr lang="en-US" sz="1500" dirty="0"/>
          </a:p>
        </p:txBody>
      </p:sp>
      <p:sp>
        <p:nvSpPr>
          <p:cNvPr id="32" name="Text 30"/>
          <p:cNvSpPr/>
          <p:nvPr/>
        </p:nvSpPr>
        <p:spPr>
          <a:xfrm>
            <a:off x="4809744" y="4864608"/>
            <a:ext cx="2834640" cy="420624"/>
          </a:xfrm>
          <a:prstGeom prst="rect">
            <a:avLst/>
          </a:prstGeom>
          <a:noFill/>
          <a:ln/>
        </p:spPr>
        <p:txBody>
          <a:bodyPr wrap="square" lIns="0" tIns="0" rIns="0" bIns="0" rtlCol="0" anchor="t"/>
          <a:lstStyle/>
          <a:p>
            <a:pPr marL="0" indent="0">
              <a:buNone/>
            </a:pPr>
            <a:r>
              <a:rPr lang="en-US" sz="980" dirty="0">
                <a:solidFill>
                  <a:srgbClr val="556677"/>
                </a:solidFill>
                <a:latin typeface="Aptos" pitchFamily="34" charset="0"/>
                <a:ea typeface="Aptos" pitchFamily="34" charset="-122"/>
                <a:cs typeface="Aptos" pitchFamily="34" charset="-120"/>
              </a:rPr>
              <a:t>Turn facility workflows into a stronger moat with collaboration, queueing, audit, and reviewer intelligence.</a:t>
            </a:r>
            <a:endParaRPr lang="en-US" sz="980" dirty="0"/>
          </a:p>
        </p:txBody>
      </p:sp>
      <p:sp>
        <p:nvSpPr>
          <p:cNvPr id="33" name="Shape 31"/>
          <p:cNvSpPr/>
          <p:nvPr/>
        </p:nvSpPr>
        <p:spPr>
          <a:xfrm>
            <a:off x="8083296" y="4352544"/>
            <a:ext cx="3200400" cy="1115568"/>
          </a:xfrm>
          <a:prstGeom prst="roundRect">
            <a:avLst>
              <a:gd name="adj" fmla="val 6557"/>
            </a:avLst>
          </a:prstGeom>
          <a:solidFill>
            <a:srgbClr val="FFFDFC"/>
          </a:solidFill>
          <a:ln w="13970">
            <a:solidFill>
              <a:srgbClr val="D9E3EA"/>
            </a:solidFill>
            <a:prstDash val="solid"/>
          </a:ln>
          <a:effectLst>
            <a:outerShdw blurRad="12700" dist="50800" dir="2700000" algn="bl" rotWithShape="0">
              <a:srgbClr val="B7C8D5">
                <a:alpha val="12000"/>
              </a:srgbClr>
            </a:outerShdw>
          </a:effectLst>
        </p:spPr>
        <p:txBody>
          <a:bodyPr/>
          <a:lstStyle/>
          <a:p>
            <a:endParaRPr lang="en-US"/>
          </a:p>
        </p:txBody>
      </p:sp>
      <p:sp>
        <p:nvSpPr>
          <p:cNvPr id="34" name="Shape 32"/>
          <p:cNvSpPr/>
          <p:nvPr/>
        </p:nvSpPr>
        <p:spPr>
          <a:xfrm>
            <a:off x="8247888" y="4517136"/>
            <a:ext cx="164592" cy="786384"/>
          </a:xfrm>
          <a:prstGeom prst="roundRect">
            <a:avLst>
              <a:gd name="adj" fmla="val 44444"/>
            </a:avLst>
          </a:prstGeom>
          <a:solidFill>
            <a:srgbClr val="E8825E"/>
          </a:solidFill>
          <a:ln w="12700">
            <a:solidFill>
              <a:srgbClr val="E8825E"/>
            </a:solidFill>
            <a:prstDash val="solid"/>
          </a:ln>
        </p:spPr>
        <p:txBody>
          <a:bodyPr/>
          <a:lstStyle/>
          <a:p>
            <a:endParaRPr lang="en-US"/>
          </a:p>
        </p:txBody>
      </p:sp>
      <p:sp>
        <p:nvSpPr>
          <p:cNvPr id="35" name="Text 33"/>
          <p:cNvSpPr/>
          <p:nvPr/>
        </p:nvSpPr>
        <p:spPr>
          <a:xfrm>
            <a:off x="8522208" y="4517136"/>
            <a:ext cx="2596896" cy="274320"/>
          </a:xfrm>
          <a:prstGeom prst="rect">
            <a:avLst/>
          </a:prstGeom>
          <a:noFill/>
          <a:ln/>
        </p:spPr>
        <p:txBody>
          <a:bodyPr wrap="square" lIns="0" tIns="0" rIns="0" bIns="0" rtlCol="0" anchor="ctr"/>
          <a:lstStyle/>
          <a:p>
            <a:pPr marL="0" indent="0">
              <a:buNone/>
            </a:pPr>
            <a:r>
              <a:rPr lang="en-US" sz="1500" b="1" dirty="0">
                <a:solidFill>
                  <a:srgbClr val="1D3557"/>
                </a:solidFill>
                <a:latin typeface="Aptos Display" pitchFamily="34" charset="0"/>
                <a:ea typeface="Aptos Display" pitchFamily="34" charset="-122"/>
                <a:cs typeface="Aptos Display" pitchFamily="34" charset="-120"/>
              </a:rPr>
              <a:t>Roadmap priority 3</a:t>
            </a:r>
            <a:endParaRPr lang="en-US" sz="1500" dirty="0"/>
          </a:p>
        </p:txBody>
      </p:sp>
      <p:sp>
        <p:nvSpPr>
          <p:cNvPr id="36" name="Text 34"/>
          <p:cNvSpPr/>
          <p:nvPr/>
        </p:nvSpPr>
        <p:spPr>
          <a:xfrm>
            <a:off x="8522208" y="4864608"/>
            <a:ext cx="2596896" cy="420624"/>
          </a:xfrm>
          <a:prstGeom prst="rect">
            <a:avLst/>
          </a:prstGeom>
          <a:noFill/>
          <a:ln/>
        </p:spPr>
        <p:txBody>
          <a:bodyPr wrap="square" lIns="0" tIns="0" rIns="0" bIns="0" rtlCol="0" anchor="t"/>
          <a:lstStyle/>
          <a:p>
            <a:pPr marL="0" indent="0">
              <a:buNone/>
            </a:pPr>
            <a:r>
              <a:rPr lang="en-US" sz="980" dirty="0">
                <a:solidFill>
                  <a:srgbClr val="556677"/>
                </a:solidFill>
                <a:latin typeface="Aptos" pitchFamily="34" charset="0"/>
                <a:ea typeface="Aptos" pitchFamily="34" charset="-122"/>
                <a:cs typeface="Aptos" pitchFamily="34" charset="-120"/>
              </a:rPr>
              <a:t>Build the evaluation and training assets needed for more specialized domain models over time.</a:t>
            </a:r>
            <a:endParaRPr lang="en-US" sz="980" dirty="0"/>
          </a:p>
        </p:txBody>
      </p:sp>
      <p:sp>
        <p:nvSpPr>
          <p:cNvPr id="37" name="Text 35"/>
          <p:cNvSpPr/>
          <p:nvPr/>
        </p:nvSpPr>
        <p:spPr>
          <a:xfrm>
            <a:off x="548640" y="6455664"/>
            <a:ext cx="4937760" cy="164592"/>
          </a:xfrm>
          <a:prstGeom prst="rect">
            <a:avLst/>
          </a:prstGeom>
          <a:noFill/>
          <a:ln/>
        </p:spPr>
        <p:txBody>
          <a:bodyPr wrap="square" lIns="0" tIns="0" rIns="0" bIns="0" rtlCol="0" anchor="ctr"/>
          <a:lstStyle/>
          <a:p>
            <a:pPr marL="0" indent="0">
              <a:buNone/>
            </a:pPr>
            <a:r>
              <a:rPr lang="en-US" sz="950" dirty="0">
                <a:solidFill>
                  <a:srgbClr val="556677"/>
                </a:solidFill>
                <a:latin typeface="Aptos" pitchFamily="34" charset="0"/>
                <a:ea typeface="Aptos" pitchFamily="34" charset="-122"/>
                <a:cs typeface="Aptos" pitchFamily="34" charset="-120"/>
              </a:rPr>
              <a:t>HealthCompass MA  |  Executive Summary  |  April 2026</a:t>
            </a:r>
            <a:endParaRPr lang="en-US" sz="950" dirty="0"/>
          </a:p>
        </p:txBody>
      </p:sp>
      <p:sp>
        <p:nvSpPr>
          <p:cNvPr id="38" name="Text 36"/>
          <p:cNvSpPr/>
          <p:nvPr/>
        </p:nvSpPr>
        <p:spPr>
          <a:xfrm>
            <a:off x="10469880" y="6455664"/>
            <a:ext cx="1097280" cy="164592"/>
          </a:xfrm>
          <a:prstGeom prst="rect">
            <a:avLst/>
          </a:prstGeom>
          <a:noFill/>
          <a:ln/>
        </p:spPr>
        <p:txBody>
          <a:bodyPr wrap="square" lIns="0" tIns="0" rIns="0" bIns="0" rtlCol="0" anchor="ctr"/>
          <a:lstStyle/>
          <a:p>
            <a:pPr marL="0" indent="0" algn="r">
              <a:buNone/>
            </a:pPr>
            <a:r>
              <a:rPr lang="en-US" sz="950" dirty="0">
                <a:solidFill>
                  <a:srgbClr val="556677"/>
                </a:solidFill>
                <a:latin typeface="Aptos" pitchFamily="34" charset="0"/>
                <a:ea typeface="Aptos" pitchFamily="34" charset="-122"/>
                <a:cs typeface="Aptos" pitchFamily="34" charset="-120"/>
              </a:rPr>
              <a:t>Confidential</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137C71"/>
          </a:solidFill>
          <a:ln w="12700">
            <a:solidFill>
              <a:srgbClr val="137C71"/>
            </a:solidFill>
            <a:prstDash val="solid"/>
          </a:ln>
        </p:spPr>
        <p:txBody>
          <a:bodyPr/>
          <a:lstStyle/>
          <a:p>
            <a:endParaRPr lang="en-US"/>
          </a:p>
        </p:txBody>
      </p:sp>
      <p:sp>
        <p:nvSpPr>
          <p:cNvPr id="3" name="Shape 1"/>
          <p:cNvSpPr/>
          <p:nvPr/>
        </p:nvSpPr>
        <p:spPr>
          <a:xfrm>
            <a:off x="9509760" y="-640080"/>
            <a:ext cx="2926080" cy="2011680"/>
          </a:xfrm>
          <a:prstGeom prst="ellipse">
            <a:avLst/>
          </a:prstGeom>
          <a:solidFill>
            <a:srgbClr val="E9F5FB">
              <a:alpha val="65000"/>
            </a:srgbClr>
          </a:solidFill>
          <a:ln w="12700">
            <a:solidFill>
              <a:srgbClr val="E9F5FB">
                <a:alpha val="0"/>
              </a:srgbClr>
            </a:solidFill>
            <a:prstDash val="solid"/>
          </a:ln>
        </p:spPr>
        <p:txBody>
          <a:bodyPr/>
          <a:lstStyle/>
          <a:p>
            <a:endParaRPr lang="en-US"/>
          </a:p>
        </p:txBody>
      </p:sp>
      <p:sp>
        <p:nvSpPr>
          <p:cNvPr id="4" name="Shape 2"/>
          <p:cNvSpPr/>
          <p:nvPr/>
        </p:nvSpPr>
        <p:spPr>
          <a:xfrm>
            <a:off x="-731520" y="5212080"/>
            <a:ext cx="2377440" cy="1737360"/>
          </a:xfrm>
          <a:prstGeom prst="ellipse">
            <a:avLst/>
          </a:prstGeom>
          <a:solidFill>
            <a:srgbClr val="DFF5F1">
              <a:alpha val="70000"/>
            </a:srgbClr>
          </a:solidFill>
          <a:ln w="12700">
            <a:solidFill>
              <a:srgbClr val="DFF5F1">
                <a:alpha val="0"/>
              </a:srgbClr>
            </a:solidFill>
            <a:prstDash val="solid"/>
          </a:ln>
        </p:spPr>
        <p:txBody>
          <a:bodyPr/>
          <a:lstStyle/>
          <a:p>
            <a:endParaRPr lang="en-US"/>
          </a:p>
        </p:txBody>
      </p:sp>
      <p:sp>
        <p:nvSpPr>
          <p:cNvPr id="5" name="Text 3"/>
          <p:cNvSpPr/>
          <p:nvPr/>
        </p:nvSpPr>
        <p:spPr>
          <a:xfrm>
            <a:off x="640080" y="438912"/>
            <a:ext cx="3474720" cy="201168"/>
          </a:xfrm>
          <a:prstGeom prst="rect">
            <a:avLst/>
          </a:prstGeom>
          <a:noFill/>
          <a:ln/>
        </p:spPr>
        <p:txBody>
          <a:bodyPr wrap="square" lIns="0" tIns="0" rIns="0" bIns="0" rtlCol="0" anchor="ctr"/>
          <a:lstStyle/>
          <a:p>
            <a:pPr marL="0" indent="0">
              <a:buNone/>
            </a:pPr>
            <a:r>
              <a:rPr lang="en-US" sz="1050" b="1" dirty="0">
                <a:solidFill>
                  <a:srgbClr val="137C71"/>
                </a:solidFill>
                <a:latin typeface="Aptos" pitchFamily="34" charset="0"/>
                <a:ea typeface="Aptos" pitchFamily="34" charset="-122"/>
                <a:cs typeface="Aptos" pitchFamily="34" charset="-120"/>
              </a:rPr>
              <a:t>WHY THIS IS HARD TO COPY</a:t>
            </a:r>
            <a:endParaRPr lang="en-US" sz="1050" dirty="0"/>
          </a:p>
        </p:txBody>
      </p:sp>
      <p:sp>
        <p:nvSpPr>
          <p:cNvPr id="6" name="Text 4"/>
          <p:cNvSpPr/>
          <p:nvPr/>
        </p:nvSpPr>
        <p:spPr>
          <a:xfrm>
            <a:off x="640080" y="749808"/>
            <a:ext cx="6949440" cy="713232"/>
          </a:xfrm>
          <a:prstGeom prst="rect">
            <a:avLst/>
          </a:prstGeom>
          <a:noFill/>
          <a:ln/>
        </p:spPr>
        <p:txBody>
          <a:bodyPr wrap="square" lIns="0" tIns="0" rIns="0" bIns="0" rtlCol="0" anchor="ctr"/>
          <a:lstStyle/>
          <a:p>
            <a:pPr marL="0" indent="0">
              <a:buNone/>
            </a:pPr>
            <a:r>
              <a:rPr lang="en-US" sz="2400" b="1" dirty="0">
                <a:solidFill>
                  <a:srgbClr val="1D3557"/>
                </a:solidFill>
                <a:latin typeface="Aptos Display" pitchFamily="34" charset="0"/>
                <a:ea typeface="Aptos Display" pitchFamily="34" charset="-122"/>
                <a:cs typeface="Aptos Display" pitchFamily="34" charset="-120"/>
              </a:rPr>
              <a:t>The defensibility is the combination of domain rules, workflow data, and trusted operational surfaces.</a:t>
            </a:r>
            <a:endParaRPr lang="en-US" sz="2400" dirty="0"/>
          </a:p>
        </p:txBody>
      </p:sp>
      <p:sp>
        <p:nvSpPr>
          <p:cNvPr id="7" name="Text 5"/>
          <p:cNvSpPr/>
          <p:nvPr/>
        </p:nvSpPr>
        <p:spPr>
          <a:xfrm>
            <a:off x="658368" y="1481328"/>
            <a:ext cx="6675120" cy="512064"/>
          </a:xfrm>
          <a:prstGeom prst="rect">
            <a:avLst/>
          </a:prstGeom>
          <a:noFill/>
          <a:ln/>
        </p:spPr>
        <p:txBody>
          <a:bodyPr wrap="square" lIns="0" tIns="0" rIns="0" bIns="0" rtlCol="0" anchor="ctr"/>
          <a:lstStyle/>
          <a:p>
            <a:pPr marL="0" indent="0">
              <a:buNone/>
            </a:pPr>
            <a:r>
              <a:rPr lang="en-US" sz="1150" dirty="0">
                <a:solidFill>
                  <a:srgbClr val="556677"/>
                </a:solidFill>
                <a:latin typeface="Aptos" pitchFamily="34" charset="0"/>
                <a:ea typeface="Aptos" pitchFamily="34" charset="-122"/>
                <a:cs typeface="Aptos" pitchFamily="34" charset="-120"/>
              </a:rPr>
              <a:t>The more the product touches intake, support, and review, the more proprietary the system becomes.</a:t>
            </a:r>
            <a:endParaRPr lang="en-US" sz="1150" dirty="0"/>
          </a:p>
        </p:txBody>
      </p:sp>
      <p:sp>
        <p:nvSpPr>
          <p:cNvPr id="8" name="Shape 6"/>
          <p:cNvSpPr/>
          <p:nvPr/>
        </p:nvSpPr>
        <p:spPr>
          <a:xfrm>
            <a:off x="658368" y="2084832"/>
            <a:ext cx="2487168" cy="1700784"/>
          </a:xfrm>
          <a:prstGeom prst="roundRect">
            <a:avLst>
              <a:gd name="adj" fmla="val 4301"/>
            </a:avLst>
          </a:prstGeom>
          <a:solidFill>
            <a:srgbClr val="FFFDFC"/>
          </a:solidFill>
          <a:ln w="13970">
            <a:solidFill>
              <a:srgbClr val="D9E3EA"/>
            </a:solidFill>
            <a:prstDash val="solid"/>
          </a:ln>
          <a:effectLst>
            <a:outerShdw blurRad="12700" dist="50800" dir="2700000" algn="bl" rotWithShape="0">
              <a:srgbClr val="B7C8D5">
                <a:alpha val="12000"/>
              </a:srgbClr>
            </a:outerShdw>
          </a:effectLst>
        </p:spPr>
        <p:txBody>
          <a:bodyPr/>
          <a:lstStyle/>
          <a:p>
            <a:endParaRPr lang="en-US"/>
          </a:p>
        </p:txBody>
      </p:sp>
      <p:sp>
        <p:nvSpPr>
          <p:cNvPr id="9" name="Shape 7"/>
          <p:cNvSpPr/>
          <p:nvPr/>
        </p:nvSpPr>
        <p:spPr>
          <a:xfrm>
            <a:off x="822960" y="2249424"/>
            <a:ext cx="164592" cy="1371600"/>
          </a:xfrm>
          <a:prstGeom prst="roundRect">
            <a:avLst>
              <a:gd name="adj" fmla="val 44444"/>
            </a:avLst>
          </a:prstGeom>
          <a:solidFill>
            <a:srgbClr val="137C71"/>
          </a:solidFill>
          <a:ln w="12700">
            <a:solidFill>
              <a:srgbClr val="137C71"/>
            </a:solidFill>
            <a:prstDash val="solid"/>
          </a:ln>
        </p:spPr>
        <p:txBody>
          <a:bodyPr/>
          <a:lstStyle/>
          <a:p>
            <a:endParaRPr lang="en-US"/>
          </a:p>
        </p:txBody>
      </p:sp>
      <p:sp>
        <p:nvSpPr>
          <p:cNvPr id="10" name="Text 8"/>
          <p:cNvSpPr/>
          <p:nvPr/>
        </p:nvSpPr>
        <p:spPr>
          <a:xfrm>
            <a:off x="1097280" y="2249424"/>
            <a:ext cx="1883664" cy="274320"/>
          </a:xfrm>
          <a:prstGeom prst="rect">
            <a:avLst/>
          </a:prstGeom>
          <a:noFill/>
          <a:ln/>
        </p:spPr>
        <p:txBody>
          <a:bodyPr wrap="square" lIns="0" tIns="0" rIns="0" bIns="0" rtlCol="0" anchor="ctr"/>
          <a:lstStyle/>
          <a:p>
            <a:pPr marL="0" indent="0">
              <a:buNone/>
            </a:pPr>
            <a:r>
              <a:rPr lang="en-US" sz="1500" b="1" dirty="0">
                <a:solidFill>
                  <a:srgbClr val="1D3557"/>
                </a:solidFill>
                <a:latin typeface="Aptos Display" pitchFamily="34" charset="0"/>
                <a:ea typeface="Aptos Display" pitchFamily="34" charset="-122"/>
                <a:cs typeface="Aptos Display" pitchFamily="34" charset="-120"/>
              </a:rPr>
              <a:t>Policy depth</a:t>
            </a:r>
            <a:endParaRPr lang="en-US" sz="1500" dirty="0"/>
          </a:p>
        </p:txBody>
      </p:sp>
      <p:sp>
        <p:nvSpPr>
          <p:cNvPr id="11" name="Text 9"/>
          <p:cNvSpPr/>
          <p:nvPr/>
        </p:nvSpPr>
        <p:spPr>
          <a:xfrm>
            <a:off x="1097280" y="2596896"/>
            <a:ext cx="1883664" cy="1005840"/>
          </a:xfrm>
          <a:prstGeom prst="rect">
            <a:avLst/>
          </a:prstGeom>
          <a:noFill/>
          <a:ln/>
        </p:spPr>
        <p:txBody>
          <a:bodyPr wrap="square" lIns="0" tIns="0" rIns="0" bIns="0" rtlCol="0" anchor="t"/>
          <a:lstStyle/>
          <a:p>
            <a:pPr marL="0" indent="0">
              <a:buNone/>
            </a:pPr>
            <a:r>
              <a:rPr lang="en-US" sz="980" dirty="0">
                <a:solidFill>
                  <a:srgbClr val="556677"/>
                </a:solidFill>
                <a:latin typeface="Aptos" pitchFamily="34" charset="0"/>
                <a:ea typeface="Aptos" pitchFamily="34" charset="-122"/>
                <a:cs typeface="Aptos" pitchFamily="34" charset="-120"/>
              </a:rPr>
              <a:t>Rule code, document requirements, and MassHealth-specific prompts accumulate domain knowledge faster than generic SaaS tooling.</a:t>
            </a:r>
            <a:endParaRPr lang="en-US" sz="980" dirty="0"/>
          </a:p>
        </p:txBody>
      </p:sp>
      <p:sp>
        <p:nvSpPr>
          <p:cNvPr id="12" name="Shape 10"/>
          <p:cNvSpPr/>
          <p:nvPr/>
        </p:nvSpPr>
        <p:spPr>
          <a:xfrm>
            <a:off x="3310128" y="2084832"/>
            <a:ext cx="2487168" cy="1700784"/>
          </a:xfrm>
          <a:prstGeom prst="roundRect">
            <a:avLst>
              <a:gd name="adj" fmla="val 4301"/>
            </a:avLst>
          </a:prstGeom>
          <a:solidFill>
            <a:srgbClr val="FFFDFC"/>
          </a:solidFill>
          <a:ln w="13970">
            <a:solidFill>
              <a:srgbClr val="D9E3EA"/>
            </a:solidFill>
            <a:prstDash val="solid"/>
          </a:ln>
          <a:effectLst>
            <a:outerShdw blurRad="12700" dist="50800" dir="2700000" algn="bl" rotWithShape="0">
              <a:srgbClr val="B7C8D5">
                <a:alpha val="12000"/>
              </a:srgbClr>
            </a:outerShdw>
          </a:effectLst>
        </p:spPr>
        <p:txBody>
          <a:bodyPr/>
          <a:lstStyle/>
          <a:p>
            <a:endParaRPr lang="en-US"/>
          </a:p>
        </p:txBody>
      </p:sp>
      <p:sp>
        <p:nvSpPr>
          <p:cNvPr id="13" name="Shape 11"/>
          <p:cNvSpPr/>
          <p:nvPr/>
        </p:nvSpPr>
        <p:spPr>
          <a:xfrm>
            <a:off x="3474720" y="2249424"/>
            <a:ext cx="164592" cy="1371600"/>
          </a:xfrm>
          <a:prstGeom prst="roundRect">
            <a:avLst>
              <a:gd name="adj" fmla="val 44444"/>
            </a:avLst>
          </a:prstGeom>
          <a:solidFill>
            <a:srgbClr val="5DB7DE"/>
          </a:solidFill>
          <a:ln w="12700">
            <a:solidFill>
              <a:srgbClr val="5DB7DE"/>
            </a:solidFill>
            <a:prstDash val="solid"/>
          </a:ln>
        </p:spPr>
        <p:txBody>
          <a:bodyPr/>
          <a:lstStyle/>
          <a:p>
            <a:endParaRPr lang="en-US"/>
          </a:p>
        </p:txBody>
      </p:sp>
      <p:sp>
        <p:nvSpPr>
          <p:cNvPr id="14" name="Text 12"/>
          <p:cNvSpPr/>
          <p:nvPr/>
        </p:nvSpPr>
        <p:spPr>
          <a:xfrm>
            <a:off x="3749040" y="2249424"/>
            <a:ext cx="1883664" cy="274320"/>
          </a:xfrm>
          <a:prstGeom prst="rect">
            <a:avLst/>
          </a:prstGeom>
          <a:noFill/>
          <a:ln/>
        </p:spPr>
        <p:txBody>
          <a:bodyPr wrap="square" lIns="0" tIns="0" rIns="0" bIns="0" rtlCol="0" anchor="ctr"/>
          <a:lstStyle/>
          <a:p>
            <a:pPr marL="0" indent="0">
              <a:buNone/>
            </a:pPr>
            <a:r>
              <a:rPr lang="en-US" sz="1500" b="1" dirty="0">
                <a:solidFill>
                  <a:srgbClr val="1D3557"/>
                </a:solidFill>
                <a:latin typeface="Aptos Display" pitchFamily="34" charset="0"/>
                <a:ea typeface="Aptos Display" pitchFamily="34" charset="-122"/>
                <a:cs typeface="Aptos Display" pitchFamily="34" charset="-120"/>
              </a:rPr>
              <a:t>Workflow graph</a:t>
            </a:r>
            <a:endParaRPr lang="en-US" sz="1500" dirty="0"/>
          </a:p>
        </p:txBody>
      </p:sp>
      <p:sp>
        <p:nvSpPr>
          <p:cNvPr id="15" name="Text 13"/>
          <p:cNvSpPr/>
          <p:nvPr/>
        </p:nvSpPr>
        <p:spPr>
          <a:xfrm>
            <a:off x="3749040" y="2596896"/>
            <a:ext cx="1883664" cy="1005840"/>
          </a:xfrm>
          <a:prstGeom prst="rect">
            <a:avLst/>
          </a:prstGeom>
          <a:noFill/>
          <a:ln/>
        </p:spPr>
        <p:txBody>
          <a:bodyPr wrap="square" lIns="0" tIns="0" rIns="0" bIns="0" rtlCol="0" anchor="t"/>
          <a:lstStyle/>
          <a:p>
            <a:pPr marL="0" indent="0">
              <a:buNone/>
            </a:pPr>
            <a:r>
              <a:rPr lang="en-US" sz="980" dirty="0">
                <a:solidFill>
                  <a:srgbClr val="556677"/>
                </a:solidFill>
                <a:latin typeface="Aptos" pitchFamily="34" charset="0"/>
                <a:ea typeface="Aptos" pitchFamily="34" charset="-122"/>
                <a:cs typeface="Aptos" pitchFamily="34" charset="-120"/>
              </a:rPr>
              <a:t>Patients, documents, messages, deadlines, reviewer actions, and appeals create a richer operating dataset over time.</a:t>
            </a:r>
            <a:endParaRPr lang="en-US" sz="980" dirty="0"/>
          </a:p>
        </p:txBody>
      </p:sp>
      <p:sp>
        <p:nvSpPr>
          <p:cNvPr id="16" name="Shape 14"/>
          <p:cNvSpPr/>
          <p:nvPr/>
        </p:nvSpPr>
        <p:spPr>
          <a:xfrm>
            <a:off x="5961888" y="2084832"/>
            <a:ext cx="2487168" cy="1700784"/>
          </a:xfrm>
          <a:prstGeom prst="roundRect">
            <a:avLst>
              <a:gd name="adj" fmla="val 4301"/>
            </a:avLst>
          </a:prstGeom>
          <a:solidFill>
            <a:srgbClr val="FFFDFC"/>
          </a:solidFill>
          <a:ln w="13970">
            <a:solidFill>
              <a:srgbClr val="D9E3EA"/>
            </a:solidFill>
            <a:prstDash val="solid"/>
          </a:ln>
          <a:effectLst>
            <a:outerShdw blurRad="12700" dist="50800" dir="2700000" algn="bl" rotWithShape="0">
              <a:srgbClr val="B7C8D5">
                <a:alpha val="12000"/>
              </a:srgbClr>
            </a:outerShdw>
          </a:effectLst>
        </p:spPr>
        <p:txBody>
          <a:bodyPr/>
          <a:lstStyle/>
          <a:p>
            <a:endParaRPr lang="en-US"/>
          </a:p>
        </p:txBody>
      </p:sp>
      <p:sp>
        <p:nvSpPr>
          <p:cNvPr id="17" name="Shape 15"/>
          <p:cNvSpPr/>
          <p:nvPr/>
        </p:nvSpPr>
        <p:spPr>
          <a:xfrm>
            <a:off x="6126480" y="2249424"/>
            <a:ext cx="164592" cy="1371600"/>
          </a:xfrm>
          <a:prstGeom prst="roundRect">
            <a:avLst>
              <a:gd name="adj" fmla="val 44444"/>
            </a:avLst>
          </a:prstGeom>
          <a:solidFill>
            <a:srgbClr val="F2C14E"/>
          </a:solidFill>
          <a:ln w="12700">
            <a:solidFill>
              <a:srgbClr val="F2C14E"/>
            </a:solidFill>
            <a:prstDash val="solid"/>
          </a:ln>
        </p:spPr>
        <p:txBody>
          <a:bodyPr/>
          <a:lstStyle/>
          <a:p>
            <a:endParaRPr lang="en-US"/>
          </a:p>
        </p:txBody>
      </p:sp>
      <p:sp>
        <p:nvSpPr>
          <p:cNvPr id="18" name="Text 16"/>
          <p:cNvSpPr/>
          <p:nvPr/>
        </p:nvSpPr>
        <p:spPr>
          <a:xfrm>
            <a:off x="6400800" y="2249424"/>
            <a:ext cx="1883664" cy="274320"/>
          </a:xfrm>
          <a:prstGeom prst="rect">
            <a:avLst/>
          </a:prstGeom>
          <a:noFill/>
          <a:ln/>
        </p:spPr>
        <p:txBody>
          <a:bodyPr wrap="square" lIns="0" tIns="0" rIns="0" bIns="0" rtlCol="0" anchor="ctr"/>
          <a:lstStyle/>
          <a:p>
            <a:pPr marL="0" indent="0">
              <a:buNone/>
            </a:pPr>
            <a:r>
              <a:rPr lang="en-US" sz="1500" b="1" dirty="0">
                <a:solidFill>
                  <a:srgbClr val="1D3557"/>
                </a:solidFill>
                <a:latin typeface="Aptos Display" pitchFamily="34" charset="0"/>
                <a:ea typeface="Aptos Display" pitchFamily="34" charset="-122"/>
                <a:cs typeface="Aptos Display" pitchFamily="34" charset="-120"/>
              </a:rPr>
              <a:t>Trust posture</a:t>
            </a:r>
            <a:endParaRPr lang="en-US" sz="1500" dirty="0"/>
          </a:p>
        </p:txBody>
      </p:sp>
      <p:sp>
        <p:nvSpPr>
          <p:cNvPr id="19" name="Text 17"/>
          <p:cNvSpPr/>
          <p:nvPr/>
        </p:nvSpPr>
        <p:spPr>
          <a:xfrm>
            <a:off x="6400800" y="2596896"/>
            <a:ext cx="1883664" cy="1005840"/>
          </a:xfrm>
          <a:prstGeom prst="rect">
            <a:avLst/>
          </a:prstGeom>
          <a:noFill/>
          <a:ln/>
        </p:spPr>
        <p:txBody>
          <a:bodyPr wrap="square" lIns="0" tIns="0" rIns="0" bIns="0" rtlCol="0" anchor="t"/>
          <a:lstStyle/>
          <a:p>
            <a:pPr marL="0" indent="0">
              <a:buNone/>
            </a:pPr>
            <a:r>
              <a:rPr lang="en-US" sz="980" dirty="0">
                <a:solidFill>
                  <a:srgbClr val="556677"/>
                </a:solidFill>
                <a:latin typeface="Aptos" pitchFamily="34" charset="0"/>
                <a:ea typeface="Aptos" pitchFamily="34" charset="-122"/>
                <a:cs typeface="Aptos" pitchFamily="34" charset="-120"/>
              </a:rPr>
              <a:t>Local/private AI, typed outputs, deterministic decisions, and auditable staff workflows matter in high-stakes benefits access.</a:t>
            </a:r>
            <a:endParaRPr lang="en-US" sz="980" dirty="0"/>
          </a:p>
        </p:txBody>
      </p:sp>
      <p:sp>
        <p:nvSpPr>
          <p:cNvPr id="20" name="Shape 18"/>
          <p:cNvSpPr/>
          <p:nvPr/>
        </p:nvSpPr>
        <p:spPr>
          <a:xfrm>
            <a:off x="8613648" y="2084832"/>
            <a:ext cx="2670048" cy="1700784"/>
          </a:xfrm>
          <a:prstGeom prst="roundRect">
            <a:avLst>
              <a:gd name="adj" fmla="val 4301"/>
            </a:avLst>
          </a:prstGeom>
          <a:solidFill>
            <a:srgbClr val="FFFDFC"/>
          </a:solidFill>
          <a:ln w="13970">
            <a:solidFill>
              <a:srgbClr val="D9E3EA"/>
            </a:solidFill>
            <a:prstDash val="solid"/>
          </a:ln>
          <a:effectLst>
            <a:outerShdw blurRad="12700" dist="50800" dir="2700000" algn="bl" rotWithShape="0">
              <a:srgbClr val="B7C8D5">
                <a:alpha val="12000"/>
              </a:srgbClr>
            </a:outerShdw>
          </a:effectLst>
        </p:spPr>
        <p:txBody>
          <a:bodyPr/>
          <a:lstStyle/>
          <a:p>
            <a:endParaRPr lang="en-US"/>
          </a:p>
        </p:txBody>
      </p:sp>
      <p:sp>
        <p:nvSpPr>
          <p:cNvPr id="21" name="Shape 19"/>
          <p:cNvSpPr/>
          <p:nvPr/>
        </p:nvSpPr>
        <p:spPr>
          <a:xfrm>
            <a:off x="8778240" y="2249424"/>
            <a:ext cx="164592" cy="1371600"/>
          </a:xfrm>
          <a:prstGeom prst="roundRect">
            <a:avLst>
              <a:gd name="adj" fmla="val 44444"/>
            </a:avLst>
          </a:prstGeom>
          <a:solidFill>
            <a:srgbClr val="E8825E"/>
          </a:solidFill>
          <a:ln w="12700">
            <a:solidFill>
              <a:srgbClr val="E8825E"/>
            </a:solidFill>
            <a:prstDash val="solid"/>
          </a:ln>
        </p:spPr>
        <p:txBody>
          <a:bodyPr/>
          <a:lstStyle/>
          <a:p>
            <a:endParaRPr lang="en-US"/>
          </a:p>
        </p:txBody>
      </p:sp>
      <p:sp>
        <p:nvSpPr>
          <p:cNvPr id="22" name="Text 20"/>
          <p:cNvSpPr/>
          <p:nvPr/>
        </p:nvSpPr>
        <p:spPr>
          <a:xfrm>
            <a:off x="9052560" y="2249424"/>
            <a:ext cx="2066544" cy="274320"/>
          </a:xfrm>
          <a:prstGeom prst="rect">
            <a:avLst/>
          </a:prstGeom>
          <a:noFill/>
          <a:ln/>
        </p:spPr>
        <p:txBody>
          <a:bodyPr wrap="square" lIns="0" tIns="0" rIns="0" bIns="0" rtlCol="0" anchor="ctr"/>
          <a:lstStyle/>
          <a:p>
            <a:pPr marL="0" indent="0">
              <a:buNone/>
            </a:pPr>
            <a:r>
              <a:rPr lang="en-US" sz="1500" b="1" dirty="0">
                <a:solidFill>
                  <a:srgbClr val="1D3557"/>
                </a:solidFill>
                <a:latin typeface="Aptos Display" pitchFamily="34" charset="0"/>
                <a:ea typeface="Aptos Display" pitchFamily="34" charset="-122"/>
                <a:cs typeface="Aptos Display" pitchFamily="34" charset="-120"/>
              </a:rPr>
              <a:t>Expansion path</a:t>
            </a:r>
            <a:endParaRPr lang="en-US" sz="1500" dirty="0"/>
          </a:p>
        </p:txBody>
      </p:sp>
      <p:sp>
        <p:nvSpPr>
          <p:cNvPr id="23" name="Text 21"/>
          <p:cNvSpPr/>
          <p:nvPr/>
        </p:nvSpPr>
        <p:spPr>
          <a:xfrm>
            <a:off x="9052560" y="2596896"/>
            <a:ext cx="2066544" cy="1005840"/>
          </a:xfrm>
          <a:prstGeom prst="rect">
            <a:avLst/>
          </a:prstGeom>
          <a:noFill/>
          <a:ln/>
        </p:spPr>
        <p:txBody>
          <a:bodyPr wrap="square" lIns="0" tIns="0" rIns="0" bIns="0" rtlCol="0" anchor="t"/>
          <a:lstStyle/>
          <a:p>
            <a:pPr marL="0" indent="0">
              <a:buNone/>
            </a:pPr>
            <a:r>
              <a:rPr lang="en-US" sz="980" dirty="0">
                <a:solidFill>
                  <a:srgbClr val="556677"/>
                </a:solidFill>
                <a:latin typeface="Aptos" pitchFamily="34" charset="0"/>
                <a:ea typeface="Aptos" pitchFamily="34" charset="-122"/>
                <a:cs typeface="Aptos" pitchFamily="34" charset="-120"/>
              </a:rPr>
              <a:t>The architecture can evolve into configurable state rule packs rather than one-off program scripts for every new market.</a:t>
            </a:r>
            <a:endParaRPr lang="en-US" sz="980" dirty="0"/>
          </a:p>
        </p:txBody>
      </p:sp>
      <p:sp>
        <p:nvSpPr>
          <p:cNvPr id="24" name="Shape 22"/>
          <p:cNvSpPr/>
          <p:nvPr/>
        </p:nvSpPr>
        <p:spPr>
          <a:xfrm>
            <a:off x="658368" y="4133088"/>
            <a:ext cx="10625328" cy="1426464"/>
          </a:xfrm>
          <a:prstGeom prst="roundRect">
            <a:avLst>
              <a:gd name="adj" fmla="val 5128"/>
            </a:avLst>
          </a:prstGeom>
          <a:solidFill>
            <a:srgbClr val="FFFDFC"/>
          </a:solidFill>
          <a:ln w="13970">
            <a:solidFill>
              <a:srgbClr val="D9E3EA"/>
            </a:solidFill>
            <a:prstDash val="solid"/>
          </a:ln>
          <a:effectLst>
            <a:outerShdw blurRad="12700" dist="50800" dir="2700000" algn="bl" rotWithShape="0">
              <a:srgbClr val="B7C8D5">
                <a:alpha val="12000"/>
              </a:srgbClr>
            </a:outerShdw>
          </a:effectLst>
        </p:spPr>
        <p:txBody>
          <a:bodyPr/>
          <a:lstStyle/>
          <a:p>
            <a:endParaRPr lang="en-US"/>
          </a:p>
        </p:txBody>
      </p:sp>
      <p:sp>
        <p:nvSpPr>
          <p:cNvPr id="25" name="Shape 23"/>
          <p:cNvSpPr/>
          <p:nvPr/>
        </p:nvSpPr>
        <p:spPr>
          <a:xfrm>
            <a:off x="822960" y="4297680"/>
            <a:ext cx="164592" cy="1097280"/>
          </a:xfrm>
          <a:prstGeom prst="roundRect">
            <a:avLst>
              <a:gd name="adj" fmla="val 44444"/>
            </a:avLst>
          </a:prstGeom>
          <a:solidFill>
            <a:srgbClr val="1D3557"/>
          </a:solidFill>
          <a:ln w="12700">
            <a:solidFill>
              <a:srgbClr val="1D3557"/>
            </a:solidFill>
            <a:prstDash val="solid"/>
          </a:ln>
        </p:spPr>
        <p:txBody>
          <a:bodyPr/>
          <a:lstStyle/>
          <a:p>
            <a:endParaRPr lang="en-US"/>
          </a:p>
        </p:txBody>
      </p:sp>
      <p:sp>
        <p:nvSpPr>
          <p:cNvPr id="26" name="Text 24"/>
          <p:cNvSpPr/>
          <p:nvPr/>
        </p:nvSpPr>
        <p:spPr>
          <a:xfrm>
            <a:off x="1097280" y="4297680"/>
            <a:ext cx="10021824" cy="274320"/>
          </a:xfrm>
          <a:prstGeom prst="rect">
            <a:avLst/>
          </a:prstGeom>
          <a:noFill/>
          <a:ln/>
        </p:spPr>
        <p:txBody>
          <a:bodyPr wrap="square" lIns="0" tIns="0" rIns="0" bIns="0" rtlCol="0" anchor="ctr"/>
          <a:lstStyle/>
          <a:p>
            <a:pPr marL="0" indent="0">
              <a:buNone/>
            </a:pPr>
            <a:r>
              <a:rPr lang="en-US" sz="1500" b="1" dirty="0">
                <a:solidFill>
                  <a:srgbClr val="1D3557"/>
                </a:solidFill>
                <a:latin typeface="Aptos Display" pitchFamily="34" charset="0"/>
                <a:ea typeface="Aptos Display" pitchFamily="34" charset="-122"/>
                <a:cs typeface="Aptos Display" pitchFamily="34" charset="-120"/>
              </a:rPr>
              <a:t>Executive takeaway</a:t>
            </a:r>
            <a:endParaRPr lang="en-US" sz="1500" dirty="0"/>
          </a:p>
        </p:txBody>
      </p:sp>
      <p:sp>
        <p:nvSpPr>
          <p:cNvPr id="27" name="Text 25"/>
          <p:cNvSpPr/>
          <p:nvPr/>
        </p:nvSpPr>
        <p:spPr>
          <a:xfrm>
            <a:off x="1097280" y="4645152"/>
            <a:ext cx="10021824" cy="731520"/>
          </a:xfrm>
          <a:prstGeom prst="rect">
            <a:avLst/>
          </a:prstGeom>
          <a:noFill/>
          <a:ln/>
        </p:spPr>
        <p:txBody>
          <a:bodyPr wrap="square" lIns="0" tIns="0" rIns="0" bIns="0" rtlCol="0" anchor="t"/>
          <a:lstStyle/>
          <a:p>
            <a:pPr marL="0" indent="0">
              <a:buNone/>
            </a:pPr>
            <a:r>
              <a:rPr lang="en-US" sz="1120" dirty="0">
                <a:solidFill>
                  <a:srgbClr val="556677"/>
                </a:solidFill>
                <a:latin typeface="Aptos" pitchFamily="34" charset="0"/>
                <a:ea typeface="Aptos" pitchFamily="34" charset="-122"/>
                <a:cs typeface="Aptos" pitchFamily="34" charset="-120"/>
              </a:rPr>
              <a:t>HealthCompass MA has the ingredients for a real technology moat: deterministic benefit logic, policy-grounded AI support, multilingual engagement, and facility workflows that produce durable proprietary data. The future blueprint compounds all four.</a:t>
            </a:r>
            <a:endParaRPr lang="en-US" sz="1120" dirty="0"/>
          </a:p>
        </p:txBody>
      </p:sp>
      <p:sp>
        <p:nvSpPr>
          <p:cNvPr id="28" name="Text 26"/>
          <p:cNvSpPr/>
          <p:nvPr/>
        </p:nvSpPr>
        <p:spPr>
          <a:xfrm>
            <a:off x="548640" y="6455664"/>
            <a:ext cx="4937760" cy="164592"/>
          </a:xfrm>
          <a:prstGeom prst="rect">
            <a:avLst/>
          </a:prstGeom>
          <a:noFill/>
          <a:ln/>
        </p:spPr>
        <p:txBody>
          <a:bodyPr wrap="square" lIns="0" tIns="0" rIns="0" bIns="0" rtlCol="0" anchor="ctr"/>
          <a:lstStyle/>
          <a:p>
            <a:pPr marL="0" indent="0">
              <a:buNone/>
            </a:pPr>
            <a:r>
              <a:rPr lang="en-US" sz="950" dirty="0">
                <a:solidFill>
                  <a:srgbClr val="556677"/>
                </a:solidFill>
                <a:latin typeface="Aptos" pitchFamily="34" charset="0"/>
                <a:ea typeface="Aptos" pitchFamily="34" charset="-122"/>
                <a:cs typeface="Aptos" pitchFamily="34" charset="-120"/>
              </a:rPr>
              <a:t>HealthCompass MA  |  Executive Summary  |  April 2026</a:t>
            </a:r>
            <a:endParaRPr lang="en-US" sz="950" dirty="0"/>
          </a:p>
        </p:txBody>
      </p:sp>
      <p:sp>
        <p:nvSpPr>
          <p:cNvPr id="29" name="Text 27"/>
          <p:cNvSpPr/>
          <p:nvPr/>
        </p:nvSpPr>
        <p:spPr>
          <a:xfrm>
            <a:off x="10469880" y="6455664"/>
            <a:ext cx="1097280" cy="164592"/>
          </a:xfrm>
          <a:prstGeom prst="rect">
            <a:avLst/>
          </a:prstGeom>
          <a:noFill/>
          <a:ln/>
        </p:spPr>
        <p:txBody>
          <a:bodyPr wrap="square" lIns="0" tIns="0" rIns="0" bIns="0" rtlCol="0" anchor="ctr"/>
          <a:lstStyle/>
          <a:p>
            <a:pPr marL="0" indent="0" algn="r">
              <a:buNone/>
            </a:pPr>
            <a:r>
              <a:rPr lang="en-US" sz="950" dirty="0">
                <a:solidFill>
                  <a:srgbClr val="556677"/>
                </a:solidFill>
                <a:latin typeface="Aptos" pitchFamily="34" charset="0"/>
                <a:ea typeface="Aptos" pitchFamily="34" charset="-122"/>
                <a:cs typeface="Aptos" pitchFamily="34" charset="-120"/>
              </a:rPr>
              <a:t>Confidential</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0263F"/>
        </a:solidFill>
        <a:effectLst/>
      </p:bgPr>
    </p:bg>
    <p:spTree>
      <p:nvGrpSpPr>
        <p:cNvPr id="1" name=""/>
        <p:cNvGrpSpPr/>
        <p:nvPr/>
      </p:nvGrpSpPr>
      <p:grpSpPr>
        <a:xfrm>
          <a:off x="0" y="0"/>
          <a:ext cx="0" cy="0"/>
          <a:chOff x="0" y="0"/>
          <a:chExt cx="0" cy="0"/>
        </a:xfrm>
      </p:grpSpPr>
      <p:sp>
        <p:nvSpPr>
          <p:cNvPr id="2" name="Shape 0"/>
          <p:cNvSpPr/>
          <p:nvPr/>
        </p:nvSpPr>
        <p:spPr>
          <a:xfrm rot="960000">
            <a:off x="9052560" y="-548640"/>
            <a:ext cx="3840480" cy="3474720"/>
          </a:xfrm>
          <a:prstGeom prst="rect">
            <a:avLst/>
          </a:prstGeom>
          <a:solidFill>
            <a:srgbClr val="137C71">
              <a:alpha val="18000"/>
            </a:srgbClr>
          </a:solidFill>
          <a:ln w="12700">
            <a:solidFill>
              <a:srgbClr val="137C71">
                <a:alpha val="0"/>
              </a:srgbClr>
            </a:solidFill>
            <a:prstDash val="solid"/>
          </a:ln>
        </p:spPr>
        <p:txBody>
          <a:bodyPr/>
          <a:lstStyle/>
          <a:p>
            <a:endParaRPr lang="en-US"/>
          </a:p>
        </p:txBody>
      </p:sp>
      <p:sp>
        <p:nvSpPr>
          <p:cNvPr id="3" name="Shape 1"/>
          <p:cNvSpPr/>
          <p:nvPr/>
        </p:nvSpPr>
        <p:spPr>
          <a:xfrm>
            <a:off x="-731520" y="5212080"/>
            <a:ext cx="3108960" cy="2194560"/>
          </a:xfrm>
          <a:prstGeom prst="ellipse">
            <a:avLst/>
          </a:prstGeom>
          <a:solidFill>
            <a:srgbClr val="E8825E">
              <a:alpha val="20000"/>
            </a:srgbClr>
          </a:solidFill>
          <a:ln w="12700">
            <a:solidFill>
              <a:srgbClr val="E8825E">
                <a:alpha val="0"/>
              </a:srgbClr>
            </a:solidFill>
            <a:prstDash val="solid"/>
          </a:ln>
        </p:spPr>
        <p:txBody>
          <a:bodyPr/>
          <a:lstStyle/>
          <a:p>
            <a:endParaRPr lang="en-US"/>
          </a:p>
        </p:txBody>
      </p:sp>
      <p:sp>
        <p:nvSpPr>
          <p:cNvPr id="4" name="Shape 2"/>
          <p:cNvSpPr/>
          <p:nvPr/>
        </p:nvSpPr>
        <p:spPr>
          <a:xfrm>
            <a:off x="548640" y="1005840"/>
            <a:ext cx="11064240" cy="0"/>
          </a:xfrm>
          <a:prstGeom prst="line">
            <a:avLst/>
          </a:prstGeom>
          <a:noFill/>
          <a:ln w="17780">
            <a:solidFill>
              <a:srgbClr val="5DB7DE">
                <a:alpha val="40000"/>
              </a:srgbClr>
            </a:solidFill>
            <a:prstDash val="solid"/>
          </a:ln>
        </p:spPr>
        <p:txBody>
          <a:bodyPr/>
          <a:lstStyle/>
          <a:p>
            <a:endParaRPr lang="en-US"/>
          </a:p>
        </p:txBody>
      </p:sp>
      <p:sp>
        <p:nvSpPr>
          <p:cNvPr id="5" name="Text 3"/>
          <p:cNvSpPr/>
          <p:nvPr/>
        </p:nvSpPr>
        <p:spPr>
          <a:xfrm>
            <a:off x="658368" y="960120"/>
            <a:ext cx="4937760" cy="420624"/>
          </a:xfrm>
          <a:prstGeom prst="rect">
            <a:avLst/>
          </a:prstGeom>
          <a:noFill/>
          <a:ln/>
        </p:spPr>
        <p:txBody>
          <a:bodyPr wrap="square" lIns="0" tIns="0" rIns="0" bIns="0" rtlCol="0" anchor="ctr"/>
          <a:lstStyle/>
          <a:p>
            <a:pPr marL="0" indent="0">
              <a:buNone/>
            </a:pPr>
            <a:r>
              <a:rPr lang="en-US" sz="2600" b="1" dirty="0">
                <a:solidFill>
                  <a:srgbClr val="FFFFFF"/>
                </a:solidFill>
                <a:latin typeface="Aptos Display" pitchFamily="34" charset="0"/>
                <a:ea typeface="Aptos Display" pitchFamily="34" charset="-122"/>
                <a:cs typeface="Aptos Display" pitchFamily="34" charset="-120"/>
              </a:rPr>
              <a:t>HealthCompass MA</a:t>
            </a:r>
            <a:endParaRPr lang="en-US" sz="2600" dirty="0"/>
          </a:p>
        </p:txBody>
      </p:sp>
      <p:sp>
        <p:nvSpPr>
          <p:cNvPr id="6" name="Text 4"/>
          <p:cNvSpPr/>
          <p:nvPr/>
        </p:nvSpPr>
        <p:spPr>
          <a:xfrm>
            <a:off x="676656" y="1481328"/>
            <a:ext cx="5486400" cy="310896"/>
          </a:xfrm>
          <a:prstGeom prst="rect">
            <a:avLst/>
          </a:prstGeom>
          <a:noFill/>
          <a:ln/>
        </p:spPr>
        <p:txBody>
          <a:bodyPr wrap="square" lIns="0" tIns="0" rIns="0" bIns="0" rtlCol="0" anchor="ctr"/>
          <a:lstStyle/>
          <a:p>
            <a:pPr marL="0" indent="0">
              <a:buNone/>
            </a:pPr>
            <a:r>
              <a:rPr lang="en-US" sz="1400" dirty="0">
                <a:solidFill>
                  <a:srgbClr val="A8D7EA"/>
                </a:solidFill>
                <a:latin typeface="Aptos" pitchFamily="34" charset="0"/>
                <a:ea typeface="Aptos" pitchFamily="34" charset="-122"/>
                <a:cs typeface="Aptos" pitchFamily="34" charset="-120"/>
              </a:rPr>
              <a:t>A more human way to get benefits access right</a:t>
            </a:r>
            <a:endParaRPr lang="en-US" sz="1400" dirty="0"/>
          </a:p>
        </p:txBody>
      </p:sp>
      <p:sp>
        <p:nvSpPr>
          <p:cNvPr id="7" name="Text 5"/>
          <p:cNvSpPr/>
          <p:nvPr/>
        </p:nvSpPr>
        <p:spPr>
          <a:xfrm>
            <a:off x="676656" y="2103120"/>
            <a:ext cx="5669280" cy="1078992"/>
          </a:xfrm>
          <a:prstGeom prst="rect">
            <a:avLst/>
          </a:prstGeom>
          <a:noFill/>
          <a:ln/>
        </p:spPr>
        <p:txBody>
          <a:bodyPr wrap="square" lIns="0" tIns="0" rIns="0" bIns="0" rtlCol="0" anchor="ctr"/>
          <a:lstStyle/>
          <a:p>
            <a:pPr marL="0" indent="0">
              <a:buNone/>
            </a:pPr>
            <a:r>
              <a:rPr lang="en-US" sz="1900" b="1" dirty="0">
                <a:solidFill>
                  <a:srgbClr val="EEF6FB"/>
                </a:solidFill>
                <a:latin typeface="Aptos" pitchFamily="34" charset="0"/>
                <a:ea typeface="Aptos" pitchFamily="34" charset="-122"/>
                <a:cs typeface="Aptos" pitchFamily="34" charset="-120"/>
              </a:rPr>
              <a:t>The opportunity is to become the operating system for benefits access: trusted by patients, useful to facilities, and increasingly defensible as the workflow and learning system deepens.</a:t>
            </a:r>
            <a:endParaRPr lang="en-US" sz="1900" dirty="0"/>
          </a:p>
        </p:txBody>
      </p:sp>
      <p:sp>
        <p:nvSpPr>
          <p:cNvPr id="8" name="Shape 6"/>
          <p:cNvSpPr/>
          <p:nvPr/>
        </p:nvSpPr>
        <p:spPr>
          <a:xfrm>
            <a:off x="749808" y="3886200"/>
            <a:ext cx="100584" cy="100584"/>
          </a:xfrm>
          <a:prstGeom prst="ellipse">
            <a:avLst/>
          </a:prstGeom>
          <a:solidFill>
            <a:srgbClr val="F2C14E"/>
          </a:solidFill>
          <a:ln w="12700">
            <a:solidFill>
              <a:srgbClr val="F2C14E"/>
            </a:solidFill>
            <a:prstDash val="solid"/>
          </a:ln>
        </p:spPr>
        <p:txBody>
          <a:bodyPr/>
          <a:lstStyle/>
          <a:p>
            <a:endParaRPr lang="en-US"/>
          </a:p>
        </p:txBody>
      </p:sp>
      <p:sp>
        <p:nvSpPr>
          <p:cNvPr id="9" name="Text 7"/>
          <p:cNvSpPr/>
          <p:nvPr/>
        </p:nvSpPr>
        <p:spPr>
          <a:xfrm>
            <a:off x="914400" y="3822192"/>
            <a:ext cx="5504688" cy="237744"/>
          </a:xfrm>
          <a:prstGeom prst="rect">
            <a:avLst/>
          </a:prstGeom>
          <a:noFill/>
          <a:ln/>
        </p:spPr>
        <p:txBody>
          <a:bodyPr wrap="square" lIns="0" tIns="0" rIns="0" bIns="0" rtlCol="0" anchor="ctr"/>
          <a:lstStyle/>
          <a:p>
            <a:pPr marL="0" indent="0">
              <a:buNone/>
            </a:pPr>
            <a:r>
              <a:rPr lang="en-US" sz="1160" dirty="0">
                <a:solidFill>
                  <a:srgbClr val="DDEAF4"/>
                </a:solidFill>
                <a:latin typeface="Aptos" pitchFamily="34" charset="0"/>
                <a:ea typeface="Aptos" pitchFamily="34" charset="-122"/>
                <a:cs typeface="Aptos" pitchFamily="34" charset="-120"/>
              </a:rPr>
              <a:t>Deterministic decisions with AI support, not AI guesswork</a:t>
            </a:r>
            <a:endParaRPr lang="en-US" sz="1160" dirty="0"/>
          </a:p>
        </p:txBody>
      </p:sp>
      <p:sp>
        <p:nvSpPr>
          <p:cNvPr id="10" name="Shape 8"/>
          <p:cNvSpPr/>
          <p:nvPr/>
        </p:nvSpPr>
        <p:spPr>
          <a:xfrm>
            <a:off x="749808" y="4306824"/>
            <a:ext cx="100584" cy="100584"/>
          </a:xfrm>
          <a:prstGeom prst="ellipse">
            <a:avLst/>
          </a:prstGeom>
          <a:solidFill>
            <a:srgbClr val="F2C14E"/>
          </a:solidFill>
          <a:ln w="12700">
            <a:solidFill>
              <a:srgbClr val="F2C14E"/>
            </a:solidFill>
            <a:prstDash val="solid"/>
          </a:ln>
        </p:spPr>
        <p:txBody>
          <a:bodyPr/>
          <a:lstStyle/>
          <a:p>
            <a:endParaRPr lang="en-US"/>
          </a:p>
        </p:txBody>
      </p:sp>
      <p:sp>
        <p:nvSpPr>
          <p:cNvPr id="11" name="Text 9"/>
          <p:cNvSpPr/>
          <p:nvPr/>
        </p:nvSpPr>
        <p:spPr>
          <a:xfrm>
            <a:off x="914400" y="4242816"/>
            <a:ext cx="5504688" cy="237744"/>
          </a:xfrm>
          <a:prstGeom prst="rect">
            <a:avLst/>
          </a:prstGeom>
          <a:noFill/>
          <a:ln/>
        </p:spPr>
        <p:txBody>
          <a:bodyPr wrap="square" lIns="0" tIns="0" rIns="0" bIns="0" rtlCol="0" anchor="ctr"/>
          <a:lstStyle/>
          <a:p>
            <a:pPr marL="0" indent="0">
              <a:buNone/>
            </a:pPr>
            <a:r>
              <a:rPr lang="en-US" sz="1160" dirty="0">
                <a:solidFill>
                  <a:srgbClr val="DDEAF4"/>
                </a:solidFill>
                <a:latin typeface="Aptos" pitchFamily="34" charset="0"/>
                <a:ea typeface="Aptos" pitchFamily="34" charset="-122"/>
                <a:cs typeface="Aptos" pitchFamily="34" charset="-120"/>
              </a:rPr>
              <a:t>Stronger outcomes for patients who struggle with language, literacy, or forms</a:t>
            </a:r>
            <a:endParaRPr lang="en-US" sz="1160" dirty="0"/>
          </a:p>
        </p:txBody>
      </p:sp>
      <p:sp>
        <p:nvSpPr>
          <p:cNvPr id="12" name="Shape 10"/>
          <p:cNvSpPr/>
          <p:nvPr/>
        </p:nvSpPr>
        <p:spPr>
          <a:xfrm>
            <a:off x="749808" y="4727448"/>
            <a:ext cx="100584" cy="100584"/>
          </a:xfrm>
          <a:prstGeom prst="ellipse">
            <a:avLst/>
          </a:prstGeom>
          <a:solidFill>
            <a:srgbClr val="F2C14E"/>
          </a:solidFill>
          <a:ln w="12700">
            <a:solidFill>
              <a:srgbClr val="F2C14E"/>
            </a:solidFill>
            <a:prstDash val="solid"/>
          </a:ln>
        </p:spPr>
        <p:txBody>
          <a:bodyPr/>
          <a:lstStyle/>
          <a:p>
            <a:endParaRPr lang="en-US"/>
          </a:p>
        </p:txBody>
      </p:sp>
      <p:sp>
        <p:nvSpPr>
          <p:cNvPr id="13" name="Text 11"/>
          <p:cNvSpPr/>
          <p:nvPr/>
        </p:nvSpPr>
        <p:spPr>
          <a:xfrm>
            <a:off x="914400" y="4663440"/>
            <a:ext cx="5504688" cy="237744"/>
          </a:xfrm>
          <a:prstGeom prst="rect">
            <a:avLst/>
          </a:prstGeom>
          <a:noFill/>
          <a:ln/>
        </p:spPr>
        <p:txBody>
          <a:bodyPr wrap="square" lIns="0" tIns="0" rIns="0" bIns="0" rtlCol="0" anchor="ctr"/>
          <a:lstStyle/>
          <a:p>
            <a:pPr marL="0" indent="0">
              <a:buNone/>
            </a:pPr>
            <a:r>
              <a:rPr lang="en-US" sz="1160" dirty="0">
                <a:solidFill>
                  <a:srgbClr val="DDEAF4"/>
                </a:solidFill>
                <a:latin typeface="Aptos" pitchFamily="34" charset="0"/>
                <a:ea typeface="Aptos" pitchFamily="34" charset="-122"/>
                <a:cs typeface="Aptos" pitchFamily="34" charset="-120"/>
              </a:rPr>
              <a:t>Operational leverage for social workers, reviewers, and partner facilities</a:t>
            </a:r>
            <a:endParaRPr lang="en-US" sz="1160" dirty="0"/>
          </a:p>
        </p:txBody>
      </p:sp>
      <p:sp>
        <p:nvSpPr>
          <p:cNvPr id="14" name="Shape 12"/>
          <p:cNvSpPr/>
          <p:nvPr/>
        </p:nvSpPr>
        <p:spPr>
          <a:xfrm>
            <a:off x="749808" y="5148072"/>
            <a:ext cx="100584" cy="100584"/>
          </a:xfrm>
          <a:prstGeom prst="ellipse">
            <a:avLst/>
          </a:prstGeom>
          <a:solidFill>
            <a:srgbClr val="F2C14E"/>
          </a:solidFill>
          <a:ln w="12700">
            <a:solidFill>
              <a:srgbClr val="F2C14E"/>
            </a:solidFill>
            <a:prstDash val="solid"/>
          </a:ln>
        </p:spPr>
        <p:txBody>
          <a:bodyPr/>
          <a:lstStyle/>
          <a:p>
            <a:endParaRPr lang="en-US"/>
          </a:p>
        </p:txBody>
      </p:sp>
      <p:sp>
        <p:nvSpPr>
          <p:cNvPr id="15" name="Text 13"/>
          <p:cNvSpPr/>
          <p:nvPr/>
        </p:nvSpPr>
        <p:spPr>
          <a:xfrm>
            <a:off x="914400" y="5084064"/>
            <a:ext cx="5504688" cy="237744"/>
          </a:xfrm>
          <a:prstGeom prst="rect">
            <a:avLst/>
          </a:prstGeom>
          <a:noFill/>
          <a:ln/>
        </p:spPr>
        <p:txBody>
          <a:bodyPr wrap="square" lIns="0" tIns="0" rIns="0" bIns="0" rtlCol="0" anchor="ctr"/>
          <a:lstStyle/>
          <a:p>
            <a:pPr marL="0" indent="0">
              <a:buNone/>
            </a:pPr>
            <a:r>
              <a:rPr lang="en-US" sz="1160" dirty="0">
                <a:solidFill>
                  <a:srgbClr val="DDEAF4"/>
                </a:solidFill>
                <a:latin typeface="Aptos" pitchFamily="34" charset="0"/>
                <a:ea typeface="Aptos" pitchFamily="34" charset="-122"/>
                <a:cs typeface="Aptos" pitchFamily="34" charset="-120"/>
              </a:rPr>
              <a:t>A credible path to document AI, renewals, provider tooling, and state-scale expansion</a:t>
            </a:r>
            <a:endParaRPr lang="en-US" sz="1160" dirty="0"/>
          </a:p>
        </p:txBody>
      </p:sp>
      <p:sp>
        <p:nvSpPr>
          <p:cNvPr id="16" name="Shape 14"/>
          <p:cNvSpPr/>
          <p:nvPr/>
        </p:nvSpPr>
        <p:spPr>
          <a:xfrm>
            <a:off x="7333488" y="1325880"/>
            <a:ext cx="3913632" cy="3511296"/>
          </a:xfrm>
          <a:prstGeom prst="roundRect">
            <a:avLst>
              <a:gd name="adj" fmla="val 2083"/>
            </a:avLst>
          </a:prstGeom>
          <a:solidFill>
            <a:srgbClr val="17304B"/>
          </a:solidFill>
          <a:ln w="13970">
            <a:solidFill>
              <a:srgbClr val="35516A"/>
            </a:solidFill>
            <a:prstDash val="solid"/>
          </a:ln>
        </p:spPr>
        <p:txBody>
          <a:bodyPr/>
          <a:lstStyle/>
          <a:p>
            <a:endParaRPr lang="en-US"/>
          </a:p>
        </p:txBody>
      </p:sp>
      <p:sp>
        <p:nvSpPr>
          <p:cNvPr id="17" name="Shape 15"/>
          <p:cNvSpPr/>
          <p:nvPr/>
        </p:nvSpPr>
        <p:spPr>
          <a:xfrm>
            <a:off x="7498080" y="1490472"/>
            <a:ext cx="164592" cy="3182112"/>
          </a:xfrm>
          <a:prstGeom prst="roundRect">
            <a:avLst>
              <a:gd name="adj" fmla="val 44444"/>
            </a:avLst>
          </a:prstGeom>
          <a:solidFill>
            <a:srgbClr val="E8825E"/>
          </a:solidFill>
          <a:ln w="12700">
            <a:solidFill>
              <a:srgbClr val="E8825E"/>
            </a:solidFill>
            <a:prstDash val="solid"/>
          </a:ln>
        </p:spPr>
        <p:txBody>
          <a:bodyPr/>
          <a:lstStyle/>
          <a:p>
            <a:endParaRPr lang="en-US"/>
          </a:p>
        </p:txBody>
      </p:sp>
      <p:sp>
        <p:nvSpPr>
          <p:cNvPr id="18" name="Text 16"/>
          <p:cNvSpPr/>
          <p:nvPr/>
        </p:nvSpPr>
        <p:spPr>
          <a:xfrm>
            <a:off x="7772400" y="1490472"/>
            <a:ext cx="3310128" cy="274320"/>
          </a:xfrm>
          <a:prstGeom prst="rect">
            <a:avLst/>
          </a:prstGeom>
          <a:noFill/>
          <a:ln/>
        </p:spPr>
        <p:txBody>
          <a:bodyPr wrap="square" lIns="0" tIns="0" rIns="0" bIns="0" rtlCol="0" anchor="ctr"/>
          <a:lstStyle/>
          <a:p>
            <a:pPr marL="0" indent="0">
              <a:buNone/>
            </a:pPr>
            <a:r>
              <a:rPr lang="en-US" sz="1700" b="1" dirty="0">
                <a:solidFill>
                  <a:srgbClr val="FFFFFF"/>
                </a:solidFill>
                <a:latin typeface="Aptos Display" pitchFamily="34" charset="0"/>
                <a:ea typeface="Aptos Display" pitchFamily="34" charset="-122"/>
                <a:cs typeface="Aptos Display" pitchFamily="34" charset="-120"/>
              </a:rPr>
              <a:t>Next-phase acceleration</a:t>
            </a:r>
            <a:endParaRPr lang="en-US" sz="1700" dirty="0"/>
          </a:p>
        </p:txBody>
      </p:sp>
      <p:sp>
        <p:nvSpPr>
          <p:cNvPr id="19" name="Text 17"/>
          <p:cNvSpPr/>
          <p:nvPr/>
        </p:nvSpPr>
        <p:spPr>
          <a:xfrm>
            <a:off x="7772400" y="1837944"/>
            <a:ext cx="3310128" cy="2816352"/>
          </a:xfrm>
          <a:prstGeom prst="rect">
            <a:avLst/>
          </a:prstGeom>
          <a:noFill/>
          <a:ln/>
        </p:spPr>
        <p:txBody>
          <a:bodyPr wrap="square" lIns="0" tIns="0" rIns="0" bIns="0" rtlCol="0" anchor="t"/>
          <a:lstStyle/>
          <a:p>
            <a:pPr marL="0" indent="0">
              <a:buNone/>
            </a:pPr>
            <a:r>
              <a:rPr lang="en-US" sz="1300" dirty="0">
                <a:solidFill>
                  <a:srgbClr val="D9E5F0"/>
                </a:solidFill>
                <a:latin typeface="Aptos" pitchFamily="34" charset="0"/>
                <a:ea typeface="Aptos" pitchFamily="34" charset="-122"/>
                <a:cs typeface="Aptos" pitchFamily="34" charset="-120"/>
              </a:rPr>
              <a:t>Document AI</a:t>
            </a:r>
            <a:endParaRPr lang="en-US" sz="1300" dirty="0"/>
          </a:p>
          <a:p>
            <a:pPr marL="0" indent="0">
              <a:buNone/>
            </a:pPr>
            <a:r>
              <a:rPr lang="en-US" sz="1300" dirty="0">
                <a:solidFill>
                  <a:srgbClr val="D9E5F0"/>
                </a:solidFill>
                <a:latin typeface="Aptos" pitchFamily="34" charset="0"/>
                <a:ea typeface="Aptos" pitchFamily="34" charset="-122"/>
                <a:cs typeface="Aptos" pitchFamily="34" charset="-120"/>
              </a:rPr>
              <a:t>Renewal automation</a:t>
            </a:r>
            <a:endParaRPr lang="en-US" sz="1300" dirty="0"/>
          </a:p>
          <a:p>
            <a:pPr marL="0" indent="0">
              <a:buNone/>
            </a:pPr>
            <a:r>
              <a:rPr lang="en-US" sz="1300" dirty="0">
                <a:solidFill>
                  <a:srgbClr val="D9E5F0"/>
                </a:solidFill>
                <a:latin typeface="Aptos" pitchFamily="34" charset="0"/>
                <a:ea typeface="Aptos" pitchFamily="34" charset="-122"/>
                <a:cs typeface="Aptos" pitchFamily="34" charset="-120"/>
              </a:rPr>
              <a:t>Provider / facility portal</a:t>
            </a:r>
            <a:endParaRPr lang="en-US" sz="1300" dirty="0"/>
          </a:p>
          <a:p>
            <a:pPr marL="0" indent="0">
              <a:buNone/>
            </a:pPr>
            <a:r>
              <a:rPr lang="en-US" sz="1300" dirty="0">
                <a:solidFill>
                  <a:srgbClr val="D9E5F0"/>
                </a:solidFill>
                <a:latin typeface="Aptos" pitchFamily="34" charset="0"/>
                <a:ea typeface="Aptos" pitchFamily="34" charset="-122"/>
                <a:cs typeface="Aptos" pitchFamily="34" charset="-120"/>
              </a:rPr>
              <a:t>Reviewer intelligence</a:t>
            </a:r>
            <a:endParaRPr lang="en-US" sz="1300" dirty="0"/>
          </a:p>
          <a:p>
            <a:pPr marL="0" indent="0">
              <a:buNone/>
            </a:pPr>
            <a:r>
              <a:rPr lang="en-US" sz="1300" dirty="0">
                <a:solidFill>
                  <a:srgbClr val="D9E5F0"/>
                </a:solidFill>
                <a:latin typeface="Aptos" pitchFamily="34" charset="0"/>
                <a:ea typeface="Aptos" pitchFamily="34" charset="-122"/>
                <a:cs typeface="Aptos" pitchFamily="34" charset="-120"/>
              </a:rPr>
              <a:t>Policy learning loop</a:t>
            </a:r>
            <a:endParaRPr lang="en-US" sz="1300" dirty="0"/>
          </a:p>
          <a:p>
            <a:pPr marL="0" indent="0">
              <a:buNone/>
            </a:pPr>
            <a:r>
              <a:rPr lang="en-US" sz="1300" dirty="0">
                <a:solidFill>
                  <a:srgbClr val="D9E5F0"/>
                </a:solidFill>
                <a:latin typeface="Aptos" pitchFamily="34" charset="0"/>
                <a:ea typeface="Aptos" pitchFamily="34" charset="-122"/>
                <a:cs typeface="Aptos" pitchFamily="34" charset="-120"/>
              </a:rPr>
              <a:t>Multi-state rule-pack architecture</a:t>
            </a:r>
            <a:endParaRPr lang="en-US" sz="1300" dirty="0"/>
          </a:p>
        </p:txBody>
      </p:sp>
      <p:sp>
        <p:nvSpPr>
          <p:cNvPr id="20" name="Text 18"/>
          <p:cNvSpPr/>
          <p:nvPr/>
        </p:nvSpPr>
        <p:spPr>
          <a:xfrm>
            <a:off x="7388352" y="5074920"/>
            <a:ext cx="2834640" cy="457200"/>
          </a:xfrm>
          <a:prstGeom prst="rect">
            <a:avLst/>
          </a:prstGeom>
          <a:noFill/>
          <a:ln/>
        </p:spPr>
        <p:txBody>
          <a:bodyPr wrap="square" lIns="0" tIns="0" rIns="0" bIns="0" rtlCol="0" anchor="ctr"/>
          <a:lstStyle/>
          <a:p>
            <a:pPr marL="0" indent="0">
              <a:buNone/>
            </a:pPr>
            <a:r>
              <a:rPr lang="en-US" sz="1200" b="1" dirty="0">
                <a:solidFill>
                  <a:srgbClr val="FFFFFF"/>
                </a:solidFill>
                <a:latin typeface="Aptos" pitchFamily="34" charset="0"/>
                <a:ea typeface="Aptos" pitchFamily="34" charset="-122"/>
                <a:cs typeface="Aptos" pitchFamily="34" charset="-120"/>
              </a:rPr>
              <a:t>contact@healthcompassma.com</a:t>
            </a:r>
            <a:endParaRPr lang="en-US" sz="1200" dirty="0"/>
          </a:p>
          <a:p>
            <a:pPr marL="0" indent="0">
              <a:buNone/>
            </a:pPr>
            <a:r>
              <a:rPr lang="en-US" sz="1200" b="1" dirty="0">
                <a:solidFill>
                  <a:srgbClr val="FFFFFF"/>
                </a:solidFill>
                <a:latin typeface="Aptos" pitchFamily="34" charset="0"/>
                <a:ea typeface="Aptos" pitchFamily="34" charset="-122"/>
                <a:cs typeface="Aptos" pitchFamily="34" charset="-120"/>
              </a:rPr>
              <a:t>healthcompassma.com</a:t>
            </a:r>
            <a:endParaRPr lang="en-US" sz="1200" dirty="0"/>
          </a:p>
        </p:txBody>
      </p:sp>
      <p:sp>
        <p:nvSpPr>
          <p:cNvPr id="21" name="Text 19"/>
          <p:cNvSpPr/>
          <p:nvPr/>
        </p:nvSpPr>
        <p:spPr>
          <a:xfrm>
            <a:off x="548640" y="6455664"/>
            <a:ext cx="4937760" cy="164592"/>
          </a:xfrm>
          <a:prstGeom prst="rect">
            <a:avLst/>
          </a:prstGeom>
          <a:noFill/>
          <a:ln/>
        </p:spPr>
        <p:txBody>
          <a:bodyPr wrap="square" lIns="0" tIns="0" rIns="0" bIns="0" rtlCol="0" anchor="ctr"/>
          <a:lstStyle/>
          <a:p>
            <a:pPr marL="0" indent="0">
              <a:buNone/>
            </a:pPr>
            <a:r>
              <a:rPr lang="en-US" sz="950" dirty="0">
                <a:solidFill>
                  <a:srgbClr val="C7D6E5"/>
                </a:solidFill>
                <a:latin typeface="Aptos" pitchFamily="34" charset="0"/>
                <a:ea typeface="Aptos" pitchFamily="34" charset="-122"/>
                <a:cs typeface="Aptos" pitchFamily="34" charset="-120"/>
              </a:rPr>
              <a:t>HealthCompass MA  |  Executive Summary  |  April 2026</a:t>
            </a:r>
            <a:endParaRPr lang="en-US" sz="950" dirty="0"/>
          </a:p>
        </p:txBody>
      </p:sp>
      <p:sp>
        <p:nvSpPr>
          <p:cNvPr id="22" name="Text 20"/>
          <p:cNvSpPr/>
          <p:nvPr/>
        </p:nvSpPr>
        <p:spPr>
          <a:xfrm>
            <a:off x="10469880" y="6455664"/>
            <a:ext cx="1097280" cy="164592"/>
          </a:xfrm>
          <a:prstGeom prst="rect">
            <a:avLst/>
          </a:prstGeom>
          <a:noFill/>
          <a:ln/>
        </p:spPr>
        <p:txBody>
          <a:bodyPr wrap="square" lIns="0" tIns="0" rIns="0" bIns="0" rtlCol="0" anchor="ctr"/>
          <a:lstStyle/>
          <a:p>
            <a:pPr marL="0" indent="0" algn="r">
              <a:buNone/>
            </a:pPr>
            <a:r>
              <a:rPr lang="en-US" sz="950" dirty="0">
                <a:solidFill>
                  <a:srgbClr val="C7D6E5"/>
                </a:solidFill>
                <a:latin typeface="Aptos" pitchFamily="34" charset="0"/>
                <a:ea typeface="Aptos" pitchFamily="34" charset="-122"/>
                <a:cs typeface="Aptos" pitchFamily="34" charset="-120"/>
              </a:rPr>
              <a:t>Confidential</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1809</Words>
  <Application>Microsoft Macintosh PowerPoint</Application>
  <PresentationFormat>Widescreen</PresentationFormat>
  <Paragraphs>207</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HealthCompass MA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HealthCompass MA Investor Deck</dc:title>
  <dc:subject>Executive summary investor deck refresh</dc:subject>
  <dc:creator>Codex</dc:creator>
  <cp:lastModifiedBy>Bin Lee</cp:lastModifiedBy>
  <cp:revision>2</cp:revision>
  <dcterms:created xsi:type="dcterms:W3CDTF">2026-04-02T14:18:53Z</dcterms:created>
  <dcterms:modified xsi:type="dcterms:W3CDTF">2026-04-02T14:31:11Z</dcterms:modified>
</cp:coreProperties>
</file>