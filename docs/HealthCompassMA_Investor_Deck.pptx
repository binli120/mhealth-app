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0D7A7A">
              <a:alpha val="18000"/>
            </a:srgbClr>
          </a:solidFill>
          <a:ln w="12700">
            <a:solidFill>
              <a:srgbClr val="0D7A7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560320"/>
            <a:ext cx="2286000" cy="2286000"/>
          </a:xfrm>
          <a:prstGeom prst="ellipse">
            <a:avLst/>
          </a:prstGeom>
          <a:solidFill>
            <a:srgbClr val="00BFA6">
              <a:alpha val="15000"/>
            </a:srgbClr>
          </a:solidFill>
          <a:ln w="12700">
            <a:solidFill>
              <a:srgbClr val="00BFA6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62763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HealthCompass MA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685800" y="2423160"/>
            <a:ext cx="50292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514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AI-Powered Benefits Navigation for Massachusetts Residents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5800" y="3108960"/>
            <a:ext cx="1600200" cy="868680"/>
          </a:xfrm>
          <a:prstGeom prst="rect">
            <a:avLst/>
          </a:prstGeom>
          <a:solidFill>
            <a:srgbClr val="0D7A7A">
              <a:alpha val="28000"/>
            </a:srgbClr>
          </a:solidFill>
          <a:ln w="9525">
            <a:solidFill>
              <a:srgbClr val="00BFA6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145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3529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Benefit Programs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441448" y="3108960"/>
            <a:ext cx="1600200" cy="868680"/>
          </a:xfrm>
          <a:prstGeom prst="rect">
            <a:avLst/>
          </a:prstGeom>
          <a:solidFill>
            <a:srgbClr val="0D7A7A">
              <a:alpha val="28000"/>
            </a:srgbClr>
          </a:solidFill>
          <a:ln w="9525">
            <a:solidFill>
              <a:srgbClr val="00BFA6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41448" y="3145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1.5M+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441448" y="3529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MA Residents Served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197096" y="3108960"/>
            <a:ext cx="1600200" cy="868680"/>
          </a:xfrm>
          <a:prstGeom prst="rect">
            <a:avLst/>
          </a:prstGeom>
          <a:solidFill>
            <a:srgbClr val="0D7A7A">
              <a:alpha val="28000"/>
            </a:srgbClr>
          </a:solidFill>
          <a:ln w="9525">
            <a:solidFill>
              <a:srgbClr val="00BFA6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97096" y="3145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$2B+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197096" y="3529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Benefits Unclaimed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" y="4187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6B8"/>
                </a:solidFill>
              </a:rPr>
              <a:t>Investor Briefing  ·  March 2026  ·  Confidential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7A7A">
              <a:alpha val="4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28032"/>
            <a:ext cx="8229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Transforming access to healthcare benefits through intelligent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 of MA Residents Leave Benefits Unclaimed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263347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98448"/>
            <a:ext cx="64008" cy="20574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$2B+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12064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In benefits unclaimed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annually in Massachusetts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82112" y="1298448"/>
            <a:ext cx="263347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1298448"/>
            <a:ext cx="64008" cy="2057400"/>
          </a:xfrm>
          <a:prstGeom prst="rect">
            <a:avLst/>
          </a:prstGeom>
          <a:solidFill>
            <a:srgbClr val="E0982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63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46704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9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1.5M+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3346704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Residents eligible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multiple programs, not enrolled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16752" y="1298448"/>
            <a:ext cx="263347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16752" y="1298448"/>
            <a:ext cx="64008" cy="2057400"/>
          </a:xfrm>
          <a:prstGeom prst="rect">
            <a:avLst/>
          </a:prstGeom>
          <a:solidFill>
            <a:srgbClr val="0D7A7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81344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6181344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Separate programs with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no unified application path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47472" y="3493008"/>
            <a:ext cx="8449056" cy="36576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23" name="Text 18"/>
          <p:cNvSpPr/>
          <p:nvPr/>
        </p:nvSpPr>
        <p:spPr>
          <a:xfrm>
            <a:off x="347472" y="3593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</a:rPr>
              <a:t>Root Causes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11480" y="3895344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D3F"/>
                </a:solidFill>
              </a:rPr>
              <a:t>Complex eligibility rules across 9+ programs overwhelm applicants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D3F"/>
                </a:solidFill>
              </a:rPr>
              <a:t>Paper-heavy processes with 40+ page applications and extensive documentation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D3F"/>
                </a:solidFill>
              </a:rPr>
              <a:t>Denials go unchallenged — 68% of appeal-eligible residents never file an appeal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D3F"/>
                </a:solidFill>
              </a:rPr>
              <a:t>No single tool to identify all benefits a household qualifies for simultaneously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7A7A">
              <a:alpha val="1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92608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OUR SOLUTION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All Benefits.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HealthCompass MA is an AI-powered benefits navigation platform that helps Massachusetts residents discover, apply for, and retain every benefit they qualify for — in one unified experience.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937760" cy="713232"/>
          </a:xfrm>
          <a:prstGeom prst="rect">
            <a:avLst/>
          </a:prstGeom>
          <a:solidFill>
            <a:srgbClr val="0D7A7A">
              <a:alpha val="15000"/>
            </a:srgbClr>
          </a:solidFill>
          <a:ln w="6350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64008" cy="713232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45059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237744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AI-Native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8992" y="26243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Local LLM + RAG powers a conversational benefits guide, not a static form.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127248"/>
            <a:ext cx="4937760" cy="713232"/>
          </a:xfrm>
          <a:prstGeom prst="rect">
            <a:avLst/>
          </a:prstGeom>
          <a:solidFill>
            <a:srgbClr val="0D7A7A">
              <a:alpha val="15000"/>
            </a:srgbClr>
          </a:solidFill>
          <a:ln w="6350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127248"/>
            <a:ext cx="64008" cy="713232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29184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78992" y="32186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End-to-End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78992" y="346557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From pre-screening to application, tracking, renewal, and appeal — one platform.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57200" y="3968496"/>
            <a:ext cx="4937760" cy="713232"/>
          </a:xfrm>
          <a:prstGeom prst="rect">
            <a:avLst/>
          </a:prstGeom>
          <a:solidFill>
            <a:srgbClr val="0D7A7A">
              <a:alpha val="15000"/>
            </a:srgbClr>
          </a:solidFill>
          <a:ln w="6350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3968496"/>
            <a:ext cx="64008" cy="713232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3308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78992" y="40599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Privacy-First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78992" y="43068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On-device AI keeps sensitive health data local. No third-party LLM API calls.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806440" y="292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6"/>
                </a:solidFill>
              </a:rPr>
              <a:t>What We Do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806440" y="1581912"/>
            <a:ext cx="2926080" cy="27432"/>
          </a:xfrm>
          <a:prstGeom prst="rect">
            <a:avLst/>
          </a:prstGeom>
          <a:solidFill>
            <a:srgbClr val="0D7A7A">
              <a:alpha val="5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5806440" y="786384"/>
            <a:ext cx="530352" cy="530352"/>
          </a:xfrm>
          <a:prstGeom prst="ellipse">
            <a:avLst/>
          </a:prstGeom>
          <a:solidFill>
            <a:srgbClr val="00BFA6">
              <a:alpha val="70000"/>
            </a:srgbClr>
          </a:solidFill>
          <a:ln w="12700">
            <a:solidFill>
              <a:srgbClr val="00BFA6">
                <a:alpha val="7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85953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28232" y="786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Discover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28232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AI identifies all programs a family qualifies for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806440" y="2633472"/>
            <a:ext cx="2926080" cy="27432"/>
          </a:xfrm>
          <a:prstGeom prst="rect">
            <a:avLst/>
          </a:prstGeom>
          <a:solidFill>
            <a:srgbClr val="0D7A7A">
              <a:alpha val="5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5806440" y="1837944"/>
            <a:ext cx="530352" cy="530352"/>
          </a:xfrm>
          <a:prstGeom prst="ellipse">
            <a:avLst/>
          </a:prstGeom>
          <a:solidFill>
            <a:srgbClr val="00BFA6">
              <a:alpha val="70000"/>
            </a:srgbClr>
          </a:solidFill>
          <a:ln w="12700">
            <a:solidFill>
              <a:srgbClr val="00BFA6">
                <a:alpha val="70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1911096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28232" y="1837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Apply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428232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Guided digital applications across all 9 programs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806440" y="3685032"/>
            <a:ext cx="2926080" cy="27432"/>
          </a:xfrm>
          <a:prstGeom prst="rect">
            <a:avLst/>
          </a:prstGeom>
          <a:solidFill>
            <a:srgbClr val="0D7A7A">
              <a:alpha val="5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5806440" y="2889504"/>
            <a:ext cx="530352" cy="530352"/>
          </a:xfrm>
          <a:prstGeom prst="ellipse">
            <a:avLst/>
          </a:prstGeom>
          <a:solidFill>
            <a:srgbClr val="00BFA6">
              <a:alpha val="70000"/>
            </a:srgbClr>
          </a:solidFill>
          <a:ln w="12700">
            <a:solidFill>
              <a:srgbClr val="00BFA6">
                <a:alpha val="7000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2962656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428232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Navigate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428232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LLM-powered assistant, 24/7 in plain language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806440" y="3941064"/>
            <a:ext cx="530352" cy="530352"/>
          </a:xfrm>
          <a:prstGeom prst="ellipse">
            <a:avLst/>
          </a:prstGeom>
          <a:solidFill>
            <a:srgbClr val="00BFA6">
              <a:alpha val="70000"/>
            </a:srgbClr>
          </a:solidFill>
          <a:ln w="12700">
            <a:solidFill>
              <a:srgbClr val="00BFA6">
                <a:alpha val="7000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4014216"/>
            <a:ext cx="384048" cy="38404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428232" y="3941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Appeal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428232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AI-generated letters when benefits are wrongly denied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HOW IT WORKS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Confusion to Coverage in 4 Simple Steps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97280" y="2816352"/>
            <a:ext cx="6949440" cy="36576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" y="1298448"/>
            <a:ext cx="1993392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481328"/>
            <a:ext cx="658368" cy="658368"/>
          </a:xfrm>
          <a:prstGeom prst="ellipse">
            <a:avLst/>
          </a:prstGeom>
          <a:solidFill>
            <a:srgbClr val="0D7A7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475488" cy="475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02336" y="2898648"/>
            <a:ext cx="1773936" cy="4572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13" name="Text 10"/>
          <p:cNvSpPr/>
          <p:nvPr/>
        </p:nvSpPr>
        <p:spPr>
          <a:xfrm>
            <a:off x="402336" y="29992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B"/>
                </a:solidFill>
              </a:rPr>
              <a:t>Pre-Screen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8056" y="3401568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Answer 8 questions. Our rule engine instantly identifies every program your household may qualify for.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34056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459736" y="1298448"/>
            <a:ext cx="1993392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27248" y="14813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4"/>
          <p:cNvSpPr/>
          <p:nvPr/>
        </p:nvSpPr>
        <p:spPr>
          <a:xfrm>
            <a:off x="3127248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286000"/>
            <a:ext cx="475488" cy="47548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569464" y="2898648"/>
            <a:ext cx="1773936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6"/>
          <p:cNvSpPr/>
          <p:nvPr/>
        </p:nvSpPr>
        <p:spPr>
          <a:xfrm>
            <a:off x="2569464" y="29992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B"/>
                </a:solidFill>
              </a:rPr>
              <a:t>Apply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615184" y="3401568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Complete guided digital applications. Upload documents once. Submit across multiple programs seamlessly.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734056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626864" y="1298448"/>
            <a:ext cx="1993392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294376" y="1481328"/>
            <a:ext cx="658368" cy="658368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6" name="Text 20"/>
          <p:cNvSpPr/>
          <p:nvPr/>
        </p:nvSpPr>
        <p:spPr>
          <a:xfrm>
            <a:off x="5294376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286000"/>
            <a:ext cx="475488" cy="47548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736592" y="2898648"/>
            <a:ext cx="1773936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9" name="Text 22"/>
          <p:cNvSpPr/>
          <p:nvPr/>
        </p:nvSpPr>
        <p:spPr>
          <a:xfrm>
            <a:off x="4736592" y="29992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B"/>
                </a:solidFill>
              </a:rPr>
              <a:t>AI Assist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782312" y="3401568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Chat with our AI assistant powered by local LLM + RAG knowledge base. Get answers in plain language, 24/7.</a:t>
            </a:r>
            <a:endParaRPr lang="en-US" sz="9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2734056"/>
            <a:ext cx="201168" cy="20116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793992" y="1298448"/>
            <a:ext cx="1993392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461504" y="1481328"/>
            <a:ext cx="658368" cy="658368"/>
          </a:xfrm>
          <a:prstGeom prst="ellipse">
            <a:avLst/>
          </a:prstGeom>
          <a:solidFill>
            <a:srgbClr val="E09820"/>
          </a:solidFill>
          <a:ln/>
        </p:spPr>
      </p:sp>
      <p:sp>
        <p:nvSpPr>
          <p:cNvPr id="34" name="Text 26"/>
          <p:cNvSpPr/>
          <p:nvPr/>
        </p:nvSpPr>
        <p:spPr>
          <a:xfrm>
            <a:off x="7461504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2286000"/>
            <a:ext cx="475488" cy="47548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903720" y="2898648"/>
            <a:ext cx="1773936" cy="45720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37" name="Text 28"/>
          <p:cNvSpPr/>
          <p:nvPr/>
        </p:nvSpPr>
        <p:spPr>
          <a:xfrm>
            <a:off x="6903720" y="29992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B"/>
                </a:solidFill>
              </a:rPr>
              <a:t>Track &amp; Renew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949440" y="3401568"/>
            <a:ext cx="16824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</a:rPr>
              <a:t>Monitor status, receive renewal reminders, and auto-generate appeal letters if a benefit is wrongly denied.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FEATURES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Comprehensive Benefits Platform — Built &amp; Deployed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92608" y="1207008"/>
            <a:ext cx="26517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207008"/>
            <a:ext cx="64008" cy="1719072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35608"/>
            <a:ext cx="475488" cy="475488"/>
          </a:xfrm>
          <a:prstGeom prst="ellipse">
            <a:avLst/>
          </a:prstGeom>
          <a:solidFill>
            <a:srgbClr val="0D7A7A">
              <a:alpha val="12000"/>
            </a:srgbClr>
          </a:solidFill>
          <a:ln w="12700">
            <a:solidFill>
              <a:srgbClr val="0D7A7A">
                <a:alpha val="3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2416" y="14538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6B"/>
                </a:solidFill>
              </a:rPr>
              <a:t>Eligibility Pre-Screener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993392"/>
            <a:ext cx="2340864" cy="27432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075688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Rule-based engine covers 9 MA programs. Instant qualification estimate in under 2 minutes.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2968" y="1207008"/>
            <a:ext cx="26517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1207008"/>
            <a:ext cx="64008" cy="17190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7560" y="1435608"/>
            <a:ext cx="475488" cy="475488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81328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22776" y="14538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6B"/>
                </a:solidFill>
              </a:rPr>
              <a:t>Benefit Stack Optimizer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337560" y="1993392"/>
            <a:ext cx="2340864" cy="27432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20" name="Text 16"/>
          <p:cNvSpPr/>
          <p:nvPr/>
        </p:nvSpPr>
        <p:spPr>
          <a:xfrm>
            <a:off x="3337560" y="2075688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Identifies ALL programs a family qualifies for simultaneously with FPL-based income analysis.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53328" y="1207008"/>
            <a:ext cx="26517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53328" y="1207008"/>
            <a:ext cx="64008" cy="1719072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23" name="Shape 19"/>
          <p:cNvSpPr/>
          <p:nvPr/>
        </p:nvSpPr>
        <p:spPr>
          <a:xfrm>
            <a:off x="6217920" y="1435608"/>
            <a:ext cx="475488" cy="475488"/>
          </a:xfrm>
          <a:prstGeom prst="ellipse">
            <a:avLst/>
          </a:prstGeom>
          <a:solidFill>
            <a:srgbClr val="0B3D6B">
              <a:alpha val="12000"/>
            </a:srgbClr>
          </a:solidFill>
          <a:ln w="12700">
            <a:solidFill>
              <a:srgbClr val="0B3D6B">
                <a:alpha val="3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8132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03136" y="14538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6B"/>
                </a:solidFill>
              </a:rPr>
              <a:t>AI Appeal Assistant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17920" y="1993392"/>
            <a:ext cx="2340864" cy="27432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27" name="Text 22"/>
          <p:cNvSpPr/>
          <p:nvPr/>
        </p:nvSpPr>
        <p:spPr>
          <a:xfrm>
            <a:off x="6217920" y="2075688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LLM generates personalized appeal letters for denied claims, citing applicable MA regulations.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292608" y="3099816"/>
            <a:ext cx="26517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92608" y="3099816"/>
            <a:ext cx="64008" cy="171907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0" name="Shape 25"/>
          <p:cNvSpPr/>
          <p:nvPr/>
        </p:nvSpPr>
        <p:spPr>
          <a:xfrm>
            <a:off x="457200" y="3328416"/>
            <a:ext cx="475488" cy="475488"/>
          </a:xfrm>
          <a:prstGeom prst="ellipse">
            <a:avLst/>
          </a:prstGeom>
          <a:solidFill>
            <a:srgbClr val="00BFA6">
              <a:alpha val="12000"/>
            </a:srgbClr>
          </a:solidFill>
          <a:ln w="12700">
            <a:solidFill>
              <a:srgbClr val="00BFA6">
                <a:alpha val="30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74136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42416" y="33467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6B"/>
                </a:solidFill>
              </a:rPr>
              <a:t>Conversational AI Chat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57200" y="3886200"/>
            <a:ext cx="2340864" cy="27432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34" name="Text 28"/>
          <p:cNvSpPr/>
          <p:nvPr/>
        </p:nvSpPr>
        <p:spPr>
          <a:xfrm>
            <a:off x="457200" y="3968496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Ollama (llama3.2) + RAG knowledge retrieval answers benefit questions 24/7 in plain language.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172968" y="3099816"/>
            <a:ext cx="26517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172968" y="3099816"/>
            <a:ext cx="64008" cy="1719072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37" name="Shape 31"/>
          <p:cNvSpPr/>
          <p:nvPr/>
        </p:nvSpPr>
        <p:spPr>
          <a:xfrm>
            <a:off x="3337560" y="3328416"/>
            <a:ext cx="475488" cy="475488"/>
          </a:xfrm>
          <a:prstGeom prst="ellipse">
            <a:avLst/>
          </a:prstGeom>
          <a:solidFill>
            <a:srgbClr val="E09820">
              <a:alpha val="12000"/>
            </a:srgbClr>
          </a:solidFill>
          <a:ln w="12700">
            <a:solidFill>
              <a:srgbClr val="E09820">
                <a:alpha val="3000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74136"/>
            <a:ext cx="384048" cy="38404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922776" y="33467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6B"/>
                </a:solidFill>
              </a:rPr>
              <a:t>Document Management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337560" y="3886200"/>
            <a:ext cx="2340864" cy="27432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41" name="Text 34"/>
          <p:cNvSpPr/>
          <p:nvPr/>
        </p:nvSpPr>
        <p:spPr>
          <a:xfrm>
            <a:off x="3337560" y="3968496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Secure upload, storage, and retrieval of benefit documents via Supabase encrypted storage.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053328" y="3099816"/>
            <a:ext cx="26517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053328" y="3099816"/>
            <a:ext cx="64008" cy="1719072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44" name="Shape 37"/>
          <p:cNvSpPr/>
          <p:nvPr/>
        </p:nvSpPr>
        <p:spPr>
          <a:xfrm>
            <a:off x="6217920" y="3328416"/>
            <a:ext cx="475488" cy="475488"/>
          </a:xfrm>
          <a:prstGeom prst="ellipse">
            <a:avLst/>
          </a:prstGeom>
          <a:solidFill>
            <a:srgbClr val="0D7A7A">
              <a:alpha val="12000"/>
            </a:srgbClr>
          </a:solidFill>
          <a:ln w="12700">
            <a:solidFill>
              <a:srgbClr val="0D7A7A">
                <a:alpha val="30000"/>
              </a:srgbClr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74136"/>
            <a:ext cx="384048" cy="38404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803136" y="33467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6B"/>
                </a:solidFill>
              </a:rPr>
              <a:t>Knowledge Center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217920" y="3886200"/>
            <a:ext cx="2340864" cy="27432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48" name="Text 40"/>
          <p:cNvSpPr/>
          <p:nvPr/>
        </p:nvSpPr>
        <p:spPr>
          <a:xfrm>
            <a:off x="6217920" y="3968496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Curated articles and videos explaining MA benefits programs, eligibility, rights, and appeals.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MARKET OPPORTUNITY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Large, Underserved Market — Starting with Massachusetts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4114800" cy="3703320"/>
          </a:xfrm>
          <a:prstGeom prst="ellipse">
            <a:avLst/>
          </a:prstGeom>
          <a:solidFill>
            <a:srgbClr val="0B3D6B">
              <a:alpha val="10000"/>
            </a:srgbClr>
          </a:solidFill>
          <a:ln w="19050">
            <a:solidFill>
              <a:srgbClr val="0B3D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554480"/>
            <a:ext cx="3017520" cy="2944368"/>
          </a:xfrm>
          <a:prstGeom prst="ellipse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993392"/>
            <a:ext cx="1691640" cy="2057400"/>
          </a:xfrm>
          <a:prstGeom prst="ellipse">
            <a:avLst/>
          </a:prstGeom>
          <a:solidFill>
            <a:srgbClr val="00BFA6">
              <a:alpha val="45000"/>
            </a:srgbClr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34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3D6B"/>
                </a:solidFill>
              </a:rPr>
              <a:t>TAM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609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SAM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7A68"/>
                </a:solidFill>
              </a:rPr>
              <a:t>SOM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170432"/>
            <a:ext cx="42519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170432"/>
            <a:ext cx="64008" cy="1115568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</a:rPr>
              <a:t>TAM — US Benefits Navigation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18304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18304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</a:rPr>
              <a:t>41M Americans enrolled in federal/state benefit programs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53712" y="2450592"/>
            <a:ext cx="42519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53712" y="2450592"/>
            <a:ext cx="64008" cy="11155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</a:rPr>
              <a:t>SAM — MA Benefits Eligible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27980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$320M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18304" y="3236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</a:rPr>
              <a:t>1.5M MA residents needing navigation assistance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53712" y="3730752"/>
            <a:ext cx="42519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3730752"/>
            <a:ext cx="64008" cy="1115568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</a:rPr>
              <a:t>SOM — Year 1–3 Target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18304" y="40782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18304" y="45171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</a:rPr>
              <a:t>75,000 active users at ~$320/year ARPU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A8A"/>
                </a:solidFill>
              </a:rPr>
              <a:t>Sources: CMS Medicaid Enrollment Report 2025; MA DTA Annual Report 2025; MA EOHHS Benefits Data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TECHNOLOGY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Scalable, AI-Native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978408"/>
            <a:ext cx="8229600" cy="36576"/>
          </a:xfrm>
          <a:prstGeom prst="rect">
            <a:avLst/>
          </a:prstGeom>
          <a:solidFill>
            <a:srgbClr val="0D7A7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115568"/>
            <a:ext cx="2697480" cy="3547872"/>
          </a:xfrm>
          <a:prstGeom prst="rect">
            <a:avLst/>
          </a:prstGeom>
          <a:solidFill>
            <a:srgbClr val="0D7A7A">
              <a:alpha val="12000"/>
            </a:srgbClr>
          </a:solidFill>
          <a:ln w="9525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2697480" cy="420624"/>
          </a:xfrm>
          <a:prstGeom prst="rect">
            <a:avLst/>
          </a:prstGeom>
          <a:solidFill>
            <a:srgbClr val="00BFA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115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&amp; UX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591056"/>
            <a:ext cx="245059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Next.js 16 + App Router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React 19 + TypeScript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Tailwind CSS 4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Radix UI components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Redux Toolkit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5264" y="1115568"/>
            <a:ext cx="2697480" cy="3547872"/>
          </a:xfrm>
          <a:prstGeom prst="rect">
            <a:avLst/>
          </a:prstGeom>
          <a:solidFill>
            <a:srgbClr val="0D7A7A">
              <a:alpha val="12000"/>
            </a:srgbClr>
          </a:solidFill>
          <a:ln w="9525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5264" y="1115568"/>
            <a:ext cx="2697480" cy="420624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92424" y="1115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&amp;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1591056"/>
            <a:ext cx="245059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Supabase PostgreSQL + RLS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Row-level security policies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Supabase Storage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pg Pool — raw SQL queries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RESTful API routes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115568"/>
            <a:ext cx="2697480" cy="3547872"/>
          </a:xfrm>
          <a:prstGeom prst="rect">
            <a:avLst/>
          </a:prstGeom>
          <a:solidFill>
            <a:srgbClr val="0D7A7A">
              <a:alpha val="12000"/>
            </a:srgbClr>
          </a:solidFill>
          <a:ln w="9525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115568"/>
            <a:ext cx="2697480" cy="420624"/>
          </a:xfrm>
          <a:prstGeom prst="rect">
            <a:avLst/>
          </a:prstGeom>
          <a:solidFill>
            <a:srgbClr val="E09820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115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591056"/>
            <a:ext cx="245059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Ollama llama3.2 (local LLM)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RAG knowledge retrieval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FPL eligibility engine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9-program benefit orchestrator</a:t>
            </a:r>
            <a:endParaRPr lang="en-US" sz="105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LLM appeal letter generation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7A7A">
              <a:alpha val="35000"/>
            </a:srgbClr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828032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4773168"/>
            <a:ext cx="80467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D8EA"/>
                </a:solidFill>
              </a:rPr>
              <a:t>HIPAA-aware design  ·  Row-level security on all patient data  ·  Authentication via Supabase JWT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TRACTION &amp; ROADMAP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Production-Ready — Scaling in 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7472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7A"/>
                </a:solidFill>
              </a:rPr>
              <a:t>Already Built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58191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1563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D3F"/>
                </a:solidFill>
              </a:rPr>
              <a:t>Full MassHealth application flow + document upload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8424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D3F"/>
                </a:solidFill>
              </a:rPr>
              <a:t>9-program benefit orchestration engine (FPL-based)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38658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D3F"/>
                </a:solidFill>
              </a:rPr>
              <a:t>AI-powered Appeal Assistant (Ollama LLM)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78892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" y="2770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D3F"/>
                </a:solidFill>
              </a:rPr>
              <a:t>Conversational chat with RAG knowledge base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19125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1792" y="3172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D3F"/>
                </a:solidFill>
              </a:rPr>
              <a:t>Eligibility pre-screener — instant, rule-based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593592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1792" y="35753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D3F"/>
                </a:solidFill>
              </a:rPr>
              <a:t>Knowledge Center (articles &amp; educational videos)</a:t>
            </a:r>
            <a:endParaRPr lang="en-US" sz="9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99592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21792" y="3977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D3F"/>
                </a:solidFill>
              </a:rPr>
              <a:t>User profiles, authentication, and reviewer portal</a:t>
            </a:r>
            <a:endParaRPr lang="en-US" sz="950" dirty="0"/>
          </a:p>
        </p:txBody>
      </p:sp>
      <p:sp>
        <p:nvSpPr>
          <p:cNvPr id="22" name="Shape 13"/>
          <p:cNvSpPr/>
          <p:nvPr/>
        </p:nvSpPr>
        <p:spPr>
          <a:xfrm>
            <a:off x="4645152" y="1115568"/>
            <a:ext cx="36576" cy="3840480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23" name="Text 14"/>
          <p:cNvSpPr/>
          <p:nvPr/>
        </p:nvSpPr>
        <p:spPr>
          <a:xfrm>
            <a:off x="4828032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6B"/>
                </a:solidFill>
              </a:rPr>
              <a:t>Next 12 Months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4828032" y="1600200"/>
            <a:ext cx="868680" cy="237744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25" name="Text 16"/>
          <p:cNvSpPr/>
          <p:nvPr/>
        </p:nvSpPr>
        <p:spPr>
          <a:xfrm>
            <a:off x="4828032" y="1600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Q2 2026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5788152" y="1609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3F"/>
                </a:solidFill>
              </a:rPr>
              <a:t>Benefit renewal workflow  ·  Notification system (email + in-app)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4828032" y="2377440"/>
            <a:ext cx="868680" cy="2377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19"/>
          <p:cNvSpPr/>
          <p:nvPr/>
        </p:nvSpPr>
        <p:spPr>
          <a:xfrm>
            <a:off x="4828032" y="23774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Q3 2026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5788152" y="2386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3F"/>
                </a:solidFill>
              </a:rPr>
              <a:t>AI application assistant (chat-guided forms)  ·  Smart document auto-extraction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4828032" y="3154680"/>
            <a:ext cx="868680" cy="23774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1" name="Text 22"/>
          <p:cNvSpPr/>
          <p:nvPr/>
        </p:nvSpPr>
        <p:spPr>
          <a:xfrm>
            <a:off x="4828032" y="31546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Q4 2026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5788152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3F"/>
                </a:solidFill>
              </a:rPr>
              <a:t>Proactive eligibility monitor  ·  Reviewer portal &amp; case management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4828032" y="3931920"/>
            <a:ext cx="868680" cy="237744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34" name="Text 25"/>
          <p:cNvSpPr/>
          <p:nvPr/>
        </p:nvSpPr>
        <p:spPr>
          <a:xfrm>
            <a:off x="4828032" y="39319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Q1 2027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5788152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D3F"/>
                </a:solidFill>
              </a:rPr>
              <a:t>Mobile app (React Native)  ·  Multi-county + partner expansion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BUSINESS MODEL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Revenue Streams, Mission-Aligned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92608" y="1207008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207008"/>
            <a:ext cx="64008" cy="173736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71600"/>
            <a:ext cx="475488" cy="475488"/>
          </a:xfrm>
          <a:prstGeom prst="ellipse">
            <a:avLst/>
          </a:prstGeom>
          <a:solidFill>
            <a:srgbClr val="0B3D6B">
              <a:alpha val="12000"/>
            </a:srgbClr>
          </a:solidFill>
          <a:ln w="12700">
            <a:solidFill>
              <a:srgbClr val="0B3D6B">
                <a:alpha val="3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84048" cy="384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0" y="1389888"/>
            <a:ext cx="658368" cy="210312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138988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42416" y="1362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</a:rPr>
              <a:t>Government Contracts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42416" y="16367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$150K–500K/yr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04825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SaaS contracts with MA state agencies (MassHealth, DTA) to power official benefits portals. Highest value, 12–18 month sales cycle.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27448" y="1207008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27448" y="1207008"/>
            <a:ext cx="64008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371600"/>
            <a:ext cx="475488" cy="475488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84048" cy="38404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092440" y="1389888"/>
            <a:ext cx="658368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8092440" y="138988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Secondary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477256" y="1362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</a:rPr>
              <a:t>Health System Licensing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477256" y="16367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$25K–75K/yr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92040" y="204825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License platform to hospitals, FQHCs, and community health centers to support mandatory SDOH screening under new CMS 2026 rules.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92608" y="310896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92608" y="3108960"/>
            <a:ext cx="64008" cy="173736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27" name="Shape 23"/>
          <p:cNvSpPr/>
          <p:nvPr/>
        </p:nvSpPr>
        <p:spPr>
          <a:xfrm>
            <a:off x="457200" y="3273552"/>
            <a:ext cx="475488" cy="475488"/>
          </a:xfrm>
          <a:prstGeom prst="ellipse">
            <a:avLst/>
          </a:prstGeom>
          <a:solidFill>
            <a:srgbClr val="0D7A7A">
              <a:alpha val="12000"/>
            </a:srgbClr>
          </a:solidFill>
          <a:ln w="12700">
            <a:solidFill>
              <a:srgbClr val="0D7A7A">
                <a:alpha val="3000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19272"/>
            <a:ext cx="384048" cy="38404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657600" y="3291840"/>
            <a:ext cx="658368" cy="210312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30" name="Text 25"/>
          <p:cNvSpPr/>
          <p:nvPr/>
        </p:nvSpPr>
        <p:spPr>
          <a:xfrm>
            <a:off x="3657600" y="329184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Growth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1042416" y="3264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</a:rPr>
              <a:t>Consumer Freemium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042416" y="35387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free / $9.99/mo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57200" y="39502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Free basic eligibility check. Premium tier: document storage, renewal alerts, unlimited AI chat, and multi-program tracking.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727448" y="310896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727448" y="3108960"/>
            <a:ext cx="64008" cy="1737360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36" name="Shape 31"/>
          <p:cNvSpPr/>
          <p:nvPr/>
        </p:nvSpPr>
        <p:spPr>
          <a:xfrm>
            <a:off x="4892040" y="3273552"/>
            <a:ext cx="475488" cy="475488"/>
          </a:xfrm>
          <a:prstGeom prst="ellipse">
            <a:avLst/>
          </a:prstGeom>
          <a:solidFill>
            <a:srgbClr val="E09820">
              <a:alpha val="12000"/>
            </a:srgbClr>
          </a:solidFill>
          <a:ln w="12700">
            <a:solidFill>
              <a:srgbClr val="E09820">
                <a:alpha val="3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19272"/>
            <a:ext cx="384048" cy="384048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8092440" y="3291840"/>
            <a:ext cx="658368" cy="210312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39" name="Text 33"/>
          <p:cNvSpPr/>
          <p:nvPr/>
        </p:nvSpPr>
        <p:spPr>
          <a:xfrm>
            <a:off x="8092440" y="329184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Future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5477256" y="3264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</a:rPr>
              <a:t>Data &amp; Analytics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477256" y="35387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 — pilot phase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4892040" y="39502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Anonymized, aggregated benefits utilization analytics for policy researchers, nonprofits, and health equity organizations.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WHY NOW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Timing Has Never Been Better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" y="1170432"/>
            <a:ext cx="4160520" cy="1627632"/>
          </a:xfrm>
          <a:prstGeom prst="rect">
            <a:avLst/>
          </a:prstGeom>
          <a:solidFill>
            <a:srgbClr val="0D7A7A">
              <a:alpha val="12000"/>
            </a:srgbClr>
          </a:solidFill>
          <a:ln w="9525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70432"/>
            <a:ext cx="64008" cy="16276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1353312"/>
            <a:ext cx="457200" cy="457200"/>
          </a:xfrm>
          <a:prstGeom prst="ellipse">
            <a:avLst/>
          </a:prstGeom>
          <a:solidFill>
            <a:srgbClr val="C0392B">
              <a:alpha val="75000"/>
            </a:srgbClr>
          </a:solidFill>
          <a:ln w="12700">
            <a:solidFill>
              <a:srgbClr val="C0392B">
                <a:alpha val="75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78992" y="132588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Medicaid Redeterminations Surge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" y="17007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Post-COVID unwinding removed 3M+ Americans from Medicaid. MA saw 150K+ disenrollments in 2024–25, creating urgent demand for re-enrollment support.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1170432"/>
            <a:ext cx="4160520" cy="1627632"/>
          </a:xfrm>
          <a:prstGeom prst="rect">
            <a:avLst/>
          </a:prstGeom>
          <a:solidFill>
            <a:srgbClr val="0D7A7A">
              <a:alpha val="12000"/>
            </a:srgbClr>
          </a:solidFill>
          <a:ln w="9525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170432"/>
            <a:ext cx="64008" cy="162763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7" name="Shape 14"/>
          <p:cNvSpPr/>
          <p:nvPr/>
        </p:nvSpPr>
        <p:spPr>
          <a:xfrm>
            <a:off x="4919472" y="1353312"/>
            <a:ext cx="457200" cy="457200"/>
          </a:xfrm>
          <a:prstGeom prst="ellipse">
            <a:avLst/>
          </a:prstGeom>
          <a:solidFill>
            <a:srgbClr val="00BFA6">
              <a:alpha val="75000"/>
            </a:srgbClr>
          </a:solidFill>
          <a:ln w="12700">
            <a:solidFill>
              <a:srgbClr val="00BFA6">
                <a:alpha val="75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389888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132588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 LLMs Enable New UX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19472" y="17007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Ollama and llama3.2 now run on commodity hardware, making conversational AI accessible without cloud LLM costs or HIPAA risk. Benefits navigation can finally be conversational.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47472" y="2999232"/>
            <a:ext cx="4160520" cy="1627632"/>
          </a:xfrm>
          <a:prstGeom prst="rect">
            <a:avLst/>
          </a:prstGeom>
          <a:solidFill>
            <a:srgbClr val="0D7A7A">
              <a:alpha val="12000"/>
            </a:srgbClr>
          </a:solidFill>
          <a:ln w="9525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7472" y="2999232"/>
            <a:ext cx="64008" cy="1627632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23" name="Shape 19"/>
          <p:cNvSpPr/>
          <p:nvPr/>
        </p:nvSpPr>
        <p:spPr>
          <a:xfrm>
            <a:off x="512064" y="3182112"/>
            <a:ext cx="457200" cy="457200"/>
          </a:xfrm>
          <a:prstGeom prst="ellipse">
            <a:avLst/>
          </a:prstGeom>
          <a:solidFill>
            <a:srgbClr val="E09820">
              <a:alpha val="75000"/>
            </a:srgbClr>
          </a:solidFill>
          <a:ln w="12700">
            <a:solidFill>
              <a:srgbClr val="E09820">
                <a:alpha val="75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1868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78992" y="315468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Federal &amp; State Funding Available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12064" y="35295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ARP and IRA directed $1B+ toward benefits access modernization. MA has active 2026 RFPs for digital benefits navigation technology.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754880" y="2999232"/>
            <a:ext cx="4160520" cy="1627632"/>
          </a:xfrm>
          <a:prstGeom prst="rect">
            <a:avLst/>
          </a:prstGeom>
          <a:solidFill>
            <a:srgbClr val="0D7A7A">
              <a:alpha val="12000"/>
            </a:srgbClr>
          </a:solidFill>
          <a:ln w="9525">
            <a:solidFill>
              <a:srgbClr val="0D7A7A">
                <a:alpha val="4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754880" y="2999232"/>
            <a:ext cx="64008" cy="16276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4"/>
          <p:cNvSpPr/>
          <p:nvPr/>
        </p:nvSpPr>
        <p:spPr>
          <a:xfrm>
            <a:off x="4919472" y="3182112"/>
            <a:ext cx="457200" cy="457200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>
                <a:alpha val="75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18688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0" y="315468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CMS SDOH Mandate — 2026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919472" y="352958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CMS mandating social determinants of health screening for all Medicaid and Medicare Advantage plans starting 2026. Health systems urgently need compliant tools.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A8A"/>
                </a:solidFill>
              </a:rPr>
              <a:t>Sources: CMS Medicaid Enrollment Data 2025; MA EOHHS 2025 Annual Report; CMS SDOH Final Rule 2024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solidFill>
            <a:srgbClr val="E09820"/>
          </a:solidFill>
          <a:ln w="12700">
            <a:solidFill>
              <a:srgbClr val="E09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THE ASK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 — $1.5M to Scale to Market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8449056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70432"/>
            <a:ext cx="8449056" cy="64008"/>
          </a:xfrm>
          <a:prstGeom prst="rect">
            <a:avLst/>
          </a:prstGeom>
          <a:solidFill>
            <a:srgbClr val="E098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618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3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$1,500,000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Seed Round  ·  Q2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298448"/>
            <a:ext cx="36576" cy="1078992"/>
          </a:xfrm>
          <a:prstGeom prst="rect">
            <a:avLst/>
          </a:prstGeom>
          <a:solidFill>
            <a:srgbClr val="D0E4E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353312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D3F"/>
                </a:solidFill>
              </a:rPr>
              <a:t>18-month runway to close a first government contract,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2D3F"/>
                </a:solidFill>
              </a:rPr>
              <a:t>reach 75,000 active users, and achieve Series A readiness.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" y="2670048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B"/>
                </a:solidFill>
              </a:rPr>
              <a:t>Use of Funds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999232"/>
            <a:ext cx="8449056" cy="347472"/>
          </a:xfrm>
          <a:prstGeom prst="rect">
            <a:avLst/>
          </a:prstGeom>
          <a:solidFill>
            <a:srgbClr val="F0F5F8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999232"/>
            <a:ext cx="3379622" cy="3474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08376"/>
            <a:ext cx="3196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Engineering &amp; AI Development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0" y="30083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40%  ·  $600K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3456432"/>
            <a:ext cx="8449056" cy="347472"/>
          </a:xfrm>
          <a:prstGeom prst="rect">
            <a:avLst/>
          </a:prstGeom>
          <a:solidFill>
            <a:srgbClr val="F0F5F8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456432"/>
            <a:ext cx="2112264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65576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Government Sales &amp; Business Dev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0" y="34655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25%  ·  $375K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913632"/>
            <a:ext cx="8449056" cy="347472"/>
          </a:xfrm>
          <a:prstGeom prst="rect">
            <a:avLst/>
          </a:prstGeom>
          <a:solidFill>
            <a:srgbClr val="F0F5F8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913632"/>
            <a:ext cx="1689811" cy="34747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22776"/>
            <a:ext cx="15069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 Design &amp; UX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0" y="39227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20%  ·  $300K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4370832"/>
            <a:ext cx="8449056" cy="347472"/>
          </a:xfrm>
          <a:prstGeom prst="rect">
            <a:avLst/>
          </a:prstGeom>
          <a:solidFill>
            <a:srgbClr val="F0F5F8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370832"/>
            <a:ext cx="1267358" cy="34747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79976"/>
            <a:ext cx="10844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Operations &amp; Legal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40880" y="43799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15%  ·  $225K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0"/>
            <a:ext cx="2560320" cy="2560320"/>
          </a:xfrm>
          <a:prstGeom prst="ellipse">
            <a:avLst/>
          </a:prstGeom>
          <a:solidFill>
            <a:srgbClr val="0D7A7A">
              <a:alpha val="15000"/>
            </a:srgbClr>
          </a:solidFill>
          <a:ln w="12700">
            <a:solidFill>
              <a:srgbClr val="0D7A7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2926080" cy="2926080"/>
          </a:xfrm>
          <a:prstGeom prst="ellipse">
            <a:avLst/>
          </a:prstGeom>
          <a:solidFill>
            <a:srgbClr val="00BFA6">
              <a:alpha val="12000"/>
            </a:srgbClr>
          </a:solidFill>
          <a:ln w="12700">
            <a:solidFill>
              <a:srgbClr val="00BFA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632" y="566928"/>
            <a:ext cx="1316736" cy="1316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HealthCompass MA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6334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</a:rPr>
              <a:t>Helping Every Massachusetts Resident Access the Benefits They've Earned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0" y="3127248"/>
            <a:ext cx="274320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2735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8C4"/>
                </a:solidFill>
              </a:rPr>
              <a:t>contact@healthcompassma.com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A8C4"/>
                </a:solidFill>
              </a:rPr>
              <a:t>www.healthcompassma.com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A8C4"/>
                </a:solidFill>
              </a:rPr>
              <a:t>Boston, Massachusetts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A5A7A"/>
                </a:solidFill>
              </a:rPr>
              <a:t>This presentation is confidential and intended for prospective investors only  ·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HealthCompass MA — Investor Deck</dc:title>
  <dc:subject>PptxGenJS Presentation</dc:subject>
  <dc:creator>PptxGenJS</dc:creator>
  <cp:lastModifiedBy>PptxGenJS</cp:lastModifiedBy>
  <cp:revision>1</cp:revision>
  <dcterms:created xsi:type="dcterms:W3CDTF">2026-03-19T00:33:43Z</dcterms:created>
  <dcterms:modified xsi:type="dcterms:W3CDTF">2026-03-19T00:33:43Z</dcterms:modified>
</cp:coreProperties>
</file>